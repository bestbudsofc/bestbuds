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76" r:id="rId2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8" r:id="rId29"/>
    <p:sldId id="279" r:id="rId30"/>
    <p:sldId id="280" r:id="rId31"/>
    <p:sldId id="281" r:id="rId32"/>
    <p:sldId id="282" r:id="rId33"/>
    <p:sldId id="283" r:id="rId34"/>
    <p:sldId id="266" r:id="rId12"/>
    <p:sldId id="267" r:id="rId13"/>
    <p:sldId id="268" r:id="rId14"/>
    <p:sldId id="277" r:id="rId28"/>
    <p:sldId id="274" r:id="rId25"/>
    <p:sldId id="269" r:id="rId15"/>
    <p:sldId id="284" r:id="rId35"/>
    <p:sldId id="285" r:id="rId36"/>
    <p:sldId id="270" r:id="rId16"/>
    <p:sldId id="271" r:id="rId17"/>
    <p:sldId id="272" r:id="rId18"/>
    <p:sldId id="275" r:id="rId26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8.xml"/><Relationship Id="rId13" Type="http://schemas.openxmlformats.org/officeDocument/2006/relationships/slide" Target="slides/slide19.xml"/><Relationship Id="rId14" Type="http://schemas.openxmlformats.org/officeDocument/2006/relationships/slide" Target="slides/slide20.xml"/><Relationship Id="rId15" Type="http://schemas.openxmlformats.org/officeDocument/2006/relationships/slide" Target="slides/slide23.xml"/><Relationship Id="rId16" Type="http://schemas.openxmlformats.org/officeDocument/2006/relationships/slide" Target="slides/slide26.xml"/><Relationship Id="rId17" Type="http://schemas.openxmlformats.org/officeDocument/2006/relationships/slide" Target="slides/slide27.xml"/><Relationship Id="rId18" Type="http://schemas.openxmlformats.org/officeDocument/2006/relationships/slide" Target="slides/slide28.xml"/><Relationship Id="rId19" Type="http://schemas.openxmlformats.org/officeDocument/2006/relationships/slide" Target="slides/slide30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22.xml"/><Relationship Id="rId26" Type="http://schemas.openxmlformats.org/officeDocument/2006/relationships/slide" Target="slides/slide29.xml"/><Relationship Id="rId27" Type="http://schemas.openxmlformats.org/officeDocument/2006/relationships/slide" Target="slides/slide3.xml"/><Relationship Id="rId28" Type="http://schemas.openxmlformats.org/officeDocument/2006/relationships/slide" Target="slides/slide2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Relationship Id="rId33" Type="http://schemas.openxmlformats.org/officeDocument/2006/relationships/slide" Target="slides/slide16.xml"/><Relationship Id="rId34" Type="http://schemas.openxmlformats.org/officeDocument/2006/relationships/slide" Target="slides/slide17.xml"/><Relationship Id="rId35" Type="http://schemas.openxmlformats.org/officeDocument/2006/relationships/slide" Target="slides/slide24.xml"/><Relationship Id="rId36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Abertura. Este guia mostra as telas atuais do sistema (versão 4.24), com os produtos, itens, receitas, fornecedores, fotos e usuários reais. Algumas ações (vendas pendentes, um lote guardado, uma compra, um ajuste de estoque, um aviso) foram simuladas só para mostrar as telas. Novidades desta versão: Painel da gerência, coluna Entrada/Saída no Histórico, explicações no "?", nova tela de Produção, receita de produto final 🏁 e "Comprar o que falta".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 guia tem quatro partes: perfis, senha, vendas e caixa (com o Painel), e Baú (com a produção). Explicações de cada tela ficam no "?" ao lado do título: passe o mouse ou toque. A venda registrada no Caixa fica pendente e só entra no caixa quando o dinheiro é guardado. No Caixa não existem centavos: desconto e repasse são arredondados para o inteiro mais próximo.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Diretor tem as mesmas permissões do Sócio, exceto mexer em contas de Sócio ou promover alguém a Sócio. Gerente cadastra e gerencia apenas Vendedores. "Excluir linhas" vale para Baú, Financeiro e usuários inativos. Vendas: o Vendedor guarda no caixa só as próprias vendas e pede o cancelamento de uma pendente; Gerente ou acima guarda as de todos e aprova ou recusa cancelamentos. Painel: só Gerente, Diretor e Sócio.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Esquerda: Baú visto por um Sócio. Direita: o mesmo Baú visto por um Vendedor. O perfil aparece no rodapé do menu, abaixo do nome.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lista vem ordenada do maior para o menor perfil. Só Sócio e Diretor excluem usuários, e só depois de inativados. O selo "último sócio" impede inativar o único Sócio ativo. A coluna Primeiro acesso mostra Pendente até a pessoa entrar e criar a própria senha, inclusive depois de receber uma senha nova. Em todas as tabelas, linhas inativas ou revertidas ficam apagadas.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Início da parte sobre acesso e senhas.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endereço é o mesmo do anúncio do sistema novo. O login é só o nome de usuário, sem @ e sem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as senhas não conferem ou têm menos de 6 caracteres, a janela avisa em vermelho e não salva.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existe senha padrão: cada senha nova é definida só para aquela pessoa. Enquanto ninguém define a senha nova, a senha antiga continua valendo. Se o pedido for dispensado, nada muda.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senha do print é de exemplo. Salvar o usuário com a senha nova marca o pedido como atendido e tira o destaque da linha. Assim ninguém consegue entrar na conta de quem ainda não fez o primeiro acesso usando uma senha conhecida por todos.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Início da parte sobre o Baú e a produção.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Só aparecem no Baú os itens de categorias que controlam estoque. A categoria Produto Final vem sem controle: os produtos vendidos no Caixa não ficam no Baú. Se um Gerente ligar o controle de estoque nela, a produção passa a pôr o produto no Baú e a venda, ao ser guardada no caixa, tira (o saldo pode ficar negativo). Item no estoque mínimo: borda vermelha no cartão.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compra pode ter itens de fornecedores diferentes. No Manual, quantidade + valor unitário calcula o subtotal, e quantidade + subtotal calcula o valor unitário. Linhas incompletas ficam destacadas e impedem o registro. A compra aparece no Histórico Financeiro como saída. Vendedor também registra compras. O Big Mac é da categoria Comida, que pode ser comprada mas não tem controle de estoque: fica Automático · sem Baú, com o valor travado do fornecedor, e não entra no Baú. O total separa Entra no Baú e Só financeiro. O vínculo do Big Mac com o Mega mall foi simulado para o print.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Cada linha vai da matéria-prima até o produto vendido no Caixa, com a foto do produto. Botão verde: dá para fazer agora. Roxo com 🔗: só com produção em cascata (a etapa anterior é feita junto; só Gerente ou acima). Apagado: falta insumo. Em vermelho no cartão, o item que não tem o suficiente. Nada muda no Baú antes de tocar em Produzir.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reversão é bloqueada se deixar algum saldo negativo, por exemplo uma compra cujo insumo já foi usado numa produção: reverta primeiro a produção. Só depois de revertido, Sócio ou Diretor pode excluir o lançamento.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print, a produção "Baseado de Blue Dream ×2" está aberta e mostra as saídas de Blue Dream Dichavada e Papel de Seda. A compra de cima (Mega mall, em verde) foi simulada só para o print, para mostrar a diferença de cor.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Print tirado com a tela de um celular comum, logado como Vendedor (sem Painel e sem Configurações).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Fechamento. Vale deixar este slide na tela durante as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Início da parte sobre vendas e caixa (pré-registro, versão 4.19). Registrar a venda continua igual; o que muda é que ela só entra no caixa quando alguém confirma que guardou o dinheiro.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jogo não existem centavos: desconto e repasse são arredondados para o inteiro mais próximo. O cupom mostra o repasse da equipe e a receita da loja. Ao finalizar, a venda aparece logo abaixo, em Vendas a guardar no caixa, como Pendente: ela ainda não conta no caixa.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resumo mostra o total vendido, os descontos, o repasse de cada pessoa e quem paga cada auxiliar. O valor para o caixa é a soma da parte da loja das vendas marcadas. Confirme só depois de guardar exatamente esse valor: as vendas entram no caixa juntas, num lote com número próprio, e aparecem no Histórico na data em que foram guardadas. O Vendedor guarda só as próprias vendas; Gerente ou acima pode guardar as de qualquer 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pedido de cancelamento exige um motivo, e a venda fica travada: não pode ser guardada até a resposta. Aprovar deixa a venda revertida, fora do caixa, com o motivo registrado; recusar faz ela voltar a esperar. Gerente ou acima também pode cancelar uma pendente direto, pela seta de voltar.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caixa atual e os cards de cima contam só vendas guardadas. A coluna Entrada/Saída mostra o que entrou no caixa (venda, ajuste +) e, negativo e em vermelho, o que saiu (compra, ajuste −). A coluna Valor mostra só o total da venda. O card Saídas soma a partir de Entrada/Saída. A coluna Descrição mostra o lote de cada venda guardada; ligue-a no botão Colunas.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Painel aparece só para Gerente, Diretor e Sócio. Todos abrem o sistema no Caixa de Balcão. O "?" ao lado do título de cada tela explica o que ela mostra.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Alertas: pedidos de cancelamento, pedidos de nova senha, dinheiro na mão dos vendedores (vermelho se há venda pendente há 24 h ou mais) e itens no estoque mínimo. Tocar no alerta abre a tela certa. O ranking de vendedores usa a receita da loja já guardada. As últimas ações têm paginação de 10, 20, 50 ou 100.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bloco Para comprar já escolhe o fornecedor vinculado mais barato de cada item e mostra o total estimado; dá para trocar o fornecedor na compra. Se o que falta vem da etapa anterior (ex.: falta dichavada porque falta pacote), o aviso diz isso e a compra traz o pacote. Mudar a quantidade a produzir recalcula o que comprar.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 categorias de receitas (Dichavar, Enrolar) são cadastradas em Configurações › Receitas. Com 🏁, o bloco 2 aceita um item só, da categoria Produto Final; sem 🏁, não aceita Produto Final. Assim o processo pode ter quantas etapas quiser. Cada produto do Catálogo já tem o seu item no Cadastro Central (etiqueta 🔗 Catálogo): o nome e o ativo/inativo vêm do Catálogo.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Relationship Id="rId7" Type="http://schemas.openxmlformats.org/officeDocument/2006/relationships/image" Target="../media/image1.png"/><Relationship Id="rId8" Type="http://schemas.openxmlformats.org/officeDocument/2006/relationships/image" Target="../media/image2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2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5" Type="http://schemas.openxmlformats.org/officeDocument/2006/relationships/image" Target="../media/image9.png"/><Relationship Id="rId6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12-1.png"/><Relationship Id="rId3" Type="http://schemas.openxmlformats.org/officeDocument/2006/relationships/notesSlide" Target="../notesSlides/notesSlide20.xml"/><Relationship Id="rId4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12-1.png"/><Relationship Id="rId3" Type="http://schemas.openxmlformats.org/officeDocument/2006/relationships/notesSlide" Target="../notesSlides/notesSlide21.xml"/><Relationship Id="rId4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15-1.png"/><Relationship Id="rId3" Type="http://schemas.openxmlformats.org/officeDocument/2006/relationships/image" Target="../media/image-15-2.png"/><Relationship Id="rId4" Type="http://schemas.openxmlformats.org/officeDocument/2006/relationships/notesSlide" Target="../notesSlides/notesSlide22.xml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12-1.png"/><Relationship Id="rId3" Type="http://schemas.openxmlformats.org/officeDocument/2006/relationships/notesSlide" Target="../notesSlides/notesSlide23.xml"/><Relationship Id="rId4" Type="http://schemas.openxmlformats.org/officeDocument/2006/relationships/image" Target="../media/image7.png"/><Relationship Id="rId5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5.xml"/><Relationship Id="rId4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26.xml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7.xml"/><Relationship Id="rId4" Type="http://schemas.openxmlformats.org/officeDocument/2006/relationships/image" Target="../media/image1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1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1862634"/>
            <a:ext cx="497078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20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BEST BUDS · SISTEMA DE GESTÃO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2296914"/>
            <a:ext cx="4970780" cy="1372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304"/>
              </a:lnSpc>
              <a:buNone/>
            </a:pPr>
            <a:r>
              <a:rPr lang="en-US" sz="52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Guia de uso do sistema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812800" y="3847306"/>
            <a:ext cx="49707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70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Perfis, senha, vender e guardar no caixa, o Painel, o Baú e a produção.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19150" y="4661297"/>
            <a:ext cx="1203623" cy="32762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FF6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77900" y="4718447"/>
            <a:ext cx="93692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Versão v4.24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137073" y="4661297"/>
            <a:ext cx="1644848" cy="32762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4343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295823" y="4718447"/>
            <a:ext cx="137814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Outubro de 2026</a:t>
            </a:r>
            <a:endParaRPr lang="en-US" sz="1200" dirty="0"/>
          </a:p>
        </p:txBody>
      </p:sp>
      <p:pic>
        <p:nvPicPr>
          <p:cNvPr id="9" name="Image 0" descr="Tela de login do sistema Best Buds">    </p:cNvPr>
          <p:cNvPicPr>
            <a:picLocks noChangeAspect="1"/>
          </p:cNvPicPr>
          <p:nvPr/>
        </p:nvPicPr>
        <p:blipFill>
          <a:blip r:embed="rId1"/>
          <a:srcRect l="0" r="0" t="145" b="145"/>
          <a:stretch/>
        </p:blipFill>
        <p:spPr>
          <a:xfrm>
            <a:off x="6108700" y="1790700"/>
            <a:ext cx="5257800" cy="3276600"/>
          </a:xfrm>
          <a:prstGeom prst="roundRect">
            <a:avLst>
              <a:gd name="adj" fmla="val 3488"/>
            </a:avLst>
          </a:prstGeom>
          <a:effectLst>
            <a:outerShdw sx="100000" sy="100000" kx="0" ky="0" algn="bl" rotWithShape="0" blurRad="508000" dist="190500" dir="5400000">
              <a:srgbClr val="00FF66">
                <a:alpha val="12000"/>
              </a:srgbClr>
            </a:outerShdw>
          </a:effectLst>
        </p:spPr>
      </p:pic>
      <p:sp>
        <p:nvSpPr>
          <p:cNvPr id="10" name="Shape 7"/>
          <p:cNvSpPr/>
          <p:nvPr/>
        </p:nvSpPr>
        <p:spPr>
          <a:xfrm>
            <a:off x="6102350" y="1784350"/>
            <a:ext cx="5270500" cy="3289300"/>
          </a:xfrm>
          <a:prstGeom prst="roundRect">
            <a:avLst>
              <a:gd name="adj" fmla="val 3668"/>
            </a:avLst>
          </a:prstGeom>
          <a:noFill/>
          <a:ln w="12700">
            <a:solidFill>
              <a:srgbClr val="282836"/>
            </a:solidFill>
            <a:prstDash val="solid"/>
          </a:ln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VISÃO GERAL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Mapa do sistema: as telas do menu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727795"/>
            <a:ext cx="2482850" cy="2991842"/>
          </a:xfrm>
          <a:prstGeom prst="roundRect">
            <a:avLst>
              <a:gd name="adj" fmla="val 4476"/>
            </a:avLst>
          </a:prstGeom>
          <a:solidFill>
            <a:srgbClr val="15151C"/>
          </a:solidFill>
          <a:ln w="6350">
            <a:solidFill>
              <a:srgbClr val="282836"/>
            </a:solidFill>
            <a:prstDash val="solid"/>
          </a:ln>
        </p:spPr>
        <p:txBody>
          <a:bodyPr/>
          <a:p/>
        </p:txBody>
      </p:sp>
      <p:pic>
        <p:nvPicPr>
          <p:cNvPr id="5" name="Image 0" descr="Tela Caixa de Balcão">    </p:cNvPr>
          <p:cNvPicPr>
            <a:picLocks noChangeAspect="1"/>
          </p:cNvPicPr>
          <p:nvPr/>
        </p:nvPicPr>
        <p:blipFill>
          <a:blip r:embed="rId9"/>
          <a:srcRect l="57" r="57" t="0" b="0"/>
          <a:stretch/>
        </p:blipFill>
        <p:spPr>
          <a:xfrm>
            <a:off x="946150" y="1857970"/>
            <a:ext cx="2222500" cy="1390650"/>
          </a:xfrm>
          <a:prstGeom prst="roundRect">
            <a:avLst>
              <a:gd name="adj" fmla="val 4566"/>
            </a:avLst>
          </a:prstGeom>
        </p:spPr>
      </p:pic>
      <p:sp>
        <p:nvSpPr>
          <p:cNvPr id="6" name="Text 3"/>
          <p:cNvSpPr/>
          <p:nvPr/>
        </p:nvSpPr>
        <p:spPr>
          <a:xfrm>
            <a:off x="946150" y="3337520"/>
            <a:ext cx="2289175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Caixa de Balcão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46150" y="3670201"/>
            <a:ext cx="2289175" cy="642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Registrar vendas e guardar o dinheiro no caixa, em lotes.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946150" y="4376142"/>
            <a:ext cx="228917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Todos os perfis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511550" y="1730970"/>
            <a:ext cx="2476500" cy="2985492"/>
          </a:xfrm>
          <a:prstGeom prst="roundRect">
            <a:avLst>
              <a:gd name="adj" fmla="val 4359"/>
            </a:avLst>
          </a:prstGeom>
          <a:solidFill>
            <a:srgbClr val="15151C"/>
          </a:solidFill>
          <a:ln w="12700">
            <a:solidFill>
              <a:srgbClr val="00FF66"/>
            </a:solidFill>
            <a:prstDash val="solid"/>
          </a:ln>
        </p:spPr>
        <p:txBody>
          <a:bodyPr/>
          <a:p/>
        </p:txBody>
      </p:sp>
      <p:pic>
        <p:nvPicPr>
          <p:cNvPr id="10" name="Image 1" descr="Tela do Baú">    </p:cNvPr>
          <p:cNvPicPr>
            <a:picLocks noChangeAspect="1"/>
          </p:cNvPicPr>
          <p:nvPr/>
        </p:nvPicPr>
        <p:blipFill>
          <a:blip r:embed="rId10"/>
          <a:srcRect l="57" r="57" t="0" b="0"/>
          <a:stretch/>
        </p:blipFill>
        <p:spPr>
          <a:xfrm>
            <a:off x="3644900" y="1864320"/>
            <a:ext cx="2222500" cy="1390650"/>
          </a:xfrm>
          <a:prstGeom prst="roundRect">
            <a:avLst>
              <a:gd name="adj" fmla="val 4566"/>
            </a:avLst>
          </a:prstGeom>
        </p:spPr>
      </p:pic>
      <p:sp>
        <p:nvSpPr>
          <p:cNvPr id="11" name="Text 7"/>
          <p:cNvSpPr/>
          <p:nvPr/>
        </p:nvSpPr>
        <p:spPr>
          <a:xfrm>
            <a:off x="3644900" y="3343870"/>
            <a:ext cx="227609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Baú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3644900" y="3676551"/>
            <a:ext cx="227609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Estoque de insumos: compras, produção, ajustes e livro.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3644900" y="4176812"/>
            <a:ext cx="22760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Todos os perfis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200775" y="1727795"/>
            <a:ext cx="2482850" cy="2991842"/>
          </a:xfrm>
          <a:prstGeom prst="roundRect">
            <a:avLst>
              <a:gd name="adj" fmla="val 4476"/>
            </a:avLst>
          </a:prstGeom>
          <a:solidFill>
            <a:srgbClr val="15151C"/>
          </a:solidFill>
          <a:ln w="6350">
            <a:solidFill>
              <a:srgbClr val="282836"/>
            </a:solidFill>
            <a:prstDash val="solid"/>
          </a:ln>
        </p:spPr>
        <p:txBody>
          <a:bodyPr/>
          <a:p/>
        </p:txBody>
      </p:sp>
      <p:pic>
        <p:nvPicPr>
          <p:cNvPr id="15" name="Image 2" descr="Tela Histórico Financeiro">    </p:cNvPr>
          <p:cNvPicPr>
            <a:picLocks noChangeAspect="1"/>
          </p:cNvPicPr>
          <p:nvPr/>
        </p:nvPicPr>
        <p:blipFill>
          <a:blip r:embed="rId11"/>
          <a:srcRect l="57" r="57" t="0" b="0"/>
          <a:stretch/>
        </p:blipFill>
        <p:spPr>
          <a:xfrm>
            <a:off x="6330950" y="1857970"/>
            <a:ext cx="2222500" cy="1390650"/>
          </a:xfrm>
          <a:prstGeom prst="roundRect">
            <a:avLst>
              <a:gd name="adj" fmla="val 4566"/>
            </a:avLst>
          </a:prstGeom>
        </p:spPr>
      </p:pic>
      <p:sp>
        <p:nvSpPr>
          <p:cNvPr id="16" name="Text 11"/>
          <p:cNvSpPr/>
          <p:nvPr/>
        </p:nvSpPr>
        <p:spPr>
          <a:xfrm>
            <a:off x="6330950" y="3337520"/>
            <a:ext cx="2289175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Histórico Financeiro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6330950" y="3670201"/>
            <a:ext cx="2289175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Caixa atual, vendas guardadas, compras e ajustes.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6330950" y="4170462"/>
            <a:ext cx="228917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Todos os perfis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893175" y="1727795"/>
            <a:ext cx="2482850" cy="2991842"/>
          </a:xfrm>
          <a:prstGeom prst="roundRect">
            <a:avLst>
              <a:gd name="adj" fmla="val 4476"/>
            </a:avLst>
          </a:prstGeom>
          <a:solidFill>
            <a:srgbClr val="15151C"/>
          </a:solidFill>
          <a:ln w="6350">
            <a:solidFill>
              <a:srgbClr val="282836"/>
            </a:solidFill>
            <a:prstDash val="solid"/>
          </a:ln>
        </p:spPr>
        <p:txBody>
          <a:bodyPr/>
          <a:p/>
        </p:txBody>
      </p:sp>
      <p:pic>
        <p:nvPicPr>
          <p:cNvPr id="20" name="Image 3" descr="Tela Configurações, aba Usuários">    </p:cNvPr>
          <p:cNvPicPr>
            <a:picLocks noChangeAspect="1"/>
          </p:cNvPicPr>
          <p:nvPr/>
        </p:nvPicPr>
        <p:blipFill>
          <a:blip r:embed="rId4"/>
          <a:srcRect l="57" r="57" t="0" b="0"/>
          <a:stretch/>
        </p:blipFill>
        <p:spPr>
          <a:xfrm>
            <a:off x="9023350" y="1857970"/>
            <a:ext cx="2222500" cy="1390650"/>
          </a:xfrm>
          <a:prstGeom prst="roundRect">
            <a:avLst>
              <a:gd name="adj" fmla="val 4566"/>
            </a:avLst>
          </a:prstGeom>
        </p:spPr>
      </p:pic>
      <p:sp>
        <p:nvSpPr>
          <p:cNvPr id="21" name="Text 15"/>
          <p:cNvSpPr/>
          <p:nvPr/>
        </p:nvSpPr>
        <p:spPr>
          <a:xfrm>
            <a:off x="9023350" y="3337520"/>
            <a:ext cx="2289175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Configurações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9023350" y="3670201"/>
            <a:ext cx="2289175" cy="642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Usuários e senhas, catálogo, itens, receitas, fornecedores e visual.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9023350" y="4376142"/>
            <a:ext cx="228917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BBF2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Gerente, Diretor e Sócio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812800" y="4951413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 computador o menu fica à esquerda; no celular, na barra de baixo. O Painel (Gerente ou acima) fica logo abaixo do Histórico.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MENU LATERAL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Menu, equipe on-line e perfil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7500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87400" y="17500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44600" y="1750020"/>
            <a:ext cx="358419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 alto: Caixa, Baú, Histórico e Painel.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2072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87400" y="22072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44600" y="2207220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Toque 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On-line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ou Off-line para ver quem está no site agora, com o perfil na frente do nome.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307965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87400" y="307965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44600" y="3079651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tela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Configurações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fica separada, logo acima do seu nome (Gerente ou acima).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800" y="371207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87400" y="371207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44600" y="3712071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 rodapé: seu nome, o perfil e o botão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Sair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 A versão fica no topo, ao lado do nome da loja.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  <p:txBody>
          <a:bodyPr/>
          <a:p/>
        </p:txBody>
      </p:sp>
      <p:pic>
        <p:nvPicPr>
          <p:cNvPr id="17" name="Image 0" descr="Caixa de Balcão com o menu lateral e a lista On-line aberta">    </p:cNvPr>
          <p:cNvPicPr>
            <a:picLocks noChangeAspect="1"/>
          </p:cNvPicPr>
          <p:nvPr/>
        </p:nvPicPr>
        <p:blipFill>
          <a:blip r:embed="rId3"/>
          <a:srcRect l="-61" r="-61" t="0" b="0"/>
          <a:stretch/>
        </p:blipFill>
        <p:spPr>
          <a:xfrm>
            <a:off x="5086350" y="1756370"/>
            <a:ext cx="6286500" cy="3924300"/>
          </a:xfrm>
          <a:prstGeom prst="roundRect">
            <a:avLst>
              <a:gd name="adj" fmla="val 2427"/>
            </a:avLst>
          </a:prstGeom>
        </p:spPr>
      </p:pic>
      <p:sp>
        <p:nvSpPr>
          <p:cNvPr id="18" name="Shape 15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15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PERFIS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Quatro perfis, do maior para o menor acesso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750020"/>
            <a:ext cx="10566400" cy="2277566"/>
          </a:xfrm>
          <a:custGeom>
            <a:avLst/>
            <a:gdLst/>
            <a:ahLst/>
            <a:cxnLst/>
            <a:rect l="l" t="t" r="r" b="b"/>
            <a:pathLst>
              <a:path w="10566400" h="2277566">
                <a:moveTo>
                  <a:pt x="10477500" y="0"/>
                </a:moveTo>
                <a:lnTo>
                  <a:pt x="10477500" y="0"/>
                </a:lnTo>
                <a:arcTo hR="88900" wR="88900" stAng="16200000" swAng="5400000"/>
                <a:lnTo>
                  <a:pt x="10566400" y="2188666"/>
                </a:lnTo>
                <a:arcTo hR="88900" wR="88900" stAng="0" swAng="5400000"/>
                <a:lnTo>
                  <a:pt x="88900" y="2277566"/>
                </a:lnTo>
                <a:arcTo hR="88900" wR="88900" stAng="5400000" swAng="5400000"/>
                <a:lnTo>
                  <a:pt x="0" y="2188666"/>
                </a:lnTo>
                <a:arcTo hR="82550" wR="88900" stAng="10800000" swAng="-5400000"/>
                <a:lnTo>
                  <a:pt x="10477500" y="2271216"/>
                </a:lnTo>
                <a:arcTo hR="82550" wR="82550" stAng="5400000" swAng="-5400000"/>
                <a:lnTo>
                  <a:pt x="10560050" y="88900"/>
                </a:lnTo>
                <a:arcTo hR="88900" wR="82550" stAng="0" swAng="-5400000"/>
                <a:close/>
              </a:path>
            </a:pathLst>
          </a:custGeom>
          <a:solidFill>
            <a:srgbClr val="282836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12800" y="1750020"/>
            <a:ext cx="10566400" cy="2277566"/>
          </a:xfrm>
          <a:custGeom>
            <a:avLst/>
            <a:gdLst/>
            <a:ahLst/>
            <a:cxnLst/>
            <a:rect l="l" t="t" r="r" b="b"/>
            <a:pathLst>
              <a:path w="10566400" h="2277566">
                <a:moveTo>
                  <a:pt x="88900" y="2277566"/>
                </a:moveTo>
                <a:lnTo>
                  <a:pt x="88900" y="2277566"/>
                </a:lnTo>
                <a:arcTo hR="88900" wR="88900" stAng="5400000" swAng="5400000"/>
                <a:lnTo>
                  <a:pt x="0" y="88900"/>
                </a:lnTo>
                <a:arcTo hR="88900" wR="88900" stAng="10800000" swAng="5400000"/>
                <a:lnTo>
                  <a:pt x="10477500" y="0"/>
                </a:lnTo>
                <a:arcTo hR="88900" wR="88900" stAng="16200000" swAng="5400000"/>
                <a:lnTo>
                  <a:pt x="10566400" y="88900"/>
                </a:lnTo>
                <a:arcTo hR="76200" wR="88900" stAng="0" swAng="-5400000"/>
                <a:lnTo>
                  <a:pt x="88900" y="12700"/>
                </a:lnTo>
                <a:arcTo hR="76200" wR="76200" stAng="16200000" swAng="-5400000"/>
                <a:lnTo>
                  <a:pt x="12700" y="2188666"/>
                </a:lnTo>
                <a:arcTo hR="88900" wR="76200" stAng="10800000" swAng="-5400000"/>
                <a:close/>
              </a:path>
            </a:pathLst>
          </a:custGeom>
          <a:solidFill>
            <a:srgbClr val="FAF9F5">
              <a:alpha val="22000"/>
            </a:srgbClr>
          </a:solidFill>
          <a:ln/>
        </p:spPr>
        <p:txBody>
          <a:bodyPr/>
          <a:p/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762720"/>
          <a:ext cx="10547350" cy="2258516"/>
        </p:xfrm>
        <a:graphic>
          <a:graphicData uri="http://schemas.openxmlformats.org/drawingml/2006/table">
            <a:tbl>
              <a:tblPr/>
              <a:tblGrid>
                <a:gridCol w="1582102"/>
                <a:gridCol w="2425890"/>
                <a:gridCol w="2320417"/>
                <a:gridCol w="2320417"/>
                <a:gridCol w="1898523"/>
              </a:tblGrid>
              <a:tr h="590352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3F4F6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Perfil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3F4F6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Telas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3F4F6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Gerencia usuários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3F4F6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Ajustes, reversões e CSV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3F4F6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Excluir linhas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8"/>
                    </a:solidFill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FBBF2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Sócio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As 4 telas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Todos, inclusive Sócios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60A5FA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Diretor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As 4 telas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Todos, menos Sócios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A78BFA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Gerente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As 4 telas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Só Vendedores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Não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0352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0FF66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Vendedor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Caixa, Baú e Histórico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Nenhum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Não (mas registra compra e produção)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Não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12800" y="4281587"/>
            <a:ext cx="5207000" cy="476845"/>
          </a:xfrm>
          <a:prstGeom prst="roundRect">
            <a:avLst>
              <a:gd name="adj" fmla="val 13317"/>
            </a:avLst>
          </a:prstGeom>
          <a:solidFill>
            <a:srgbClr val="0D0D11"/>
          </a:solidFill>
          <a:ln/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812800" y="4281587"/>
            <a:ext cx="5207000" cy="476845"/>
          </a:xfrm>
          <a:custGeom>
            <a:avLst/>
            <a:gdLst/>
            <a:ahLst/>
            <a:cxnLst/>
            <a:rect l="l" t="t" r="r" b="b"/>
            <a:pathLst>
              <a:path w="5207000" h="476845">
                <a:moveTo>
                  <a:pt x="63500" y="476845"/>
                </a:moveTo>
                <a:lnTo>
                  <a:pt x="63500" y="476845"/>
                </a:lnTo>
                <a:arcTo hR="63500" wR="63500" stAng="5400000" swAng="5400000"/>
                <a:lnTo>
                  <a:pt x="0" y="63500"/>
                </a:lnTo>
                <a:arcTo hR="63500" wR="63500" stAng="10800000" swAng="5400000"/>
                <a:lnTo>
                  <a:pt x="63500" y="0"/>
                </a:lnTo>
                <a:arcTo hR="63500" wR="38100" stAng="16200000" swAng="-5400000"/>
                <a:lnTo>
                  <a:pt x="25400" y="413345"/>
                </a:lnTo>
                <a:arcTo hR="63500" wR="38100" stAng="10800000" swAng="-5400000"/>
                <a:close/>
              </a:path>
            </a:pathLst>
          </a:custGeom>
          <a:solidFill>
            <a:srgbClr val="00FF66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990600" y="4408587"/>
            <a:ext cx="5023104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Ninguém altera o próprio perfil.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172200" y="4281587"/>
            <a:ext cx="5207000" cy="476845"/>
          </a:xfrm>
          <a:prstGeom prst="roundRect">
            <a:avLst>
              <a:gd name="adj" fmla="val 13317"/>
            </a:avLst>
          </a:prstGeom>
          <a:solidFill>
            <a:srgbClr val="0D0D11"/>
          </a:solidFill>
          <a:ln/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172200" y="4281587"/>
            <a:ext cx="5207000" cy="476845"/>
          </a:xfrm>
          <a:custGeom>
            <a:avLst/>
            <a:gdLst/>
            <a:ahLst/>
            <a:cxnLst/>
            <a:rect l="l" t="t" r="r" b="b"/>
            <a:pathLst>
              <a:path w="5207000" h="476845">
                <a:moveTo>
                  <a:pt x="63500" y="476845"/>
                </a:moveTo>
                <a:lnTo>
                  <a:pt x="63500" y="476845"/>
                </a:lnTo>
                <a:arcTo hR="63500" wR="63500" stAng="5400000" swAng="5400000"/>
                <a:lnTo>
                  <a:pt x="0" y="63500"/>
                </a:lnTo>
                <a:arcTo hR="63500" wR="63500" stAng="10800000" swAng="5400000"/>
                <a:lnTo>
                  <a:pt x="63500" y="0"/>
                </a:lnTo>
                <a:arcTo hR="63500" wR="38100" stAng="16200000" swAng="-5400000"/>
                <a:lnTo>
                  <a:pt x="25400" y="413345"/>
                </a:lnTo>
                <a:arcTo hR="63500" wR="38100" stAng="10800000" swAng="-5400000"/>
                <a:close/>
              </a:path>
            </a:pathLst>
          </a:custGeom>
          <a:solidFill>
            <a:srgbClr val="00FF66"/>
          </a:solidFill>
          <a:ln/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350000" y="4408587"/>
            <a:ext cx="5023104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Sempre precisa existir ao menos um Sócio ativo.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PERFIS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mesma tela muda conforme o perfil</a:t>
            </a:r>
            <a:endParaRPr lang="en-US" sz="3000" dirty="0"/>
          </a:p>
        </p:txBody>
      </p:sp>
      <p:pic>
        <p:nvPicPr>
          <p:cNvPr id="4" name="Image 0" descr="Baú visto por um Sócio">    </p:cNvPr>
          <p:cNvPicPr>
            <a:picLocks noChangeAspect="1"/>
          </p:cNvPicPr>
          <p:nvPr/>
        </p:nvPicPr>
        <p:blipFill>
          <a:blip r:embed="rId5"/>
          <a:srcRect l="0" r="0" t="149" b="149"/>
          <a:stretch/>
        </p:blipFill>
        <p:spPr>
          <a:xfrm>
            <a:off x="825500" y="1762720"/>
            <a:ext cx="5105400" cy="3181350"/>
          </a:xfrm>
          <a:prstGeom prst="roundRect">
            <a:avLst>
              <a:gd name="adj" fmla="val 2395"/>
            </a:avLst>
          </a:prstGeom>
        </p:spPr>
      </p:pic>
      <p:sp>
        <p:nvSpPr>
          <p:cNvPr id="5" name="Shape 2"/>
          <p:cNvSpPr/>
          <p:nvPr/>
        </p:nvSpPr>
        <p:spPr>
          <a:xfrm>
            <a:off x="819150" y="1756370"/>
            <a:ext cx="5118100" cy="3194050"/>
          </a:xfrm>
          <a:prstGeom prst="roundRect">
            <a:avLst>
              <a:gd name="adj" fmla="val 2584"/>
            </a:avLst>
          </a:prstGeom>
          <a:noFill/>
          <a:ln w="12700">
            <a:solidFill>
              <a:srgbClr val="FBBF24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812800" y="5071070"/>
            <a:ext cx="5284724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FBBF2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Sócio, Diretor ou Gerente:</a:t>
            </a: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menu com Configurações, botões + Entrada e − Saída, Exportar CSV e coluna Ações para reverter.</a:t>
            </a:r>
            <a:endParaRPr lang="en-US" sz="1300" dirty="0"/>
          </a:p>
        </p:txBody>
      </p:sp>
      <p:pic>
        <p:nvPicPr>
          <p:cNvPr id="7" name="Image 1" descr="Baú visto por um Vendedor">    </p:cNvPr>
          <p:cNvPicPr>
            <a:picLocks noChangeAspect="1"/>
          </p:cNvPicPr>
          <p:nvPr/>
        </p:nvPicPr>
        <p:blipFill>
          <a:blip r:embed="rId6"/>
          <a:srcRect l="0" r="0" t="149" b="149"/>
          <a:stretch/>
        </p:blipFill>
        <p:spPr>
          <a:xfrm>
            <a:off x="6261100" y="1762720"/>
            <a:ext cx="5105400" cy="3181350"/>
          </a:xfrm>
          <a:prstGeom prst="roundRect">
            <a:avLst>
              <a:gd name="adj" fmla="val 2395"/>
            </a:avLst>
          </a:prstGeom>
        </p:spPr>
      </p:pic>
      <p:sp>
        <p:nvSpPr>
          <p:cNvPr id="8" name="Shape 4"/>
          <p:cNvSpPr/>
          <p:nvPr/>
        </p:nvSpPr>
        <p:spPr>
          <a:xfrm>
            <a:off x="6254750" y="1756370"/>
            <a:ext cx="5118100" cy="3194050"/>
          </a:xfrm>
          <a:prstGeom prst="roundRect">
            <a:avLst>
              <a:gd name="adj" fmla="val 2584"/>
            </a:avLst>
          </a:prstGeom>
          <a:noFill/>
          <a:ln w="12700">
            <a:solidFill>
              <a:srgbClr val="00FF66"/>
            </a:solidFill>
            <a:prstDash val="solid"/>
          </a:ln>
        </p:spPr>
        <p:txBody>
          <a:bodyPr/>
          <a:p/>
        </p:txBody>
      </p:sp>
      <p:sp>
        <p:nvSpPr>
          <p:cNvPr id="9" name="Text 5"/>
          <p:cNvSpPr/>
          <p:nvPr/>
        </p:nvSpPr>
        <p:spPr>
          <a:xfrm>
            <a:off x="6248400" y="5071070"/>
            <a:ext cx="5284724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Vendedor: sem Configurações, sem Painel e sem ajustes. Vê saldos e o livro, e pode registrar compra e produzir.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PERFIS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Cadastrar e gerenciar usuários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7500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87400" y="17500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44600" y="1750020"/>
            <a:ext cx="358419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Abra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Configurações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e a aba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Usuários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2199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87400" y="22199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44600" y="2219920"/>
            <a:ext cx="3584194" cy="985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+ Novo usuário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: nome, login, perfil e senha inicial (mín. 6). Enquanto a pessoa não criar a própria senha, Primeiro acesso mostra Pendente.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334506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87400" y="334506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44600" y="3345061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Lápis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edita nome, login, perfil ou senha.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Pausa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inativa quem saiu (a linha fica apagada).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Lixeira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só para inativos.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  <p:txBody>
          <a:bodyPr/>
          <a:p/>
        </p:txBody>
      </p:sp>
      <p:pic>
        <p:nvPicPr>
          <p:cNvPr id="14" name="Image 0" descr="Configurações, aba Usuários, com a lista de usuários">    </p:cNvPr>
          <p:cNvPicPr>
            <a:picLocks noChangeAspect="1"/>
          </p:cNvPicPr>
          <p:nvPr/>
        </p:nvPicPr>
        <p:blipFill>
          <a:blip r:embed="rId1"/>
          <a:srcRect l="-61" r="-61" t="0" b="0"/>
          <a:stretch/>
        </p:blipFill>
        <p:spPr>
          <a:xfrm>
            <a:off x="5086350" y="1756370"/>
            <a:ext cx="6286500" cy="3924300"/>
          </a:xfrm>
          <a:prstGeom prst="roundRect">
            <a:avLst>
              <a:gd name="adj" fmla="val 2427"/>
            </a:avLst>
          </a:prstGeom>
        </p:spPr>
      </p:pic>
      <p:sp>
        <p:nvSpPr>
          <p:cNvPr id="15" name="Shape 12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FF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578199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200" kern="0" dirty="0">
                <a:solidFill>
                  <a:srgbClr val="04120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PARTE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12800" y="3004840"/>
            <a:ext cx="10883392" cy="802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120"/>
              </a:lnSpc>
              <a:buNone/>
            </a:pPr>
            <a:r>
              <a:rPr lang="en-US" sz="6000" b="1" dirty="0">
                <a:solidFill>
                  <a:srgbClr val="0412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Entrar e cuidar da senha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12800" y="3959820"/>
            <a:ext cx="784860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0B2A1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Login, primeiro acesso e o que fazer quando esquecer a senha.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SENHA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Como entrar no sistema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7500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87400" y="17500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44600" y="1750020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Abra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best-buds-gamma.vercel.app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no navegador.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38244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87400" y="238244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44600" y="2382441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Usuário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digite seu login (ex.: joao.silva), sem e-mail.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301486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87400" y="301486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44600" y="3014861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Digite 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senha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 O ícone de olho mostra o que foi digitado.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800" y="364728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87400" y="364728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44600" y="3647281"/>
            <a:ext cx="358419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Toque 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Entrar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12800" y="4104481"/>
            <a:ext cx="3911600" cy="629841"/>
          </a:xfrm>
          <a:prstGeom prst="roundRect">
            <a:avLst>
              <a:gd name="adj" fmla="val 10082"/>
            </a:avLst>
          </a:prstGeom>
          <a:solidFill>
            <a:srgbClr val="15151C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12800" y="4104481"/>
            <a:ext cx="3911600" cy="629841"/>
          </a:xfrm>
          <a:custGeom>
            <a:avLst/>
            <a:gdLst/>
            <a:ahLst/>
            <a:cxnLst/>
            <a:rect l="l" t="t" r="r" b="b"/>
            <a:pathLst>
              <a:path w="3911600" h="629841">
                <a:moveTo>
                  <a:pt x="63500" y="629841"/>
                </a:moveTo>
                <a:lnTo>
                  <a:pt x="63500" y="629841"/>
                </a:lnTo>
                <a:arcTo hR="63500" wR="63500" stAng="5400000" swAng="5400000"/>
                <a:lnTo>
                  <a:pt x="0" y="63500"/>
                </a:lnTo>
                <a:arcTo hR="63500" wR="63500" stAng="10800000" swAng="5400000"/>
                <a:lnTo>
                  <a:pt x="63500" y="0"/>
                </a:lnTo>
                <a:arcTo hR="63500" wR="38100" stAng="16200000" swAng="-5400000"/>
                <a:lnTo>
                  <a:pt x="25400" y="566341"/>
                </a:lnTo>
                <a:arcTo hR="63500" wR="38100" stAng="10800000" swAng="-5400000"/>
                <a:close/>
              </a:path>
            </a:pathLst>
          </a:custGeom>
          <a:solidFill>
            <a:srgbClr val="EF4444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65200" y="4206081"/>
            <a:ext cx="3741166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"Usuário inativo" ou "senha inválida"? Fale com um Gerente.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  <p:txBody>
          <a:bodyPr/>
          <a:p/>
        </p:txBody>
      </p:sp>
      <p:pic>
        <p:nvPicPr>
          <p:cNvPr id="20" name="Image 0" descr="Tela de login com campos Usuário e Senha, link Redefinir senha e botão Entrar">    </p:cNvPr>
          <p:cNvPicPr>
            <a:picLocks noChangeAspect="1"/>
          </p:cNvPicPr>
          <p:nvPr/>
        </p:nvPicPr>
        <p:blipFill>
          <a:blip r:embed="rId1"/>
          <a:srcRect l="-61" r="-61" t="0" b="0"/>
          <a:stretch/>
        </p:blipFill>
        <p:spPr>
          <a:xfrm>
            <a:off x="5086350" y="1756370"/>
            <a:ext cx="6286500" cy="3924300"/>
          </a:xfrm>
          <a:prstGeom prst="roundRect">
            <a:avLst>
              <a:gd name="adj" fmla="val 2427"/>
            </a:avLst>
          </a:prstGeom>
        </p:spPr>
      </p:pic>
      <p:sp>
        <p:nvSpPr>
          <p:cNvPr id="21" name="Shape 18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SENHA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Primeiro acesso: criar a sua senha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1750020"/>
            <a:ext cx="4028948" cy="7719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Esta janela aparece logo depois do login quando a conta é nova ou a senha acabou de ser redefinida. Não dá para pular.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2800" y="2648942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87400" y="2648942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244600" y="2648942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Digite 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nova senha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com no mínimo 6 caracteres.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12800" y="3281363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87400" y="3281363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44600" y="3281363"/>
            <a:ext cx="358419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Repita a mesma senha 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Confirmar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2800" y="3738563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87400" y="3738563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244600" y="3738563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Salvar e entrar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 Nas próximas vezes use só a senha nova.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  <p:txBody>
          <a:bodyPr/>
          <a:p/>
        </p:txBody>
      </p:sp>
      <p:pic>
        <p:nvPicPr>
          <p:cNvPr id="15" name="Image 0" descr="Janela Troca obrigatória de senha com os campos Nova senha e Confirmar nova senh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94230" y="1756370"/>
            <a:ext cx="6070740" cy="392430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515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SENHA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Esqueci a senha: três passos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753195"/>
            <a:ext cx="3346450" cy="3301206"/>
          </a:xfrm>
          <a:prstGeom prst="roundRect">
            <a:avLst>
              <a:gd name="adj" fmla="val 3366"/>
            </a:avLst>
          </a:prstGeom>
          <a:solidFill>
            <a:srgbClr val="0D0D11"/>
          </a:solidFill>
          <a:ln w="6350">
            <a:solidFill>
              <a:srgbClr val="28283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71550" y="1908770"/>
            <a:ext cx="31263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 · Quem esqueceu</a:t>
            </a:r>
            <a:endParaRPr lang="en-US" sz="1200" dirty="0"/>
          </a:p>
        </p:txBody>
      </p:sp>
      <p:pic>
        <p:nvPicPr>
          <p:cNvPr id="6" name="Image 0" descr="Janela Redefinir senha com o pedido enviado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71550" y="2223691"/>
            <a:ext cx="3048000" cy="1905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71550" y="4230291"/>
            <a:ext cx="3126359" cy="693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 tela de login, toque em </a:t>
            </a:r>
            <a:r>
              <a:rPr lang="en-US" sz="13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Redefinir senha</a:t>
            </a: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digite o usuário e envie o pedido.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422775" y="1753195"/>
            <a:ext cx="3346450" cy="3301206"/>
          </a:xfrm>
          <a:prstGeom prst="roundRect">
            <a:avLst>
              <a:gd name="adj" fmla="val 3366"/>
            </a:avLst>
          </a:prstGeom>
          <a:solidFill>
            <a:srgbClr val="0D0D11"/>
          </a:solidFill>
          <a:ln w="6350">
            <a:solidFill>
              <a:srgbClr val="282836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4578350" y="1908770"/>
            <a:ext cx="31263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BBF2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· Gerente ou acima</a:t>
            </a:r>
            <a:endParaRPr lang="en-US" sz="1200" dirty="0"/>
          </a:p>
        </p:txBody>
      </p:sp>
      <p:pic>
        <p:nvPicPr>
          <p:cNvPr id="10" name="Image 1" descr="Janela Editar usuário com o aviso do pedido e o campo Senha nova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78350" y="2223691"/>
            <a:ext cx="3048000" cy="19050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8350" y="4230291"/>
            <a:ext cx="3126359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Em Usuários, lápis na linha destacada: </a:t>
            </a:r>
            <a:r>
              <a:rPr lang="en-US" sz="13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senha nova</a:t>
            </a: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e Salvar.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8029575" y="1753195"/>
            <a:ext cx="3346450" cy="3301206"/>
          </a:xfrm>
          <a:prstGeom prst="roundRect">
            <a:avLst>
              <a:gd name="adj" fmla="val 3366"/>
            </a:avLst>
          </a:prstGeom>
          <a:solidFill>
            <a:srgbClr val="0D0D11"/>
          </a:solidFill>
          <a:ln w="6350">
            <a:solidFill>
              <a:srgbClr val="282836"/>
            </a:solidFill>
            <a:prstDash val="solid"/>
          </a:ln>
        </p:spPr>
        <p:txBody>
          <a:bodyPr/>
          <a:p/>
        </p:txBody>
      </p:sp>
      <p:sp>
        <p:nvSpPr>
          <p:cNvPr id="13" name="Text 9"/>
          <p:cNvSpPr/>
          <p:nvPr/>
        </p:nvSpPr>
        <p:spPr>
          <a:xfrm>
            <a:off x="8185150" y="1908770"/>
            <a:ext cx="31263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· Quem esqueceu</a:t>
            </a:r>
            <a:endParaRPr lang="en-US" sz="1200" dirty="0"/>
          </a:p>
        </p:txBody>
      </p:sp>
      <p:pic>
        <p:nvPicPr>
          <p:cNvPr id="14" name="Image 2" descr="Janela Troca obrigatória de senha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85150" y="2223691"/>
            <a:ext cx="3048000" cy="19050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185150" y="4230291"/>
            <a:ext cx="3126359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Entra com a </a:t>
            </a:r>
            <a:r>
              <a:rPr lang="en-US" sz="13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senha que recebeu</a:t>
            </a: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e cria a sua própria.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BBF2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SENHA · GERENTE OU ACIMA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Pedidos de nova senha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5500" y="1750020"/>
            <a:ext cx="0" cy="694134"/>
          </a:xfrm>
          <a:prstGeom prst="line">
            <a:avLst/>
          </a:prstGeom>
          <a:noFill/>
          <a:ln w="25400">
            <a:solidFill>
              <a:srgbClr val="FBBF24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65200" y="1750020"/>
            <a:ext cx="3871976" cy="7195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linha de quem pediu fica destacada em </a:t>
            </a:r>
            <a:r>
              <a:rPr lang="en-US" sz="135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Usuários</a:t>
            </a: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; o menu Configurações mostra a chave com o total.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825500" y="2583855"/>
            <a:ext cx="0" cy="462756"/>
          </a:xfrm>
          <a:prstGeom prst="line">
            <a:avLst/>
          </a:prstGeom>
          <a:noFill/>
          <a:ln w="25400">
            <a:solidFill>
              <a:srgbClr val="FBBF2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65200" y="2583855"/>
            <a:ext cx="3871976" cy="4881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Lápis</a:t>
            </a: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: digite uma senha nova, salve e passe a ela. </a:t>
            </a:r>
            <a:r>
              <a:rPr lang="en-US" sz="135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 X</a:t>
            </a: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dispensa o pedido.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25500" y="3186311"/>
            <a:ext cx="0" cy="462756"/>
          </a:xfrm>
          <a:prstGeom prst="line">
            <a:avLst/>
          </a:prstGeom>
          <a:noFill/>
          <a:ln w="25400">
            <a:solidFill>
              <a:srgbClr val="FBBF24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65200" y="3186311"/>
            <a:ext cx="3871976" cy="4881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Gerente atende pedidos de Vendedores; Diretor, de todos menos Sócios.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25500" y="3788767"/>
            <a:ext cx="0" cy="694134"/>
          </a:xfrm>
          <a:prstGeom prst="line">
            <a:avLst/>
          </a:prstGeom>
          <a:noFill/>
          <a:ln w="25400">
            <a:solidFill>
              <a:srgbClr val="FBBF2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65200" y="3788767"/>
            <a:ext cx="3871976" cy="7195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Não existe senha padrão. Cada senha é só da pessoa, que cria a própria no </a:t>
            </a:r>
            <a:r>
              <a:rPr lang="en-US" sz="135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primeiro acesso</a:t>
            </a: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</a:t>
            </a:r>
            <a:endParaRPr lang="en-US" sz="1350" dirty="0"/>
          </a:p>
        </p:txBody>
      </p:sp>
      <p:pic>
        <p:nvPicPr>
          <p:cNvPr id="12" name="Image 0" descr="Aba Usuários com o aviso de pedidos e a linha de quem pediu destacada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86350" y="1756370"/>
            <a:ext cx="6286500" cy="2400300"/>
          </a:xfrm>
          <a:prstGeom prst="roundRect">
            <a:avLst>
              <a:gd name="adj" fmla="val 3968"/>
            </a:avLst>
          </a:prstGeom>
        </p:spPr>
      </p:pic>
      <p:sp>
        <p:nvSpPr>
          <p:cNvPr id="13" name="Shape 10"/>
          <p:cNvSpPr/>
          <p:nvPr/>
        </p:nvSpPr>
        <p:spPr>
          <a:xfrm>
            <a:off x="5083175" y="1753195"/>
            <a:ext cx="6292850" cy="2406650"/>
          </a:xfrm>
          <a:prstGeom prst="roundRect">
            <a:avLst>
              <a:gd name="adj" fmla="val 4090"/>
            </a:avLst>
          </a:prstGeom>
          <a:noFill/>
          <a:ln w="6350">
            <a:solidFill>
              <a:srgbClr val="282836"/>
            </a:solidFill>
            <a:prstDash val="solid"/>
          </a:ln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5080000" y="4290020"/>
            <a:ext cx="6299200" cy="1397000"/>
          </a:xfrm>
          <a:prstGeom prst="roundRect">
            <a:avLst>
              <a:gd name="adj" fmla="val 7273"/>
            </a:avLst>
          </a:prstGeom>
          <a:solidFill>
            <a:srgbClr val="15151C"/>
          </a:solidFill>
          <a:ln/>
        </p:spPr>
        <p:txBody>
          <a:bodyPr/>
          <a:p/>
        </p:txBody>
      </p:sp>
      <p:pic>
        <p:nvPicPr>
          <p:cNvPr id="15" name="Image 1" descr="Confirmação Dispensar pedi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2920" y="4296370"/>
            <a:ext cx="2533359" cy="13843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5083175" y="4293195"/>
            <a:ext cx="6292850" cy="1390650"/>
          </a:xfrm>
          <a:prstGeom prst="roundRect">
            <a:avLst>
              <a:gd name="adj" fmla="val 7078"/>
            </a:avLst>
          </a:prstGeom>
          <a:noFill/>
          <a:ln w="6350">
            <a:solidFill>
              <a:srgbClr val="282836"/>
            </a:solidFill>
            <a:prstDash val="solid"/>
          </a:ln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2418159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200" kern="0" dirty="0">
                <a:solidFill>
                  <a:srgbClr val="04120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PARTE 3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12800" y="2844800"/>
            <a:ext cx="10883392" cy="802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120"/>
              </a:lnSpc>
              <a:buNone/>
            </a:pPr>
            <a:r>
              <a:rPr lang="en-US" sz="6000" b="1" dirty="0">
                <a:solidFill>
                  <a:srgbClr val="0412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Vendas: do balcão ao caixa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12800" y="3799780"/>
            <a:ext cx="8502650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0B2A1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venda fica pendente até o dinheiro ser guardado. Só então ela conta no caixa do sistema.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CAIXA DE BALCÃO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Registrar uma venda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7500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87400" y="17500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44600" y="1750020"/>
            <a:ext cx="358419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Toque nos produtos do catálogo.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2072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87400" y="22072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44600" y="2207220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Escolha o desconto e a taxa de deslocamento, se houver.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283964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87400" y="283964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44600" y="2839641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Venda com ajuda? Adicione o auxiliar: o repasse é dividido igualmente.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800" y="371207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87400" y="371207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44600" y="3712071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Finalizar venda: ela fica Pendente, ainda fora do caixa.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  <p:txBody>
          <a:bodyPr/>
          <a:p/>
        </p:txBody>
      </p:sp>
      <p:pic>
        <p:nvPicPr>
          <p:cNvPr id="17" name="Image 0" descr="Tela do Baú com alerta de mínimo, cartões de saldo e livro de movimentações">    </p:cNvPr>
          <p:cNvPicPr>
            <a:picLocks noChangeAspect="1"/>
          </p:cNvPicPr>
          <p:nvPr/>
        </p:nvPicPr>
        <p:blipFill>
          <a:blip r:embed="rId4"/>
          <a:srcRect l="-61" r="-61" t="0" b="0"/>
          <a:stretch/>
        </p:blipFill>
        <p:spPr>
          <a:xfrm>
            <a:off x="5086350" y="1756370"/>
            <a:ext cx="6286500" cy="3924300"/>
          </a:xfrm>
          <a:prstGeom prst="roundRect">
            <a:avLst>
              <a:gd name="adj" fmla="val 2427"/>
            </a:avLst>
          </a:prstGeom>
        </p:spPr>
      </p:pic>
      <p:sp>
        <p:nvSpPr>
          <p:cNvPr id="18" name="Shape 15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CAIXA DE BALCÃO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Guardar o dinheiro no caixa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7500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87400" y="17500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44600" y="1750020"/>
            <a:ext cx="358419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Fique com o seu repasse.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2072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87400" y="22072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44600" y="2207220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Pague os auxiliares e guarde a parte da loja no caixa do jogo.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283964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87400" y="283964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44600" y="2839641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Em Vendas a guardar, marque as vendas e toque em Guardar no caixa.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800" y="371207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87400" y="371207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44600" y="3712071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Confira o VALOR PARA O CAIXA e confirme.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  <p:txBody>
          <a:bodyPr/>
          <a:p/>
        </p:txBody>
      </p:sp>
      <p:pic>
        <p:nvPicPr>
          <p:cNvPr id="17" name="Image 0" descr="Tela do Baú com alerta de mínimo, cartões de saldo e livro de movimentações">    </p:cNvPr>
          <p:cNvPicPr>
            <a:picLocks noChangeAspect="1"/>
          </p:cNvPicPr>
          <p:nvPr/>
        </p:nvPicPr>
        <p:blipFill>
          <a:blip r:embed="rId4"/>
          <a:srcRect l="-61" r="-61" t="0" b="0"/>
          <a:stretch/>
        </p:blipFill>
        <p:spPr>
          <a:xfrm>
            <a:off x="5086350" y="1756370"/>
            <a:ext cx="6286500" cy="3924300"/>
          </a:xfrm>
          <a:prstGeom prst="roundRect">
            <a:avLst>
              <a:gd name="adj" fmla="val 2427"/>
            </a:avLst>
          </a:prstGeom>
        </p:spPr>
      </p:pic>
      <p:sp>
        <p:nvSpPr>
          <p:cNvPr id="18" name="Shape 15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78BF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CAIXA DE BALCÃO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Vendas a guardar: vendedor e gerência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753195"/>
            <a:ext cx="5124450" cy="3215481"/>
          </a:xfrm>
          <a:prstGeom prst="roundRect">
            <a:avLst>
              <a:gd name="adj" fmla="val 3456"/>
            </a:avLst>
          </a:prstGeom>
          <a:solidFill>
            <a:srgbClr val="0D0D11"/>
          </a:solidFill>
          <a:ln w="6350">
            <a:solidFill>
              <a:srgbClr val="28283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96950" y="1934170"/>
            <a:ext cx="4905375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00FF6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Vendedor</a:t>
            </a:r>
            <a:endParaRPr lang="en-US" sz="1800" dirty="0"/>
          </a:p>
        </p:txBody>
      </p:sp>
      <p:pic>
        <p:nvPicPr>
          <p:cNvPr id="6" name="Image 0" descr="Janela Entrada avulsa com quantidade e motivo">    </p:cNvPr>
          <p:cNvPicPr>
            <a:picLocks noChangeAspect="1"/>
          </p:cNvPicPr>
          <p:nvPr/>
        </p:nvPicPr>
        <p:blipFill>
          <a:blip r:embed="rId5"/>
          <a:srcRect l="-27662" r="-27662" t="0" b="0"/>
          <a:stretch/>
        </p:blipFill>
        <p:spPr>
          <a:xfrm>
            <a:off x="996950" y="2322711"/>
            <a:ext cx="4775200" cy="1905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96950" y="4342011"/>
            <a:ext cx="4905375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Vê só as próprias vendas. Com 24 h ou mais, a idade fica vermelha. Errou? Pedir cancelamento.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51575" y="1753195"/>
            <a:ext cx="5124450" cy="3215481"/>
          </a:xfrm>
          <a:prstGeom prst="roundRect">
            <a:avLst>
              <a:gd name="adj" fmla="val 3456"/>
            </a:avLst>
          </a:prstGeom>
          <a:solidFill>
            <a:srgbClr val="0D0D11"/>
          </a:solidFill>
          <a:ln w="6350">
            <a:solidFill>
              <a:srgbClr val="282836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6432550" y="1934170"/>
            <a:ext cx="4905375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FCA5A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Gerente ou acima</a:t>
            </a:r>
            <a:endParaRPr lang="en-US" sz="1800" dirty="0"/>
          </a:p>
        </p:txBody>
      </p:sp>
      <p:pic>
        <p:nvPicPr>
          <p:cNvPr id="10" name="Image 1" descr="Confirmação Reverter lançamento do Baú">    </p:cNvPr>
          <p:cNvPicPr>
            <a:picLocks noChangeAspect="1"/>
          </p:cNvPicPr>
          <p:nvPr/>
        </p:nvPicPr>
        <p:blipFill>
          <a:blip r:embed="rId6"/>
          <a:srcRect l="-16655" r="-16655" t="0" b="0"/>
          <a:stretch/>
        </p:blipFill>
        <p:spPr>
          <a:xfrm>
            <a:off x="6432550" y="2322711"/>
            <a:ext cx="4775200" cy="19050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432550" y="4342011"/>
            <a:ext cx="4905375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Vê todas e o dinheiro na mão de cada vendedor. Aprova ou recusa os cancelamentos.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HISTÓRICO FINANCEIRO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 caixa conta só o que foi guardado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7500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87400" y="17500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44600" y="1750020"/>
            <a:ext cx="358419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Pendente fica fora dos totais.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2072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87400" y="22072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44600" y="2207220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Guardada aparece na data em que o dinheiro entrou, com o lote.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283964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87400" y="283964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44600" y="2839641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Cancelada a pedido fica revertida e mostra quem pediu e o motivo.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800" y="371207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87400" y="371207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44600" y="3712071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Entrada/Saída: o que entrou e, em vermelho, o que saiu.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  <p:txBody>
          <a:bodyPr/>
          <a:p/>
        </p:txBody>
      </p:sp>
      <p:pic>
        <p:nvPicPr>
          <p:cNvPr id="17" name="Image 0" descr="Tela do Baú com alerta de mínimo, cartões de saldo e livro de movimentações">    </p:cNvPr>
          <p:cNvPicPr>
            <a:picLocks noChangeAspect="1"/>
          </p:cNvPicPr>
          <p:nvPr/>
        </p:nvPicPr>
        <p:blipFill>
          <a:blip r:embed="rId5"/>
          <a:srcRect l="-61" r="-61" t="0" b="0"/>
          <a:stretch/>
        </p:blipFill>
        <p:spPr>
          <a:xfrm>
            <a:off x="5086350" y="1756370"/>
            <a:ext cx="6286500" cy="3924300"/>
          </a:xfrm>
          <a:prstGeom prst="roundRect">
            <a:avLst>
              <a:gd name="adj" fmla="val 2427"/>
            </a:avLst>
          </a:prstGeom>
        </p:spPr>
      </p:pic>
      <p:sp>
        <p:nvSpPr>
          <p:cNvPr id="18" name="Shape 15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PAINEL · GERENTE OU ACIMA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Painel: a visão geral da loja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7500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87400" y="17500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44600" y="1750020"/>
            <a:ext cx="358419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Alertas no topo levam à tela certa.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2072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87400" y="22072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44600" y="2207220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Escolha o período: Hoje, 7 dias, 30 dias, mês ou Tudo.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283964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87400" y="283964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44600" y="2839641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Receita da loja por dia, ranking de vendedores e produtos mais vendidos e sem venda.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800" y="371207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87400" y="371207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44600" y="3712071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Avisos (quem ainda não viu) e últimas ações.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  <p:txBody>
          <a:bodyPr/>
          <a:p/>
        </p:txBody>
      </p:sp>
      <p:pic>
        <p:nvPicPr>
          <p:cNvPr id="17" name="Image 0" descr="Tela do Baú com alerta de mínimo, cartões de saldo e livro de movimentações">    </p:cNvPr>
          <p:cNvPicPr>
            <a:picLocks noChangeAspect="1"/>
          </p:cNvPicPr>
          <p:nvPr/>
        </p:nvPicPr>
        <p:blipFill>
          <a:blip r:embed="rId4"/>
          <a:srcRect l="-61" r="-61" t="0" b="0"/>
          <a:stretch/>
        </p:blipFill>
        <p:spPr>
          <a:xfrm>
            <a:off x="5086350" y="1756370"/>
            <a:ext cx="6286500" cy="3924300"/>
          </a:xfrm>
          <a:prstGeom prst="roundRect">
            <a:avLst>
              <a:gd name="adj" fmla="val 2427"/>
            </a:avLst>
          </a:prstGeom>
        </p:spPr>
      </p:pic>
      <p:sp>
        <p:nvSpPr>
          <p:cNvPr id="18" name="Shape 15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FF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418159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200" kern="0" dirty="0">
                <a:solidFill>
                  <a:srgbClr val="04120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PARTE 4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12800" y="2844800"/>
            <a:ext cx="10883392" cy="802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120"/>
              </a:lnSpc>
              <a:buNone/>
            </a:pPr>
            <a:r>
              <a:rPr lang="en-US" sz="6000" b="1" dirty="0">
                <a:solidFill>
                  <a:srgbClr val="0412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Baú: o estoque de insumos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12800" y="3799780"/>
            <a:ext cx="8502650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0B2A1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Insumos e produção. Muda com compras, produções e ajustes (e com vendas, se o produto final tiver controle).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BAÚ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Como ler a tela do Baú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7500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87400" y="17500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44600" y="1750020"/>
            <a:ext cx="358419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Nova compra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e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Produzir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ficam no topo.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2072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87400" y="22072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44600" y="2207220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 ? ao lado do título explica a tela.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283964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87400" y="283964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44600" y="2839641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Cada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cartão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mostra o saldo, a categoria e o mínimo. Borda vermelha: hora de comprar.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800" y="371207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87400" y="371207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44600" y="3712071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Embaixo, o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livro de movimentações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registra tudo que entrou e saiu.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  <p:txBody>
          <a:bodyPr/>
          <a:p/>
        </p:txBody>
      </p:sp>
      <p:pic>
        <p:nvPicPr>
          <p:cNvPr id="17" name="Image 0" descr="Tela do Baú com alerta de mínimo, cartões de saldo e livro de movimentações">    </p:cNvPr>
          <p:cNvPicPr>
            <a:picLocks noChangeAspect="1"/>
          </p:cNvPicPr>
          <p:nvPr/>
        </p:nvPicPr>
        <p:blipFill>
          <a:blip r:embed="rId4"/>
          <a:srcRect l="-61" r="-61" t="0" b="0"/>
          <a:stretch/>
        </p:blipFill>
        <p:spPr>
          <a:xfrm>
            <a:off x="5086350" y="1756370"/>
            <a:ext cx="6286500" cy="3924300"/>
          </a:xfrm>
          <a:prstGeom prst="roundRect">
            <a:avLst>
              <a:gd name="adj" fmla="val 2427"/>
            </a:avLst>
          </a:prstGeom>
        </p:spPr>
      </p:pic>
      <p:sp>
        <p:nvSpPr>
          <p:cNvPr id="18" name="Shape 15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BAÚ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Registrar uma compra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7500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87400" y="17500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44600" y="1750020"/>
            <a:ext cx="358419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 Baú, toque 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Nova compra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2072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87400" y="22072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44600" y="2207220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Item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digite ou escolha. Item do cadastro fica Automático: escolha o fornecedor e o valor vem travado.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307965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87400" y="307965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44600" y="3079651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Item fora do cadastro fica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Manual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: digite fornecedor e valor.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800" y="371207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87400" y="371207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44600" y="3712071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Confira o total e toque 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Registrar compra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 Item de categoria sem estoque fica só no financeiro.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  <p:txBody>
          <a:bodyPr/>
          <a:p/>
        </p:txBody>
      </p:sp>
      <p:pic>
        <p:nvPicPr>
          <p:cNvPr id="17" name="Image 0" descr="Tela Registrar compra com três itens Automáticos (um sem Baú), um item Manual e o total">    </p:cNvPr>
          <p:cNvPicPr>
            <a:picLocks noChangeAspect="1"/>
          </p:cNvPicPr>
          <p:nvPr/>
        </p:nvPicPr>
        <p:blipFill>
          <a:blip r:embed="rId1"/>
          <a:srcRect l="-61" r="-61" t="0" b="0"/>
          <a:stretch/>
        </p:blipFill>
        <p:spPr>
          <a:xfrm>
            <a:off x="5086350" y="1756370"/>
            <a:ext cx="6286500" cy="3924300"/>
          </a:xfrm>
          <a:prstGeom prst="roundRect">
            <a:avLst>
              <a:gd name="adj" fmla="val 2427"/>
            </a:avLst>
          </a:prstGeom>
        </p:spPr>
      </p:pic>
      <p:sp>
        <p:nvSpPr>
          <p:cNvPr id="18" name="Shape 15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20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BAÚ · COMPRA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Atalhos da compra</a:t>
            </a:r>
            <a:endParaRPr lang="en-US" sz="3000" dirty="0"/>
          </a:p>
        </p:txBody>
      </p:sp>
      <p:pic>
        <p:nvPicPr>
          <p:cNvPr id="4" name="Image 0" descr="Lista de itens da compra agrupada por categoria">    </p:cNvPr>
          <p:cNvPicPr>
            <a:picLocks noChangeAspect="1"/>
          </p:cNvPicPr>
          <p:nvPr/>
        </p:nvPicPr>
        <p:blipFill>
          <a:blip r:embed="rId1"/>
          <a:srcRect l="0" r="0" t="149" b="149"/>
          <a:stretch/>
        </p:blipFill>
        <p:spPr>
          <a:xfrm>
            <a:off x="825500" y="1762720"/>
            <a:ext cx="5105400" cy="3181350"/>
          </a:xfrm>
          <a:prstGeom prst="roundRect">
            <a:avLst>
              <a:gd name="adj" fmla="val 2395"/>
            </a:avLst>
          </a:prstGeom>
        </p:spPr>
      </p:pic>
      <p:sp>
        <p:nvSpPr>
          <p:cNvPr id="5" name="Shape 2"/>
          <p:cNvSpPr/>
          <p:nvPr/>
        </p:nvSpPr>
        <p:spPr>
          <a:xfrm>
            <a:off x="819150" y="1756370"/>
            <a:ext cx="5118100" cy="3194050"/>
          </a:xfrm>
          <a:prstGeom prst="roundRect">
            <a:avLst>
              <a:gd name="adj" fmla="val 2584"/>
            </a:avLst>
          </a:prstGeom>
          <a:noFill/>
          <a:ln w="12700">
            <a:solidFill>
              <a:srgbClr val="FBBF24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812800" y="5071070"/>
            <a:ext cx="5284724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FBBF2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Lista de itens:</a:t>
            </a: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separada por categoria. Gerente ou acima cadastra um item novo pelo rodapé da lista.</a:t>
            </a:r>
            <a:endParaRPr lang="en-US" sz="1300" dirty="0"/>
          </a:p>
        </p:txBody>
      </p:sp>
      <p:pic>
        <p:nvPicPr>
          <p:cNvPr id="7" name="Image 1" descr="Lista de fornecedores com a opção de vincular fornecedor já cadastrado">    </p:cNvPr>
          <p:cNvPicPr>
            <a:picLocks noChangeAspect="1"/>
          </p:cNvPicPr>
          <p:nvPr/>
        </p:nvPicPr>
        <p:blipFill>
          <a:blip r:embed="rId2"/>
          <a:srcRect l="0" r="0" t="149" b="149"/>
          <a:stretch/>
        </p:blipFill>
        <p:spPr>
          <a:xfrm>
            <a:off x="6261100" y="1762720"/>
            <a:ext cx="5105400" cy="3181350"/>
          </a:xfrm>
          <a:prstGeom prst="roundRect">
            <a:avLst>
              <a:gd name="adj" fmla="val 2395"/>
            </a:avLst>
          </a:prstGeom>
        </p:spPr>
      </p:pic>
      <p:sp>
        <p:nvSpPr>
          <p:cNvPr id="8" name="Shape 4"/>
          <p:cNvSpPr/>
          <p:nvPr/>
        </p:nvSpPr>
        <p:spPr>
          <a:xfrm>
            <a:off x="6254750" y="1756370"/>
            <a:ext cx="5118100" cy="3194050"/>
          </a:xfrm>
          <a:prstGeom prst="roundRect">
            <a:avLst>
              <a:gd name="adj" fmla="val 2584"/>
            </a:avLst>
          </a:prstGeom>
          <a:noFill/>
          <a:ln w="12700">
            <a:solidFill>
              <a:srgbClr val="00FF66"/>
            </a:solidFill>
            <a:prstDash val="solid"/>
          </a:ln>
        </p:spPr>
        <p:txBody>
          <a:bodyPr/>
          <a:p/>
        </p:txBody>
      </p:sp>
      <p:sp>
        <p:nvSpPr>
          <p:cNvPr id="9" name="Text 5"/>
          <p:cNvSpPr/>
          <p:nvPr/>
        </p:nvSpPr>
        <p:spPr>
          <a:xfrm>
            <a:off x="6248400" y="5071070"/>
            <a:ext cx="5284724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Fornecedor:</a:t>
            </a: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item sem o fornecedor? Escolha um já cadastrado e informe só o valor, ou cadastre um novo.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21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FORNECEDORES · GERENTE OU ACIMA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Valor de cada item no fornecedor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7500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87400" y="17500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44600" y="1750020"/>
            <a:ext cx="358419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Abra a aba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Fornecedores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2072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87400" y="22072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44600" y="2207220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Itens fornecidos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pesquise e marque os itens. Cada item novo vai para o fim da lista.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307965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87400" y="307965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44600" y="3079651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Informe o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valor unitário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de cada item. É obrigatório.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800" y="371207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87400" y="371207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44600" y="3712071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Toque 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Salvar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 Na compra, esse valor vem travado ao escolher o fornecedor.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  <p:txBody>
          <a:bodyPr/>
          <a:p/>
        </p:txBody>
      </p:sp>
      <p:pic>
        <p:nvPicPr>
          <p:cNvPr id="17" name="Image 0" descr="Janela Editar fornecedor com os itens e o valor de cada um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86350" y="1756370"/>
            <a:ext cx="6286500" cy="3924300"/>
          </a:xfrm>
          <a:prstGeom prst="roundRect">
            <a:avLst>
              <a:gd name="adj" fmla="val 2427"/>
            </a:avLst>
          </a:prstGeom>
        </p:spPr>
      </p:pic>
      <p:sp>
        <p:nvSpPr>
          <p:cNvPr id="18" name="Shape 15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22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BAÚ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Produzir: uma linha por variedade</a:t>
            </a:r>
            <a:endParaRPr lang="en-US" sz="3000" dirty="0"/>
          </a:p>
        </p:txBody>
      </p:sp>
      <p:pic>
        <p:nvPicPr>
          <p:cNvPr id="4" name="Image 0" descr="Tela Produzir com as fichas das receitas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19150" y="1756370"/>
            <a:ext cx="3898900" cy="1574800"/>
          </a:xfrm>
          <a:prstGeom prst="roundRect">
            <a:avLst>
              <a:gd name="adj" fmla="val 5242"/>
            </a:avLst>
          </a:prstGeom>
        </p:spPr>
      </p:pic>
      <p:sp>
        <p:nvSpPr>
          <p:cNvPr id="5" name="Shape 2"/>
          <p:cNvSpPr/>
          <p:nvPr/>
        </p:nvSpPr>
        <p:spPr>
          <a:xfrm>
            <a:off x="815975" y="1753195"/>
            <a:ext cx="3905250" cy="1581150"/>
          </a:xfrm>
          <a:prstGeom prst="roundRect">
            <a:avLst>
              <a:gd name="adj" fmla="val 5422"/>
            </a:avLst>
          </a:prstGeom>
          <a:noFill/>
          <a:ln w="6350">
            <a:solidFill>
              <a:srgbClr val="282836"/>
            </a:solidFill>
            <a:prstDash val="solid"/>
          </a:ln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812800" y="34772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787400" y="34772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244600" y="3477220"/>
            <a:ext cx="3584194" cy="4881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 Baú mostra os saldos; cada cartão, o que a etapa consome e gera.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812800" y="4079677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87400" y="4079677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44600" y="4079677"/>
            <a:ext cx="358419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Toque em 🌿 Dichavar ou 🚬 Enrolar.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812800" y="4524177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787400" y="4524177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244600" y="4524177"/>
            <a:ext cx="3584194" cy="4881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Confira o que sai e entra no Baú e toque em Produzir.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  <p:txBody>
          <a:bodyPr/>
          <a:p/>
        </p:txBody>
      </p:sp>
      <p:pic>
        <p:nvPicPr>
          <p:cNvPr id="16" name="Image 1" descr="Janela Produzir com a quantidade e o resumo dos insumos consumido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21188" y="1756370"/>
            <a:ext cx="4616824" cy="392430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  <p:txBody>
          <a:bodyPr/>
          <a:p/>
        </p:txBody>
      </p:sp>
      <p:sp>
        <p:nvSpPr>
          <p:cNvPr id="18" name="Text 14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23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BAÚ · PRODUÇÃO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Faltou insumo? Comprar o que falta</a:t>
            </a:r>
            <a:endParaRPr lang="en-US" sz="3000" dirty="0"/>
          </a:p>
        </p:txBody>
      </p:sp>
      <p:pic>
        <p:nvPicPr>
          <p:cNvPr id="4" name="Image 0" descr="Tela Produzir com as fichas das receitas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19150" y="1756370"/>
            <a:ext cx="3898900" cy="1574800"/>
          </a:xfrm>
          <a:prstGeom prst="roundRect">
            <a:avLst>
              <a:gd name="adj" fmla="val 5242"/>
            </a:avLst>
          </a:prstGeom>
        </p:spPr>
      </p:pic>
      <p:sp>
        <p:nvSpPr>
          <p:cNvPr id="5" name="Shape 2"/>
          <p:cNvSpPr/>
          <p:nvPr/>
        </p:nvSpPr>
        <p:spPr>
          <a:xfrm>
            <a:off x="815975" y="1753195"/>
            <a:ext cx="3905250" cy="1581150"/>
          </a:xfrm>
          <a:prstGeom prst="roundRect">
            <a:avLst>
              <a:gd name="adj" fmla="val 5422"/>
            </a:avLst>
          </a:prstGeom>
          <a:noFill/>
          <a:ln w="6350">
            <a:solidFill>
              <a:srgbClr val="282836"/>
            </a:solidFill>
            <a:prstDash val="solid"/>
          </a:ln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812800" y="34772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787400" y="34772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244600" y="3477220"/>
            <a:ext cx="3584194" cy="4881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janela mostra Tem / Precisa / Falta e o que comprar.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812800" y="4079677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87400" y="4079677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44600" y="4079677"/>
            <a:ext cx="358419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Toque em Comprar o que falta.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812800" y="4524177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787400" y="4524177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244600" y="4524177"/>
            <a:ext cx="3584194" cy="4881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compra abre preenchida; registrou, volta à produção.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  <p:txBody>
          <a:bodyPr/>
          <a:p/>
        </p:txBody>
      </p:sp>
      <p:pic>
        <p:nvPicPr>
          <p:cNvPr id="16" name="Image 1" descr="Janela Produzir com a quantidade e o resumo dos insumos consumido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21188" y="1756370"/>
            <a:ext cx="4616824" cy="392430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  <p:txBody>
          <a:bodyPr/>
          <a:p/>
        </p:txBody>
      </p:sp>
      <p:sp>
        <p:nvSpPr>
          <p:cNvPr id="18" name="Text 14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24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CONFIGURAÇÕES · GERENTE OU ACIMA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Receitas: etapas e produto final 🏁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7500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87400" y="17500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44600" y="1750020"/>
            <a:ext cx="358419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Categoria = nome do botão (🌿 Dichavar).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2072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87400" y="22072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44600" y="2207220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Marque 🏁 no último passo e escolha o produto que ele faz.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283964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87400" y="283964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44600" y="2839641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tela Produzir monta a linha a partir da receita 🏁, com a foto do produto.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800" y="371207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87400" y="371207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44600" y="3712071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Produto Final com controle: a venda guardada tira do Baú.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  <p:txBody>
          <a:bodyPr/>
          <a:p/>
        </p:txBody>
      </p:sp>
      <p:pic>
        <p:nvPicPr>
          <p:cNvPr id="17" name="Image 0" descr="Tela do Baú com alerta de mínimo, cartões de saldo e livro de movimentações">    </p:cNvPr>
          <p:cNvPicPr>
            <a:picLocks noChangeAspect="1"/>
          </p:cNvPicPr>
          <p:nvPr/>
        </p:nvPicPr>
        <p:blipFill>
          <a:blip r:embed="rId4"/>
          <a:srcRect l="-61" r="-61" t="0" b="0"/>
          <a:stretch/>
        </p:blipFill>
        <p:spPr>
          <a:xfrm>
            <a:off x="5086350" y="1756370"/>
            <a:ext cx="6286500" cy="3924300"/>
          </a:xfrm>
          <a:prstGeom prst="roundRect">
            <a:avLst>
              <a:gd name="adj" fmla="val 2427"/>
            </a:avLst>
          </a:prstGeom>
        </p:spPr>
      </p:pic>
      <p:sp>
        <p:nvSpPr>
          <p:cNvPr id="18" name="Shape 15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25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515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78BF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BAÚ · GERENTE OU ACIMA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Corrigir o estoque: ajustar ou reverter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753195"/>
            <a:ext cx="5124450" cy="3215481"/>
          </a:xfrm>
          <a:prstGeom prst="roundRect">
            <a:avLst>
              <a:gd name="adj" fmla="val 3456"/>
            </a:avLst>
          </a:prstGeom>
          <a:solidFill>
            <a:srgbClr val="0D0D11"/>
          </a:solidFill>
          <a:ln w="6350">
            <a:solidFill>
              <a:srgbClr val="28283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96950" y="1934170"/>
            <a:ext cx="4905375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00FF6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Ajuste avulso</a:t>
            </a:r>
            <a:endParaRPr lang="en-US" sz="1800" dirty="0"/>
          </a:p>
        </p:txBody>
      </p:sp>
      <p:pic>
        <p:nvPicPr>
          <p:cNvPr id="6" name="Image 0" descr="Janela Entrada avulsa com quantidade e motivo">    </p:cNvPr>
          <p:cNvPicPr>
            <a:picLocks noChangeAspect="1"/>
          </p:cNvPicPr>
          <p:nvPr/>
        </p:nvPicPr>
        <p:blipFill>
          <a:blip r:embed="rId1"/>
          <a:srcRect l="-27662" r="-27662" t="0" b="0"/>
          <a:stretch/>
        </p:blipFill>
        <p:spPr>
          <a:xfrm>
            <a:off x="996950" y="2322711"/>
            <a:ext cx="4775200" cy="1905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96950" y="4342011"/>
            <a:ext cx="4905375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Nos cartões, </a:t>
            </a:r>
            <a:r>
              <a:rPr lang="en-US" sz="13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+ Entrada</a:t>
            </a: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ou </a:t>
            </a:r>
            <a:r>
              <a:rPr lang="en-US" sz="13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− Saída</a:t>
            </a: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para contagem, perda ou doação. Informe a quantidade e o motivo.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51575" y="1753195"/>
            <a:ext cx="5124450" cy="3215481"/>
          </a:xfrm>
          <a:prstGeom prst="roundRect">
            <a:avLst>
              <a:gd name="adj" fmla="val 3456"/>
            </a:avLst>
          </a:prstGeom>
          <a:solidFill>
            <a:srgbClr val="0D0D11"/>
          </a:solidFill>
          <a:ln w="6350">
            <a:solidFill>
              <a:srgbClr val="282836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6432550" y="1934170"/>
            <a:ext cx="4905375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FCA5A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Reverter lançamento</a:t>
            </a:r>
            <a:endParaRPr lang="en-US" sz="1800" dirty="0"/>
          </a:p>
        </p:txBody>
      </p:sp>
      <p:pic>
        <p:nvPicPr>
          <p:cNvPr id="10" name="Image 1" descr="Confirmação Reverter lançamento do Baú">    </p:cNvPr>
          <p:cNvPicPr>
            <a:picLocks noChangeAspect="1"/>
          </p:cNvPicPr>
          <p:nvPr/>
        </p:nvPicPr>
        <p:blipFill>
          <a:blip r:embed="rId2"/>
          <a:srcRect l="-16655" r="-16655" t="0" b="0"/>
          <a:stretch/>
        </p:blipFill>
        <p:spPr>
          <a:xfrm>
            <a:off x="6432550" y="2322711"/>
            <a:ext cx="4775200" cy="19050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432550" y="4342011"/>
            <a:ext cx="4905375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seta de voltar desfaz o lançamento inteiro. Ele fica no livro como </a:t>
            </a:r>
            <a:r>
              <a:rPr lang="en-US" sz="13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Revertida</a:t>
            </a: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com a linha apagada.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26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BAÚ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 livro de movimentações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7500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87400" y="17500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44600" y="1750020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Cada linha é um lançamento. Compras (verde) e produções (roxo) juntam vários itens numa linha só.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62245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87400" y="262245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44600" y="2622451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Toque na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seta com o número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para abrir as sublinhas, com a quantidade e o saldo de cada item.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349488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87400" y="349488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44600" y="3494881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Os títulos das colunas filtram e ordenam.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Exportar CSV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baixa a planilha (Gerente ou acima).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  <p:txBody>
          <a:bodyPr/>
          <a:p/>
        </p:txBody>
      </p:sp>
      <p:pic>
        <p:nvPicPr>
          <p:cNvPr id="14" name="Image 0" descr="Livro de movimentações com uma produção aberta em três sublinhas">    </p:cNvPr>
          <p:cNvPicPr>
            <a:picLocks noChangeAspect="1"/>
          </p:cNvPicPr>
          <p:nvPr/>
        </p:nvPicPr>
        <p:blipFill>
          <a:blip r:embed="rId1"/>
          <a:srcRect l="-61" r="-61" t="0" b="0"/>
          <a:stretch/>
        </p:blipFill>
        <p:spPr>
          <a:xfrm>
            <a:off x="5086350" y="1756370"/>
            <a:ext cx="6286500" cy="3924300"/>
          </a:xfrm>
          <a:prstGeom prst="roundRect">
            <a:avLst>
              <a:gd name="adj" fmla="val 2427"/>
            </a:avLst>
          </a:prstGeom>
        </p:spPr>
      </p:pic>
      <p:sp>
        <p:nvSpPr>
          <p:cNvPr id="15" name="Shape 12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27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515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00154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 CELULAR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2392660"/>
            <a:ext cx="654050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Tudo funciona pelo navegador do celular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3408660"/>
            <a:ext cx="6540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Abra o mesmo endereço e entre com o mesmo usuário. O menu vai para a barra de baixo: Caixa, Baú, Histórico, Painel e Configurações.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12800" y="4119860"/>
            <a:ext cx="6540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Os cartões do Baú ficam em duas colunas. Listas com pesquisa abrem no alto da tela, acima do teclado.</a:t>
            </a:r>
            <a:endParaRPr lang="en-US" sz="1500" dirty="0"/>
          </a:p>
        </p:txBody>
      </p:sp>
      <p:pic>
        <p:nvPicPr>
          <p:cNvPr id="6" name="Image 0" descr="Baú aberto num celular, com cartões de saldo e a barra de menu embaixo">    </p:cNvPr>
          <p:cNvPicPr>
            <a:picLocks noChangeAspect="1"/>
          </p:cNvPicPr>
          <p:nvPr/>
        </p:nvPicPr>
        <p:blipFill>
          <a:blip r:embed="rId4"/>
          <a:srcRect l="970" r="970" t="0" b="0"/>
          <a:stretch/>
        </p:blipFill>
        <p:spPr>
          <a:xfrm>
            <a:off x="7810500" y="889000"/>
            <a:ext cx="2209800" cy="4876800"/>
          </a:xfrm>
          <a:prstGeom prst="roundRect">
            <a:avLst>
              <a:gd name="adj" fmla="val 8621"/>
            </a:avLst>
          </a:prstGeom>
        </p:spPr>
      </p:pic>
      <p:sp>
        <p:nvSpPr>
          <p:cNvPr id="7" name="Shape 4"/>
          <p:cNvSpPr/>
          <p:nvPr/>
        </p:nvSpPr>
        <p:spPr>
          <a:xfrm>
            <a:off x="7791450" y="869950"/>
            <a:ext cx="2247900" cy="4914900"/>
          </a:xfrm>
          <a:prstGeom prst="roundRect">
            <a:avLst>
              <a:gd name="adj" fmla="val 9322"/>
            </a:avLst>
          </a:prstGeom>
          <a:noFill/>
          <a:ln w="38100">
            <a:solidFill>
              <a:srgbClr val="34343F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812800" y="623828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28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AVISOS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Avisos para toda a equipe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7500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87400" y="17500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44600" y="1750020"/>
            <a:ext cx="358419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Toque 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Avisos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no topo.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2072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87400" y="22072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44600" y="2207220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Gerente ou acima escreve o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título e a mensagem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(imagem opcional) e toca em Publicar para todos.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307965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87400" y="307965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44600" y="3079651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 pop-up aparece na tela de todos. Cada um toca 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Entendi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800" y="371207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87400" y="371207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44600" y="3712071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Depois de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24 horas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o aviso some sozinho. O número no megafone mostra os avisos novos.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  <p:txBody>
          <a:bodyPr/>
          <a:p/>
        </p:txBody>
      </p:sp>
      <p:pic>
        <p:nvPicPr>
          <p:cNvPr id="17" name="Image 0" descr="Pop-up de aviso com imagem na tela de um Vendedor">    </p:cNvPr>
          <p:cNvPicPr>
            <a:picLocks noChangeAspect="1"/>
          </p:cNvPicPr>
          <p:nvPr/>
        </p:nvPicPr>
        <p:blipFill>
          <a:blip r:embed="rId1"/>
          <a:srcRect l="-61" r="-61" t="0" b="0"/>
          <a:stretch/>
        </p:blipFill>
        <p:spPr>
          <a:xfrm>
            <a:off x="5086350" y="1756370"/>
            <a:ext cx="6286500" cy="3924300"/>
          </a:xfrm>
          <a:prstGeom prst="roundRect">
            <a:avLst>
              <a:gd name="adj" fmla="val 2427"/>
            </a:avLst>
          </a:prstGeom>
        </p:spPr>
      </p:pic>
      <p:sp>
        <p:nvSpPr>
          <p:cNvPr id="18" name="Shape 15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29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RESUMO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Cola rápida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800820"/>
            <a:ext cx="5194300" cy="1125637"/>
          </a:xfrm>
          <a:prstGeom prst="roundRect">
            <a:avLst>
              <a:gd name="adj" fmla="val 7898"/>
            </a:avLst>
          </a:prstGeom>
          <a:solidFill>
            <a:srgbClr val="15151C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12800" y="1800820"/>
            <a:ext cx="5194300" cy="1125637"/>
          </a:xfrm>
          <a:custGeom>
            <a:avLst/>
            <a:gdLst/>
            <a:ahLst/>
            <a:cxnLst/>
            <a:rect l="l" t="t" r="r" b="b"/>
            <a:pathLst>
              <a:path w="5194300" h="1125637">
                <a:moveTo>
                  <a:pt x="88900" y="1125637"/>
                </a:moveTo>
                <a:lnTo>
                  <a:pt x="88900" y="1125637"/>
                </a:lnTo>
                <a:arcTo hR="88900" wR="88900" stAng="5400000" swAng="5400000"/>
                <a:lnTo>
                  <a:pt x="0" y="88900"/>
                </a:lnTo>
                <a:arcTo hR="88900" wR="88900" stAng="10800000" swAng="5400000"/>
                <a:lnTo>
                  <a:pt x="88900" y="0"/>
                </a:lnTo>
                <a:arcTo hR="88900" wR="50800" stAng="16200000" swAng="-5400000"/>
                <a:lnTo>
                  <a:pt x="38100" y="1036737"/>
                </a:lnTo>
                <a:arcTo hR="88900" wR="50800" stAng="10800000" swAng="-5400000"/>
                <a:close/>
              </a:path>
            </a:pathLst>
          </a:custGeom>
          <a:solidFill>
            <a:srgbClr val="00FF66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54100" y="1978620"/>
            <a:ext cx="489229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3F4F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Esqueci a senha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54100" y="2285901"/>
            <a:ext cx="4892294" cy="4881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Redefinir senha na tela de login. Um Gerente define uma senha nova e passa para você.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184900" y="1800820"/>
            <a:ext cx="5194300" cy="1125637"/>
          </a:xfrm>
          <a:prstGeom prst="roundRect">
            <a:avLst>
              <a:gd name="adj" fmla="val 7898"/>
            </a:avLst>
          </a:prstGeom>
          <a:solidFill>
            <a:srgbClr val="15151C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184900" y="1800820"/>
            <a:ext cx="5194300" cy="1125637"/>
          </a:xfrm>
          <a:custGeom>
            <a:avLst/>
            <a:gdLst/>
            <a:ahLst/>
            <a:cxnLst/>
            <a:rect l="l" t="t" r="r" b="b"/>
            <a:pathLst>
              <a:path w="5194300" h="1125637">
                <a:moveTo>
                  <a:pt x="88900" y="1125637"/>
                </a:moveTo>
                <a:lnTo>
                  <a:pt x="88900" y="1125637"/>
                </a:lnTo>
                <a:arcTo hR="88900" wR="88900" stAng="5400000" swAng="5400000"/>
                <a:lnTo>
                  <a:pt x="0" y="88900"/>
                </a:lnTo>
                <a:arcTo hR="88900" wR="88900" stAng="10800000" swAng="5400000"/>
                <a:lnTo>
                  <a:pt x="88900" y="0"/>
                </a:lnTo>
                <a:arcTo hR="88900" wR="50800" stAng="16200000" swAng="-5400000"/>
                <a:lnTo>
                  <a:pt x="38100" y="1036737"/>
                </a:lnTo>
                <a:arcTo hR="88900" wR="50800" stAng="10800000" swAng="-5400000"/>
                <a:close/>
              </a:path>
            </a:pathLst>
          </a:custGeom>
          <a:solidFill>
            <a:srgbClr val="00FF66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26200" y="1978620"/>
            <a:ext cx="489229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3F4F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Conta nova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26200" y="2285901"/>
            <a:ext cx="4892294" cy="4881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Entre com a senha inicial e crie a sua na hora (mínimo 6 caracteres).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12800" y="3104257"/>
            <a:ext cx="5194300" cy="894259"/>
          </a:xfrm>
          <a:prstGeom prst="roundRect">
            <a:avLst>
              <a:gd name="adj" fmla="val 9941"/>
            </a:avLst>
          </a:prstGeom>
          <a:solidFill>
            <a:srgbClr val="15151C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12800" y="3104257"/>
            <a:ext cx="5194300" cy="894259"/>
          </a:xfrm>
          <a:custGeom>
            <a:avLst/>
            <a:gdLst/>
            <a:ahLst/>
            <a:cxnLst/>
            <a:rect l="l" t="t" r="r" b="b"/>
            <a:pathLst>
              <a:path w="5194300" h="894259">
                <a:moveTo>
                  <a:pt x="88900" y="894259"/>
                </a:moveTo>
                <a:lnTo>
                  <a:pt x="88900" y="894259"/>
                </a:lnTo>
                <a:arcTo hR="88900" wR="88900" stAng="5400000" swAng="5400000"/>
                <a:lnTo>
                  <a:pt x="0" y="88900"/>
                </a:lnTo>
                <a:arcTo hR="88900" wR="88900" stAng="10800000" swAng="5400000"/>
                <a:lnTo>
                  <a:pt x="88900" y="0"/>
                </a:lnTo>
                <a:arcTo hR="88900" wR="50800" stAng="16200000" swAng="-5400000"/>
                <a:lnTo>
                  <a:pt x="38100" y="805359"/>
                </a:lnTo>
                <a:arcTo hR="88900" wR="50800" stAng="10800000" swAng="-5400000"/>
                <a:close/>
              </a:path>
            </a:pathLst>
          </a:custGeom>
          <a:solidFill>
            <a:srgbClr val="FBBF24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054100" y="3282057"/>
            <a:ext cx="489229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3F4F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Estoque baixo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54100" y="3589338"/>
            <a:ext cx="4892294" cy="2567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Borda vermelha. Na produção: Comprar o que falta.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184900" y="3104257"/>
            <a:ext cx="5194300" cy="894259"/>
          </a:xfrm>
          <a:prstGeom prst="roundRect">
            <a:avLst>
              <a:gd name="adj" fmla="val 9941"/>
            </a:avLst>
          </a:prstGeom>
          <a:solidFill>
            <a:srgbClr val="15151C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184900" y="3104257"/>
            <a:ext cx="5194300" cy="894259"/>
          </a:xfrm>
          <a:custGeom>
            <a:avLst/>
            <a:gdLst/>
            <a:ahLst/>
            <a:cxnLst/>
            <a:rect l="l" t="t" r="r" b="b"/>
            <a:pathLst>
              <a:path w="5194300" h="894259">
                <a:moveTo>
                  <a:pt x="88900" y="894259"/>
                </a:moveTo>
                <a:lnTo>
                  <a:pt x="88900" y="894259"/>
                </a:lnTo>
                <a:arcTo hR="88900" wR="88900" stAng="5400000" swAng="5400000"/>
                <a:lnTo>
                  <a:pt x="0" y="88900"/>
                </a:lnTo>
                <a:arcTo hR="88900" wR="88900" stAng="10800000" swAng="5400000"/>
                <a:lnTo>
                  <a:pt x="88900" y="0"/>
                </a:lnTo>
                <a:arcTo hR="88900" wR="50800" stAng="16200000" swAng="-5400000"/>
                <a:lnTo>
                  <a:pt x="38100" y="805359"/>
                </a:lnTo>
                <a:arcTo hR="88900" wR="50800" stAng="10800000" swAng="-5400000"/>
                <a:close/>
              </a:path>
            </a:pathLst>
          </a:custGeom>
          <a:solidFill>
            <a:srgbClr val="FBBF24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26200" y="3282057"/>
            <a:ext cx="489229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3F4F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Lançamento errado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26200" y="3589338"/>
            <a:ext cx="4892294" cy="2567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Peça a um Gerente ou acima para reverter no livro do Baú.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12800" y="548000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Dúvidas? Fale com seu gerente.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812800" y="4176516"/>
            <a:ext cx="5194300" cy="1125637"/>
          </a:xfrm>
          <a:prstGeom prst="roundRect">
            <a:avLst>
              <a:gd name="adj" fmla="val 7898"/>
            </a:avLst>
          </a:prstGeom>
          <a:solidFill>
            <a:srgbClr val="15151C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12800" y="4176516"/>
            <a:ext cx="5194300" cy="1125637"/>
          </a:xfrm>
          <a:custGeom>
            <a:avLst/>
            <a:gdLst/>
            <a:ahLst/>
            <a:cxnLst/>
            <a:rect l="l" t="t" r="r" b="b"/>
            <a:pathLst>
              <a:path w="5194300" h="1125637">
                <a:moveTo>
                  <a:pt x="88900" y="1125637"/>
                </a:moveTo>
                <a:lnTo>
                  <a:pt x="88900" y="1125637"/>
                </a:lnTo>
                <a:arcTo hR="88900" wR="88900" stAng="5400000" swAng="5400000"/>
                <a:lnTo>
                  <a:pt x="0" y="88900"/>
                </a:lnTo>
                <a:arcTo hR="88900" wR="88900" stAng="10800000" swAng="5400000"/>
                <a:lnTo>
                  <a:pt x="88900" y="0"/>
                </a:lnTo>
                <a:arcTo hR="88900" wR="50800" stAng="16200000" swAng="-5400000"/>
                <a:lnTo>
                  <a:pt x="38100" y="1036737"/>
                </a:lnTo>
                <a:arcTo hR="88900" wR="50800" stAng="10800000" swAng="-5400000"/>
                <a:close/>
              </a:path>
            </a:pathLst>
          </a:custGeom>
          <a:solidFill>
            <a:srgbClr val="00FF66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54100" y="4354316"/>
            <a:ext cx="489229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3F4F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Vendi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54100" y="4661597"/>
            <a:ext cx="4892294" cy="4881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venda fica Pendente. Guarde a parte da loja e toque em Guardar no caixa.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184900" y="4176516"/>
            <a:ext cx="5194300" cy="1125637"/>
          </a:xfrm>
          <a:prstGeom prst="roundRect">
            <a:avLst>
              <a:gd name="adj" fmla="val 7898"/>
            </a:avLst>
          </a:prstGeom>
          <a:solidFill>
            <a:srgbClr val="15151C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184900" y="4176516"/>
            <a:ext cx="5194300" cy="1125637"/>
          </a:xfrm>
          <a:custGeom>
            <a:avLst/>
            <a:gdLst/>
            <a:ahLst/>
            <a:cxnLst/>
            <a:rect l="l" t="t" r="r" b="b"/>
            <a:pathLst>
              <a:path w="5194300" h="1125637">
                <a:moveTo>
                  <a:pt x="88900" y="1125637"/>
                </a:moveTo>
                <a:lnTo>
                  <a:pt x="88900" y="1125637"/>
                </a:lnTo>
                <a:arcTo hR="88900" wR="88900" stAng="5400000" swAng="5400000"/>
                <a:lnTo>
                  <a:pt x="0" y="88900"/>
                </a:lnTo>
                <a:arcTo hR="88900" wR="88900" stAng="10800000" swAng="5400000"/>
                <a:lnTo>
                  <a:pt x="88900" y="0"/>
                </a:lnTo>
                <a:arcTo hR="88900" wR="50800" stAng="16200000" swAng="-5400000"/>
                <a:lnTo>
                  <a:pt x="38100" y="1036737"/>
                </a:lnTo>
                <a:arcTo hR="88900" wR="50800" stAng="10800000" swAng="-5400000"/>
                <a:close/>
              </a:path>
            </a:pathLst>
          </a:custGeom>
          <a:solidFill>
            <a:srgbClr val="00FF66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26200" y="4354316"/>
            <a:ext cx="489229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3F4F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Venda errada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26200" y="4661597"/>
            <a:ext cx="4892294" cy="4881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Ainda pendente? Pedir cancelamento, com motivo. Um Gerente responde.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Guia do Sistema Best Buds</dc:title>
  <dc:subject>PptxGenJS Presentation</dc:subject>
  <dc:creator>PptxGenJS</dc:creator>
  <cp:lastModifiedBy>PptxGenJS</cp:lastModifiedBy>
  <cp:revision>1</cp:revision>
  <dcterms:created xsi:type="dcterms:W3CDTF">2026-09-26T22:04:04Z</dcterms:created>
  <dcterms:modified xsi:type="dcterms:W3CDTF">2026-09-26T22:04:04Z</dcterms:modified>
</cp:coreProperties>
</file>