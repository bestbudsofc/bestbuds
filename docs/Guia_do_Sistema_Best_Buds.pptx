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Este guia mostra as telas atuais do sistema (versão 4.10). Os nomes de pessoas e os números que aparecem nos prints são de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guia foca em três partes: perfis, senha e Baú. Caixa e Histórico Financeiro aparecem aqui só para dar o mapa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Diretor tem as mesmas permissões do Sócio, exceto mexer em contas de Sócio ou promover alguém a Sócio. Gerente cadastra e gerencia apenas Vendedores. "Excluir linhas" vale para Baú, Financeiro e usuários inativos.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Esquerda: Baú visto por um Sócio. Direita: o mesmo Baú visto por um Vendedor. O perfil aparece no topo, ao lado do nome.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lista vem ordenada do maior para o menor perfil. Só Sócio e Diretor excluem usuários, e só depois de inativados. O selo "último sócio" impede inativar o único Sócio ativo.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acesso e senhas.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endereço é o mesmo do anúncio do sistema novo. O login é só o nome de usuário, sem @ e sem domínio.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as senhas não conferem ou têm menos de 6 caracteres, a janela avisa em vermelho e não salva.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existe senha padrão: cada senha nova é definida só para aquela pessoa. Enquanto ninguém define a senha nova, a senha antiga continua valendo. Se o pedido for dispensado, nada muda.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senha do print é de exemplo. Salvar o usuário com a senha nova marca o pedido como atendido e tira o destaque da linha. Assim ninguém consegue entrar na conta de quem ainda não fez o primeiro acesso usando uma senha conhecida por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Início da parte sobre 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Só aparecem no Baú os itens de categorias que controlam estoque (Matéria-Prima, Insumo Auxiliar e Produto Não Acabado). Produto Final não fica no Baú.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compra pode ter vários insumos de fornecedores diferentes. Linhas incompletas ficam destacadas e impedem o registro. A compra aparece no Histórico Financeiro como saída.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Produto final (o que é vendido no Caixa) não entra no Baú: a produção só desconta os insumos. Se faltar um item intermediário, como a erva moída, o sistema oferece produzir em cascata a etapa anterior. As receitas são cadastradas em Configurações, aba Receitas.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reversão é bloqueada se deixar algum saldo negativo, por exemplo uma compra cujo insumo já foi usado numa produção: reverta primeiro a produção. Só depois de revertido, Sócio ou Diretor pode excluir o lançamento.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print, a produção "Enrolar Blunt ×45" está aberta e mostra as três saídas: erva moída, papel de seda e embalagem.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Print tirado com a tela de um celular comum, logado como Gerente.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Fechamento. Vale deixar este slide na tela durante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1862634"/>
            <a:ext cx="4970780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b="1" spc="20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 BUDS · SISTEMA DE GESTÃO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12800" y="2296914"/>
            <a:ext cx="4970780" cy="1372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304"/>
              </a:lnSpc>
              <a:buNone/>
            </a:pPr>
            <a:r>
              <a:rPr lang="en-US" sz="52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Guia de uso do sistema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12800" y="3847306"/>
            <a:ext cx="49707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Como entrar, trocar a senha, o que cada perfil pode fazer e como usar o Baú.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19150" y="4661297"/>
            <a:ext cx="1203623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77900" y="4718447"/>
            <a:ext cx="936923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Versão v4.10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37073" y="4661297"/>
            <a:ext cx="1644848" cy="32762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34343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95823" y="4718447"/>
            <a:ext cx="1378148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Setembro de 2026</a:t>
            </a:r>
            <a:endParaRPr lang="en-US" sz="1200" dirty="0"/>
          </a:p>
        </p:txBody>
      </p:sp>
      <p:pic>
        <p:nvPicPr>
          <p:cNvPr id="9" name="Image 0" descr="Tela de login do sistema Best Buds">    </p:cNvPr>
          <p:cNvPicPr>
            <a:picLocks noChangeAspect="1"/>
          </p:cNvPicPr>
          <p:nvPr/>
        </p:nvPicPr>
        <p:blipFill>
          <a:blip r:embed="rId1"/>
          <a:srcRect l="0" r="0" t="145" b="145"/>
          <a:stretch/>
        </p:blipFill>
        <p:spPr>
          <a:xfrm>
            <a:off x="6108700" y="1790700"/>
            <a:ext cx="5257800" cy="3276600"/>
          </a:xfrm>
          <a:prstGeom prst="roundRect">
            <a:avLst>
              <a:gd name="adj" fmla="val 3488"/>
            </a:avLst>
          </a:prstGeom>
          <a:effectLst>
            <a:outerShdw sx="100000" sy="100000" kx="0" ky="0" algn="bl" rotWithShape="0" blurRad="508000" dist="190500" dir="5400000">
              <a:srgbClr val="00FF66">
                <a:alpha val="12000"/>
              </a:srgbClr>
            </a:outerShdw>
          </a:effectLst>
        </p:spPr>
      </p:pic>
      <p:sp>
        <p:nvSpPr>
          <p:cNvPr id="10" name="Shape 7"/>
          <p:cNvSpPr/>
          <p:nvPr/>
        </p:nvSpPr>
        <p:spPr>
          <a:xfrm>
            <a:off x="6102350" y="1784350"/>
            <a:ext cx="5270500" cy="3289300"/>
          </a:xfrm>
          <a:prstGeom prst="roundRect">
            <a:avLst>
              <a:gd name="adj" fmla="val 3668"/>
            </a:avLst>
          </a:prstGeom>
          <a:noFill/>
          <a:ln w="12700">
            <a:solidFill>
              <a:srgbClr val="28283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Mapa do sistema: quatro telas no menu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5" name="Image 0" descr="Tela Caixa de Balcão">    </p:cNvPr>
          <p:cNvPicPr>
            <a:picLocks noChangeAspect="1"/>
          </p:cNvPicPr>
          <p:nvPr/>
        </p:nvPicPr>
        <p:blipFill>
          <a:blip r:embed="rId1"/>
          <a:srcRect l="57" r="57" t="0" b="0"/>
          <a:stretch/>
        </p:blipFill>
        <p:spPr>
          <a:xfrm>
            <a:off x="9461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6" name="Text 3"/>
          <p:cNvSpPr/>
          <p:nvPr/>
        </p:nvSpPr>
        <p:spPr>
          <a:xfrm>
            <a:off x="9461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Caixa de Balcão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461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vendas, descontos, deslocamento e repasse da equipe.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461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511550" y="1730970"/>
            <a:ext cx="2476500" cy="2985492"/>
          </a:xfrm>
          <a:prstGeom prst="roundRect">
            <a:avLst>
              <a:gd name="adj" fmla="val 4359"/>
            </a:avLst>
          </a:prstGeom>
          <a:solidFill>
            <a:srgbClr val="15151C"/>
          </a:solidFill>
          <a:ln w="12700">
            <a:solidFill>
              <a:srgbClr val="00FF66"/>
            </a:solidFill>
            <a:prstDash val="solid"/>
          </a:ln>
        </p:spPr>
      </p:sp>
      <p:pic>
        <p:nvPicPr>
          <p:cNvPr id="10" name="Image 1" descr="Tela do Baú">    </p:cNvPr>
          <p:cNvPicPr>
            <a:picLocks noChangeAspect="1"/>
          </p:cNvPicPr>
          <p:nvPr/>
        </p:nvPicPr>
        <p:blipFill>
          <a:blip r:embed="rId2"/>
          <a:srcRect l="57" r="57" t="0" b="0"/>
          <a:stretch/>
        </p:blipFill>
        <p:spPr>
          <a:xfrm>
            <a:off x="3644900" y="186432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1" name="Text 7"/>
          <p:cNvSpPr/>
          <p:nvPr/>
        </p:nvSpPr>
        <p:spPr>
          <a:xfrm>
            <a:off x="3644900" y="3343870"/>
            <a:ext cx="22760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3644900" y="3676551"/>
            <a:ext cx="2276094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de insumos: compras, produção, ajustes e livro.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644900" y="4176812"/>
            <a:ext cx="2276094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2007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15" name="Image 2" descr="Tela Histórico Financeiro">    </p:cNvPr>
          <p:cNvPicPr>
            <a:picLocks noChangeAspect="1"/>
          </p:cNvPicPr>
          <p:nvPr/>
        </p:nvPicPr>
        <p:blipFill>
          <a:blip r:embed="rId3"/>
          <a:srcRect l="57" r="57" t="0" b="0"/>
          <a:stretch/>
        </p:blipFill>
        <p:spPr>
          <a:xfrm>
            <a:off x="63309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16" name="Text 11"/>
          <p:cNvSpPr/>
          <p:nvPr/>
        </p:nvSpPr>
        <p:spPr>
          <a:xfrm>
            <a:off x="63309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Histórico Financeiro</a:t>
            </a:r>
            <a:endParaRPr lang="en-US" sz="1600" dirty="0"/>
          </a:p>
        </p:txBody>
      </p:sp>
      <p:sp>
        <p:nvSpPr>
          <p:cNvPr id="17" name="Text 12"/>
          <p:cNvSpPr/>
          <p:nvPr/>
        </p:nvSpPr>
        <p:spPr>
          <a:xfrm>
            <a:off x="6330950" y="3670201"/>
            <a:ext cx="2289175" cy="436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Caixa atual, vendas, compras e ajustes de caixa.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330950" y="417046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Todos os perfis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893175" y="1727795"/>
            <a:ext cx="2482850" cy="2991842"/>
          </a:xfrm>
          <a:prstGeom prst="roundRect">
            <a:avLst>
              <a:gd name="adj" fmla="val 4476"/>
            </a:avLst>
          </a:prstGeom>
          <a:solidFill>
            <a:srgbClr val="15151C"/>
          </a:solidFill>
          <a:ln w="6350">
            <a:solidFill>
              <a:srgbClr val="282836"/>
            </a:solidFill>
            <a:prstDash val="solid"/>
          </a:ln>
        </p:spPr>
      </p:sp>
      <p:pic>
        <p:nvPicPr>
          <p:cNvPr id="20" name="Image 3" descr="Tela Configurações, aba Usuários">    </p:cNvPr>
          <p:cNvPicPr>
            <a:picLocks noChangeAspect="1"/>
          </p:cNvPicPr>
          <p:nvPr/>
        </p:nvPicPr>
        <p:blipFill>
          <a:blip r:embed="rId4"/>
          <a:srcRect l="57" r="57" t="0" b="0"/>
          <a:stretch/>
        </p:blipFill>
        <p:spPr>
          <a:xfrm>
            <a:off x="9023350" y="1857970"/>
            <a:ext cx="2222500" cy="1390650"/>
          </a:xfrm>
          <a:prstGeom prst="roundRect">
            <a:avLst>
              <a:gd name="adj" fmla="val 4566"/>
            </a:avLst>
          </a:prstGeom>
        </p:spPr>
      </p:pic>
      <p:sp>
        <p:nvSpPr>
          <p:cNvPr id="21" name="Text 15"/>
          <p:cNvSpPr/>
          <p:nvPr/>
        </p:nvSpPr>
        <p:spPr>
          <a:xfrm>
            <a:off x="9023350" y="3337520"/>
            <a:ext cx="2289175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Configurações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9023350" y="3670201"/>
            <a:ext cx="2289175" cy="642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 e senhas, catálogo, itens, receitas, fornecedores e visual.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9023350" y="4376142"/>
            <a:ext cx="2289175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Gerente, Diretor e Sócio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812800" y="4951413"/>
            <a:ext cx="10883392" cy="256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computador o menu fica à esquerda; no celular, na barra de baixo. Tudo começa pela tela de login.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Quatro perfis, do maior para o menor acesso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10477500" y="0"/>
                </a:moveTo>
                <a:lnTo>
                  <a:pt x="10477500" y="0"/>
                </a:lnTo>
                <a:arcTo hR="88900" wR="88900" stAng="16200000" swAng="5400000"/>
                <a:lnTo>
                  <a:pt x="10566400" y="2188666"/>
                </a:lnTo>
                <a:arcTo hR="88900" wR="88900" stAng="0" swAng="5400000"/>
                <a:lnTo>
                  <a:pt x="88900" y="2277566"/>
                </a:lnTo>
                <a:arcTo hR="88900" wR="88900" stAng="5400000" swAng="5400000"/>
                <a:lnTo>
                  <a:pt x="0" y="2188666"/>
                </a:lnTo>
                <a:arcTo hR="82550" wR="88900" stAng="10800000" swAng="-5400000"/>
                <a:lnTo>
                  <a:pt x="10477500" y="2271216"/>
                </a:lnTo>
                <a:arcTo hR="82550" wR="82550" stAng="5400000" swAng="-5400000"/>
                <a:lnTo>
                  <a:pt x="10560050" y="88900"/>
                </a:lnTo>
                <a:arcTo hR="88900" wR="82550" stAng="0" swAng="-5400000"/>
                <a:close/>
              </a:path>
            </a:pathLst>
          </a:custGeom>
          <a:solidFill>
            <a:srgbClr val="282836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750020"/>
            <a:ext cx="10566400" cy="2277566"/>
          </a:xfrm>
          <a:custGeom>
            <a:avLst/>
            <a:gdLst/>
            <a:ahLst/>
            <a:cxnLst/>
            <a:rect l="l" t="t" r="r" b="b"/>
            <a:pathLst>
              <a:path w="10566400" h="2277566">
                <a:moveTo>
                  <a:pt x="88900" y="2277566"/>
                </a:moveTo>
                <a:lnTo>
                  <a:pt x="88900" y="2277566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10477500" y="0"/>
                </a:lnTo>
                <a:arcTo hR="88900" wR="88900" stAng="16200000" swAng="5400000"/>
                <a:lnTo>
                  <a:pt x="10566400" y="88900"/>
                </a:lnTo>
                <a:arcTo hR="76200" wR="88900" stAng="0" swAng="-5400000"/>
                <a:lnTo>
                  <a:pt x="88900" y="12700"/>
                </a:lnTo>
                <a:arcTo hR="76200" wR="76200" stAng="16200000" swAng="-5400000"/>
                <a:lnTo>
                  <a:pt x="12700" y="2188666"/>
                </a:lnTo>
                <a:arcTo hR="88900" wR="76200" stAng="10800000" swAng="-5400000"/>
                <a:close/>
              </a:path>
            </a:pathLst>
          </a:custGeom>
          <a:solidFill>
            <a:srgbClr val="FAF9F5">
              <a:alpha val="22000"/>
            </a:srgbClr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1762720"/>
          <a:ext cx="10547350" cy="2258516"/>
        </p:xfrm>
        <a:graphic>
          <a:graphicData uri="http://schemas.openxmlformats.org/drawingml/2006/table">
            <a:tbl>
              <a:tblPr/>
              <a:tblGrid>
                <a:gridCol w="1582102"/>
                <a:gridCol w="2425890"/>
                <a:gridCol w="2320417"/>
                <a:gridCol w="2320417"/>
                <a:gridCol w="1898523"/>
              </a:tblGrid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Perfil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Gerencia usuários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Ajustes, reversões e CSV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F3F4F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Excluir linhas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1E28"/>
                    </a:solidFill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FBBF2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Sócio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inclusive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E4E5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60A5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Diretor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Todos, menos Sócios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9271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A78BF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Gerente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As 4 telas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Só Vendedores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0352"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0FF66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Vendedor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0" cap="flat" cmpd="sng" algn="ctr">
                      <a:noFill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Caixa, Baú e Histórico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Nenhum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 (mas registra compra e produção)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20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D5D9E0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Não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57785" marR="57785" marT="57785" marB="57785" anchor="t">
                    <a:lnL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47474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128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8" name="Shape 5"/>
          <p:cNvSpPr/>
          <p:nvPr/>
        </p:nvSpPr>
        <p:spPr>
          <a:xfrm>
            <a:off x="8128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9" name="Text 6"/>
          <p:cNvSpPr/>
          <p:nvPr/>
        </p:nvSpPr>
        <p:spPr>
          <a:xfrm>
            <a:off x="9906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Ninguém altera o próprio perfil.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4281587"/>
            <a:ext cx="5207000" cy="476845"/>
          </a:xfrm>
          <a:prstGeom prst="roundRect">
            <a:avLst>
              <a:gd name="adj" fmla="val 13317"/>
            </a:avLst>
          </a:prstGeom>
          <a:solidFill>
            <a:srgbClr val="0D0D11"/>
          </a:solidFill>
          <a:ln/>
        </p:spPr>
      </p:sp>
      <p:sp>
        <p:nvSpPr>
          <p:cNvPr id="11" name="Shape 8"/>
          <p:cNvSpPr/>
          <p:nvPr/>
        </p:nvSpPr>
        <p:spPr>
          <a:xfrm>
            <a:off x="6172200" y="4281587"/>
            <a:ext cx="5207000" cy="476845"/>
          </a:xfrm>
          <a:custGeom>
            <a:avLst/>
            <a:gdLst/>
            <a:ahLst/>
            <a:cxnLst/>
            <a:rect l="l" t="t" r="r" b="b"/>
            <a:pathLst>
              <a:path w="5207000" h="476845">
                <a:moveTo>
                  <a:pt x="63500" y="476845"/>
                </a:moveTo>
                <a:lnTo>
                  <a:pt x="63500" y="476845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413345"/>
                </a:lnTo>
                <a:arcTo hR="63500" wR="381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2" name="Text 9"/>
          <p:cNvSpPr/>
          <p:nvPr/>
        </p:nvSpPr>
        <p:spPr>
          <a:xfrm>
            <a:off x="6350000" y="4408587"/>
            <a:ext cx="5023104" cy="2482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Sempre precisa existir ao menos um Sócio ativo.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mesma tela muda conforme o perfil</a:t>
            </a:r>
            <a:endParaRPr lang="en-US" sz="3000" dirty="0"/>
          </a:p>
        </p:txBody>
      </p:sp>
      <p:pic>
        <p:nvPicPr>
          <p:cNvPr id="4" name="Image 0" descr="Baú visto por um Sócio">    </p:cNvPr>
          <p:cNvPicPr>
            <a:picLocks noChangeAspect="1"/>
          </p:cNvPicPr>
          <p:nvPr/>
        </p:nvPicPr>
        <p:blipFill>
          <a:blip r:embed="rId1"/>
          <a:srcRect l="0" r="0" t="149" b="149"/>
          <a:stretch/>
        </p:blipFill>
        <p:spPr>
          <a:xfrm>
            <a:off x="8255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91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FBBF2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128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Sócio, Diretor ou Gerente: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menu com Configurações, botões + Entrada e − Saída, Exportar CSV e coluna Ações para reverter.</a:t>
            </a:r>
            <a:endParaRPr lang="en-US" sz="1300" dirty="0"/>
          </a:p>
        </p:txBody>
      </p:sp>
      <p:pic>
        <p:nvPicPr>
          <p:cNvPr id="7" name="Image 1" descr="Baú visto por um Vendedor">    </p:cNvPr>
          <p:cNvPicPr>
            <a:picLocks noChangeAspect="1"/>
          </p:cNvPicPr>
          <p:nvPr/>
        </p:nvPicPr>
        <p:blipFill>
          <a:blip r:embed="rId2"/>
          <a:srcRect l="0" r="0" t="149" b="149"/>
          <a:stretch/>
        </p:blipFill>
        <p:spPr>
          <a:xfrm>
            <a:off x="6261100" y="1762720"/>
            <a:ext cx="5105400" cy="3181350"/>
          </a:xfrm>
          <a:prstGeom prst="roundRect">
            <a:avLst>
              <a:gd name="adj" fmla="val 2395"/>
            </a:avLst>
          </a:prstGeom>
        </p:spPr>
      </p:pic>
      <p:sp>
        <p:nvSpPr>
          <p:cNvPr id="8" name="Shape 4"/>
          <p:cNvSpPr/>
          <p:nvPr/>
        </p:nvSpPr>
        <p:spPr>
          <a:xfrm>
            <a:off x="6254750" y="1756370"/>
            <a:ext cx="5118100" cy="3194050"/>
          </a:xfrm>
          <a:prstGeom prst="roundRect">
            <a:avLst>
              <a:gd name="adj" fmla="val 2584"/>
            </a:avLst>
          </a:prstGeom>
          <a:noFill/>
          <a:ln w="12700">
            <a:solidFill>
              <a:srgbClr val="00FF6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48400" y="5071070"/>
            <a:ext cx="5284724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Vendedor: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sem Configurações e sem ajustes. Vê saldos e o livro, e pode registrar compra e produzir.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PERFIS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Cadastrar e gerenciar usuários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Configurações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a aba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199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199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19920"/>
            <a:ext cx="3584194" cy="9854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Novo 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nome, login, perfil e uma senha inicial (mínimo 6 caracteres). A pessoa cria a própria senha no primeiro acesso.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3450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3450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34506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edita nome, login, perfil ou senha.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Pausa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inativa quem saiu.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lixeira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só aparece para inativos.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Configurações, aba Usuários, com a lista de usuário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57819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300484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Entrar e cuidar da senha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959820"/>
            <a:ext cx="78486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Login, primeiro acesso e o que fazer quando esquecer a senha.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entrar no sistema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best-buds-gamma.vercel.app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no navegador.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3824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3824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38244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seu login (ex.: joao.silva), sem e-mail.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1486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1486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1486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 ícone de olho mostra o que foi digitado.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6472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6472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647281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12800" y="4104481"/>
            <a:ext cx="3911600" cy="629841"/>
          </a:xfrm>
          <a:prstGeom prst="roundRect">
            <a:avLst>
              <a:gd name="adj" fmla="val 10082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812800" y="4104481"/>
            <a:ext cx="3911600" cy="629841"/>
          </a:xfrm>
          <a:custGeom>
            <a:avLst/>
            <a:gdLst/>
            <a:ahLst/>
            <a:cxnLst/>
            <a:rect l="l" t="t" r="r" b="b"/>
            <a:pathLst>
              <a:path w="3911600" h="629841">
                <a:moveTo>
                  <a:pt x="63500" y="629841"/>
                </a:moveTo>
                <a:lnTo>
                  <a:pt x="63500" y="629841"/>
                </a:lnTo>
                <a:arcTo hR="63500" wR="63500" stAng="5400000" swAng="5400000"/>
                <a:lnTo>
                  <a:pt x="0" y="63500"/>
                </a:lnTo>
                <a:arcTo hR="63500" wR="63500" stAng="10800000" swAng="5400000"/>
                <a:lnTo>
                  <a:pt x="63500" y="0"/>
                </a:lnTo>
                <a:arcTo hR="63500" wR="38100" stAng="16200000" swAng="-5400000"/>
                <a:lnTo>
                  <a:pt x="25400" y="566341"/>
                </a:lnTo>
                <a:arcTo hR="63500" wR="38100" stAng="10800000" swAng="-5400000"/>
                <a:close/>
              </a:path>
            </a:pathLst>
          </a:cu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965200" y="4206081"/>
            <a:ext cx="3741166" cy="452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"Usuário inativo" ou "senha inválida"? Fale com um Gerente.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20" name="Image 0" descr="Tela de login com campos Usuário e Senha, link Redefinir senha e botão Entrar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21" name="Shape 18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Primeiro acesso: criar a sua senha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1750020"/>
            <a:ext cx="4028948" cy="77192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Esta janela aparece logo depois do login quando a conta é nova ou a senha acabou de ser redefinida. Não dá para pular.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800" y="2648942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787400" y="2648942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44600" y="2648942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senha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com no mínimo 6 caracteres.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812800" y="32813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9" name="Text 7"/>
          <p:cNvSpPr/>
          <p:nvPr/>
        </p:nvSpPr>
        <p:spPr>
          <a:xfrm>
            <a:off x="787400" y="32813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44600" y="3281363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Repita a mesma senha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2800" y="3738563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2" name="Text 10"/>
          <p:cNvSpPr/>
          <p:nvPr/>
        </p:nvSpPr>
        <p:spPr>
          <a:xfrm>
            <a:off x="787400" y="3738563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44600" y="3738563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Salvar e entrar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Nas próximas vezes use só a senha nova.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5" name="Image 0" descr="Janela Troca obrigatória de senha com os campos Nova senha e Confirmar nova senh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4230" y="1756370"/>
            <a:ext cx="6070740" cy="3924300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Esqueci a senha: três passos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15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· Quem esqueceu</a:t>
            </a:r>
            <a:endParaRPr lang="en-US" sz="1200" dirty="0"/>
          </a:p>
        </p:txBody>
      </p:sp>
      <p:pic>
        <p:nvPicPr>
          <p:cNvPr id="6" name="Image 0" descr="Janela Redefinir senha com o pedido enviad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71550" y="2223691"/>
            <a:ext cx="30480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1550" y="4230291"/>
            <a:ext cx="3126359" cy="693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tela de login, toque em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digite o usuário e envie o pedido.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4227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783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· Gerente ou acima</a:t>
            </a:r>
            <a:endParaRPr lang="en-US" sz="1200" dirty="0"/>
          </a:p>
        </p:txBody>
      </p:sp>
      <p:pic>
        <p:nvPicPr>
          <p:cNvPr id="10" name="Image 1" descr="Janela Editar usuário com o aviso do pedido e o campo Senha nov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8350" y="2223691"/>
            <a:ext cx="30480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83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Usuários, lápis na linha destacada: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nova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Salvar.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029575" y="1753195"/>
            <a:ext cx="3346450" cy="3301206"/>
          </a:xfrm>
          <a:prstGeom prst="roundRect">
            <a:avLst>
              <a:gd name="adj" fmla="val 336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185150" y="1908770"/>
            <a:ext cx="3126359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· Quem esqueceu</a:t>
            </a:r>
            <a:endParaRPr lang="en-US" sz="1200" dirty="0"/>
          </a:p>
        </p:txBody>
      </p:sp>
      <p:pic>
        <p:nvPicPr>
          <p:cNvPr id="14" name="Image 2" descr="Janela Troca obrigatória de senha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85150" y="2223691"/>
            <a:ext cx="3048000" cy="19050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185150" y="4230291"/>
            <a:ext cx="3126359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Entra com a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que recebeu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cria a sua própria.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FBBF2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SENHA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Pedidos de nova senha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5500" y="1750020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5200" y="1750020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Quem pediu fica com a linha destacada na aba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Usuários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; a aba mostra uma chave com o número de pedidos.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25500" y="2583855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5200" y="2583855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Lápis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digite uma senha nova, salve e passe a ela.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 X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dispensa o pedido.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5500" y="3186311"/>
            <a:ext cx="0" cy="462756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3186311"/>
            <a:ext cx="3871976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Gerente atende pedidos de Vendedores; Diretor, de todos menos Sócios.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825500" y="3788767"/>
            <a:ext cx="0" cy="694134"/>
          </a:xfrm>
          <a:prstGeom prst="line">
            <a:avLst/>
          </a:prstGeom>
          <a:noFill/>
          <a:ln w="25400">
            <a:solidFill>
              <a:srgbClr val="FBBF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5200" y="3788767"/>
            <a:ext cx="3871976" cy="7195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Não existe senha padrão. Cada senha é só da pessoa, que cria a própria no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primeiro acesso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50" dirty="0"/>
          </a:p>
        </p:txBody>
      </p:sp>
      <p:pic>
        <p:nvPicPr>
          <p:cNvPr id="12" name="Image 0" descr="Aba Usuários com o aviso de pedidos e a linha de quem pediu destacada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86350" y="1756370"/>
            <a:ext cx="6286500" cy="2400300"/>
          </a:xfrm>
          <a:prstGeom prst="roundRect">
            <a:avLst>
              <a:gd name="adj" fmla="val 3968"/>
            </a:avLst>
          </a:prstGeom>
        </p:spPr>
      </p:pic>
      <p:sp>
        <p:nvSpPr>
          <p:cNvPr id="13" name="Shape 10"/>
          <p:cNvSpPr/>
          <p:nvPr/>
        </p:nvSpPr>
        <p:spPr>
          <a:xfrm>
            <a:off x="5083175" y="1753195"/>
            <a:ext cx="6292850" cy="2406650"/>
          </a:xfrm>
          <a:prstGeom prst="roundRect">
            <a:avLst>
              <a:gd name="adj" fmla="val 4090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080000" y="4290020"/>
            <a:ext cx="6299200" cy="1397000"/>
          </a:xfrm>
          <a:prstGeom prst="roundRect">
            <a:avLst>
              <a:gd name="adj" fmla="val 7273"/>
            </a:avLst>
          </a:prstGeom>
          <a:solidFill>
            <a:srgbClr val="15151C"/>
          </a:solidFill>
          <a:ln/>
        </p:spPr>
      </p:sp>
      <p:pic>
        <p:nvPicPr>
          <p:cNvPr id="15" name="Image 1" descr="Confirmação Dispensar pedid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2920" y="4296370"/>
            <a:ext cx="2533359" cy="13843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083175" y="4293195"/>
            <a:ext cx="6292850" cy="1390650"/>
          </a:xfrm>
          <a:prstGeom prst="roundRect">
            <a:avLst>
              <a:gd name="adj" fmla="val 7078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FF6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418159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spc="200" kern="0" dirty="0">
                <a:solidFill>
                  <a:srgbClr val="04120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PARTE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2844800"/>
            <a:ext cx="10883392" cy="8025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120"/>
              </a:lnSpc>
              <a:buNone/>
            </a:pPr>
            <a:r>
              <a:rPr lang="en-US" sz="6000" b="1" dirty="0">
                <a:solidFill>
                  <a:srgbClr val="04120A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Baú: o estoque de insumos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12800" y="3799780"/>
            <a:ext cx="8502650" cy="6653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0B2A17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Vendas no Caixa nunca mexem no Baú. Ele só muda com compras, produções e ajustes.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Como ler a tela do Baú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e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ficam no topo.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lista os itens que chegaram ao estoque mínimo.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283964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283964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283964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cartão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mostra o saldo, a categoria e o mínimo. Borda vermelha: hora de comprar.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Embaixo, o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livro de movimentações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registra tudo que entrou e saiu.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do Baú com alerta de mínimo, cartões de saldo e livro de movimentaçõe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Registrar uma compra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Baú,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Nova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20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20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2072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Insumos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, escolha o item e digite a quantidade. Fornecedor e valor unitário vêm do cadastro.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0796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0796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079651"/>
            <a:ext cx="3584194" cy="5054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Gastos que não entram no Baú (ex.: sacolas) vão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Itens não controlados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2800" y="371207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4" name="Text 12"/>
          <p:cNvSpPr/>
          <p:nvPr/>
        </p:nvSpPr>
        <p:spPr>
          <a:xfrm>
            <a:off x="787400" y="371207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44600" y="371207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Confira o total e toque em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Registrar compra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Os insumos entram no Baú e o valor sai do caixa.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7" name="Image 0" descr="Tela Nova compra com dois insumos, um item não controlado e o total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8" name="Shape 15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Produzir a partir de uma receita</a:t>
            </a:r>
            <a:endParaRPr lang="en-US" sz="3000" dirty="0"/>
          </a:p>
        </p:txBody>
      </p:sp>
      <p:pic>
        <p:nvPicPr>
          <p:cNvPr id="4" name="Image 0" descr="Tela Produzir com as fichas das receitas">    </p:cNvPr>
          <p:cNvPicPr>
            <a:picLocks noChangeAspect="1"/>
          </p:cNvPicPr>
          <p:nvPr/>
        </p:nvPicPr>
        <p:blipFill>
          <a:blip r:embed="rId1"/>
          <a:srcRect l="0" r="0" t="17687" b="17687"/>
          <a:stretch/>
        </p:blipFill>
        <p:spPr>
          <a:xfrm>
            <a:off x="819150" y="1756370"/>
            <a:ext cx="3898900" cy="1574800"/>
          </a:xfrm>
          <a:prstGeom prst="roundRect">
            <a:avLst>
              <a:gd name="adj" fmla="val 5242"/>
            </a:avLst>
          </a:prstGeom>
        </p:spPr>
      </p:pic>
      <p:sp>
        <p:nvSpPr>
          <p:cNvPr id="5" name="Shape 2"/>
          <p:cNvSpPr/>
          <p:nvPr/>
        </p:nvSpPr>
        <p:spPr>
          <a:xfrm>
            <a:off x="815975" y="1753195"/>
            <a:ext cx="3905250" cy="1581150"/>
          </a:xfrm>
          <a:prstGeom prst="roundRect">
            <a:avLst>
              <a:gd name="adj" fmla="val 5422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12800" y="34772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7" name="Text 4"/>
          <p:cNvSpPr/>
          <p:nvPr/>
        </p:nvSpPr>
        <p:spPr>
          <a:xfrm>
            <a:off x="787400" y="34772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244600" y="3477220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em </a:t>
            </a: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Produzir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na ficha da receita. Ela mostra o que consome e o que produz.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812800" y="40796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0" name="Text 7"/>
          <p:cNvSpPr/>
          <p:nvPr/>
        </p:nvSpPr>
        <p:spPr>
          <a:xfrm>
            <a:off x="787400" y="40796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44600" y="4079677"/>
            <a:ext cx="358419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Digite a quantidade e confira o resumo.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812800" y="4524177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3" name="Text 10"/>
          <p:cNvSpPr/>
          <p:nvPr/>
        </p:nvSpPr>
        <p:spPr>
          <a:xfrm>
            <a:off x="787400" y="4524177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244600" y="4524177"/>
            <a:ext cx="35841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Confirmar produção</a:t>
            </a:r>
            <a:r>
              <a:rPr lang="en-US" sz="135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 Nada muda no Baú antes disso.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6" name="Image 1" descr="Janela Produzir com a quantidade e o resumo dos insumos consumido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1188" y="1756370"/>
            <a:ext cx="4616824" cy="39243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A78BFA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 · GERENTE OU ACIMA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Corrigir o estoque: ajustar ou reverter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59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69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00FF6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Ajuste avulso</a:t>
            </a:r>
            <a:endParaRPr lang="en-US" sz="1800" dirty="0"/>
          </a:p>
        </p:txBody>
      </p:sp>
      <p:pic>
        <p:nvPicPr>
          <p:cNvPr id="6" name="Image 0" descr="Janela Entrada avulsa com quantidade e motivo">    </p:cNvPr>
          <p:cNvPicPr>
            <a:picLocks noChangeAspect="1"/>
          </p:cNvPicPr>
          <p:nvPr/>
        </p:nvPicPr>
        <p:blipFill>
          <a:blip r:embed="rId1"/>
          <a:srcRect l="-27662" r="-27662" t="0" b="0"/>
          <a:stretch/>
        </p:blipFill>
        <p:spPr>
          <a:xfrm>
            <a:off x="996950" y="2322711"/>
            <a:ext cx="4775200" cy="19050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9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Nos cartões,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+ Entrada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ou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− Saída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contagem, perda ou doação. Informe a quantidade e o motivo.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51575" y="1753195"/>
            <a:ext cx="5124450" cy="3215481"/>
          </a:xfrm>
          <a:prstGeom prst="roundRect">
            <a:avLst>
              <a:gd name="adj" fmla="val 3456"/>
            </a:avLst>
          </a:prstGeom>
          <a:solidFill>
            <a:srgbClr val="0D0D11"/>
          </a:solidFill>
          <a:ln w="6350">
            <a:solidFill>
              <a:srgbClr val="28283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32550" y="1934170"/>
            <a:ext cx="4905375" cy="2996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FCA5A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Reverter lançamento</a:t>
            </a:r>
            <a:endParaRPr lang="en-US" sz="1800" dirty="0"/>
          </a:p>
        </p:txBody>
      </p:sp>
      <p:pic>
        <p:nvPicPr>
          <p:cNvPr id="10" name="Image 1" descr="Confirmação Reverter lançamento do Baú">    </p:cNvPr>
          <p:cNvPicPr>
            <a:picLocks noChangeAspect="1"/>
          </p:cNvPicPr>
          <p:nvPr/>
        </p:nvPicPr>
        <p:blipFill>
          <a:blip r:embed="rId2"/>
          <a:srcRect l="-16655" r="-16655" t="0" b="0"/>
          <a:stretch/>
        </p:blipFill>
        <p:spPr>
          <a:xfrm>
            <a:off x="6432550" y="2322711"/>
            <a:ext cx="4775200" cy="19050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32550" y="4342011"/>
            <a:ext cx="4905375" cy="4710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755"/>
              </a:lnSpc>
              <a:buNone/>
            </a:pP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seta de voltar no livro desfaz a compra, produção ou ajuste inteiro. Ele fica no livro marcado como </a:t>
            </a:r>
            <a:r>
              <a:rPr lang="en-US" sz="13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Revertida</a:t>
            </a:r>
            <a:r>
              <a:rPr lang="en-US" sz="13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BAÚ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 livro de movimentações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75002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5" name="Text 3"/>
          <p:cNvSpPr/>
          <p:nvPr/>
        </p:nvSpPr>
        <p:spPr>
          <a:xfrm>
            <a:off x="787400" y="1750020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44600" y="1750020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Cada linha é um lançamento. Compras e produções juntam vários itens numa linha só.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12800" y="262245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8" name="Text 6"/>
          <p:cNvSpPr/>
          <p:nvPr/>
        </p:nvSpPr>
        <p:spPr>
          <a:xfrm>
            <a:off x="787400" y="262245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44600" y="262245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Toque na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seta com o número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para abrir as sublinhas, com a quantidade e o saldo de cada item.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2800" y="3494881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00FF66"/>
          </a:solidFill>
          <a:ln/>
        </p:spPr>
      </p:sp>
      <p:sp>
        <p:nvSpPr>
          <p:cNvPr id="11" name="Text 9"/>
          <p:cNvSpPr/>
          <p:nvPr/>
        </p:nvSpPr>
        <p:spPr>
          <a:xfrm>
            <a:off x="787400" y="3494881"/>
            <a:ext cx="35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0D0D1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44600" y="3494881"/>
            <a:ext cx="3584194" cy="7454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títulos das colunas filtram e ordenam. </a:t>
            </a:r>
            <a:r>
              <a:rPr lang="en-US" sz="14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Exportar CSV</a:t>
            </a:r>
            <a:r>
              <a:rPr lang="en-US" sz="14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baixa a planilha (Gerente ou acima).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80000" y="1750020"/>
            <a:ext cx="6299200" cy="3937000"/>
          </a:xfrm>
          <a:prstGeom prst="roundRect">
            <a:avLst>
              <a:gd name="adj" fmla="val 2581"/>
            </a:avLst>
          </a:prstGeom>
          <a:solidFill>
            <a:srgbClr val="15151C"/>
          </a:solidFill>
          <a:ln/>
        </p:spPr>
      </p:sp>
      <p:pic>
        <p:nvPicPr>
          <p:cNvPr id="14" name="Image 0" descr="Livro de movimentações com uma produção aberta em três sublinhas">    </p:cNvPr>
          <p:cNvPicPr>
            <a:picLocks noChangeAspect="1"/>
          </p:cNvPicPr>
          <p:nvPr/>
        </p:nvPicPr>
        <p:blipFill>
          <a:blip r:embed="rId1"/>
          <a:srcRect l="-61" r="-61" t="0" b="0"/>
          <a:stretch/>
        </p:blipFill>
        <p:spPr>
          <a:xfrm>
            <a:off x="5086350" y="1756370"/>
            <a:ext cx="6286500" cy="3924300"/>
          </a:xfrm>
          <a:prstGeom prst="roundRect">
            <a:avLst>
              <a:gd name="adj" fmla="val 2427"/>
            </a:avLst>
          </a:prstGeom>
        </p:spPr>
      </p:pic>
      <p:sp>
        <p:nvSpPr>
          <p:cNvPr id="15" name="Shape 12"/>
          <p:cNvSpPr/>
          <p:nvPr/>
        </p:nvSpPr>
        <p:spPr>
          <a:xfrm>
            <a:off x="5083175" y="1753195"/>
            <a:ext cx="6292850" cy="3930650"/>
          </a:xfrm>
          <a:prstGeom prst="roundRect">
            <a:avLst>
              <a:gd name="adj" fmla="val 2504"/>
            </a:avLst>
          </a:prstGeom>
          <a:noFill/>
          <a:ln w="6350">
            <a:solidFill>
              <a:srgbClr val="28283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2800" y="623828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515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200154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CELULAR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2392660"/>
            <a:ext cx="6540500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Tudo funciona pelo navegador do celular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12800" y="34086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Abra o mesmo endereço e entre com o mesmo usuário. O menu vai para a </a:t>
            </a:r>
            <a:r>
              <a:rPr lang="en-US" sz="1500" b="1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barra de baixo</a:t>
            </a: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: Caixa, Baú, Histórico e Configurações.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2800" y="4119860"/>
            <a:ext cx="6540500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D5D9E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Os cartões do Baú ficam em duas colunas, com os mesmos botões do computador.</a:t>
            </a:r>
            <a:endParaRPr lang="en-US" sz="1500" dirty="0"/>
          </a:p>
        </p:txBody>
      </p:sp>
      <p:pic>
        <p:nvPicPr>
          <p:cNvPr id="6" name="Image 0" descr="Baú aberto num celular, com cartões de saldo e a barra de menu embaixo">    </p:cNvPr>
          <p:cNvPicPr>
            <a:picLocks noChangeAspect="1"/>
          </p:cNvPicPr>
          <p:nvPr/>
        </p:nvPicPr>
        <p:blipFill>
          <a:blip r:embed="rId1"/>
          <a:srcRect l="970" r="970" t="0" b="0"/>
          <a:stretch/>
        </p:blipFill>
        <p:spPr>
          <a:xfrm>
            <a:off x="7810500" y="889000"/>
            <a:ext cx="2209800" cy="4876800"/>
          </a:xfrm>
          <a:prstGeom prst="roundRect">
            <a:avLst>
              <a:gd name="adj" fmla="val 8621"/>
            </a:avLst>
          </a:prstGeom>
        </p:spPr>
      </p:pic>
      <p:sp>
        <p:nvSpPr>
          <p:cNvPr id="7" name="Shape 4"/>
          <p:cNvSpPr/>
          <p:nvPr/>
        </p:nvSpPr>
        <p:spPr>
          <a:xfrm>
            <a:off x="7791450" y="869950"/>
            <a:ext cx="2247900" cy="4914900"/>
          </a:xfrm>
          <a:prstGeom prst="roundRect">
            <a:avLst>
              <a:gd name="adj" fmla="val 9322"/>
            </a:avLst>
          </a:prstGeom>
          <a:noFill/>
          <a:ln w="38100">
            <a:solidFill>
              <a:srgbClr val="34343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2800" y="6238280"/>
            <a:ext cx="6540500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8A909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Guia Best Buds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D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spc="150" kern="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RESUMO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800" y="1076920"/>
            <a:ext cx="10883392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b="1" dirty="0">
                <a:solidFill>
                  <a:srgbClr val="F3F4F6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Cola rápida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128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5" name="Shape 3"/>
          <p:cNvSpPr/>
          <p:nvPr/>
        </p:nvSpPr>
        <p:spPr>
          <a:xfrm>
            <a:off x="8128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6" name="Text 4"/>
          <p:cNvSpPr/>
          <p:nvPr/>
        </p:nvSpPr>
        <p:spPr>
          <a:xfrm>
            <a:off x="10541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Esqueci a senha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41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Redefinir senha na tela de login. Um Gerente define uma senha nova e passa para você.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84900" y="1800820"/>
            <a:ext cx="5194300" cy="1125637"/>
          </a:xfrm>
          <a:prstGeom prst="roundRect">
            <a:avLst>
              <a:gd name="adj" fmla="val 7898"/>
            </a:avLst>
          </a:prstGeom>
          <a:solidFill>
            <a:srgbClr val="15151C"/>
          </a:solidFill>
          <a:ln/>
        </p:spPr>
      </p:sp>
      <p:sp>
        <p:nvSpPr>
          <p:cNvPr id="9" name="Shape 7"/>
          <p:cNvSpPr/>
          <p:nvPr/>
        </p:nvSpPr>
        <p:spPr>
          <a:xfrm>
            <a:off x="6184900" y="1800820"/>
            <a:ext cx="5194300" cy="1125637"/>
          </a:xfrm>
          <a:custGeom>
            <a:avLst/>
            <a:gdLst/>
            <a:ahLst/>
            <a:cxnLst/>
            <a:rect l="l" t="t" r="r" b="b"/>
            <a:pathLst>
              <a:path w="5194300" h="1125637">
                <a:moveTo>
                  <a:pt x="88900" y="1125637"/>
                </a:moveTo>
                <a:lnTo>
                  <a:pt x="88900" y="1125637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1036737"/>
                </a:lnTo>
                <a:arcTo hR="88900" wR="50800" stAng="10800000" swAng="-5400000"/>
                <a:close/>
              </a:path>
            </a:pathLst>
          </a:custGeom>
          <a:solidFill>
            <a:srgbClr val="00FF66"/>
          </a:solidFill>
          <a:ln/>
        </p:spPr>
      </p:sp>
      <p:sp>
        <p:nvSpPr>
          <p:cNvPr id="10" name="Text 8"/>
          <p:cNvSpPr/>
          <p:nvPr/>
        </p:nvSpPr>
        <p:spPr>
          <a:xfrm>
            <a:off x="6426200" y="1978620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 nova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26200" y="2285901"/>
            <a:ext cx="4892294" cy="4881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Entre com a senha inicial e crie a sua na hora (mínimo 6 caracteres).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128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3" name="Shape 11"/>
          <p:cNvSpPr/>
          <p:nvPr/>
        </p:nvSpPr>
        <p:spPr>
          <a:xfrm>
            <a:off x="8128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4" name="Text 12"/>
          <p:cNvSpPr/>
          <p:nvPr/>
        </p:nvSpPr>
        <p:spPr>
          <a:xfrm>
            <a:off x="10541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Estoque baixo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541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Faixa vermelha no Baú. Registre em Nova compra.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184900" y="3104257"/>
            <a:ext cx="5194300" cy="894259"/>
          </a:xfrm>
          <a:prstGeom prst="roundRect">
            <a:avLst>
              <a:gd name="adj" fmla="val 9941"/>
            </a:avLst>
          </a:prstGeom>
          <a:solidFill>
            <a:srgbClr val="15151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84900" y="3104257"/>
            <a:ext cx="5194300" cy="894259"/>
          </a:xfrm>
          <a:custGeom>
            <a:avLst/>
            <a:gdLst/>
            <a:ahLst/>
            <a:cxnLst/>
            <a:rect l="l" t="t" r="r" b="b"/>
            <a:pathLst>
              <a:path w="5194300" h="894259">
                <a:moveTo>
                  <a:pt x="88900" y="894259"/>
                </a:moveTo>
                <a:lnTo>
                  <a:pt x="88900" y="894259"/>
                </a:lnTo>
                <a:arcTo hR="88900" wR="88900" stAng="5400000" swAng="5400000"/>
                <a:lnTo>
                  <a:pt x="0" y="88900"/>
                </a:lnTo>
                <a:arcTo hR="88900" wR="88900" stAng="10800000" swAng="5400000"/>
                <a:lnTo>
                  <a:pt x="88900" y="0"/>
                </a:lnTo>
                <a:arcTo hR="88900" wR="50800" stAng="16200000" swAng="-5400000"/>
                <a:lnTo>
                  <a:pt x="38100" y="805359"/>
                </a:lnTo>
                <a:arcTo hR="88900" wR="50800" stAng="10800000" swAng="-5400000"/>
                <a:close/>
              </a:path>
            </a:pathLst>
          </a:custGeom>
          <a:solidFill>
            <a:srgbClr val="FBBF24"/>
          </a:solidFill>
          <a:ln/>
        </p:spPr>
      </p:sp>
      <p:sp>
        <p:nvSpPr>
          <p:cNvPr id="18" name="Text 16"/>
          <p:cNvSpPr/>
          <p:nvPr/>
        </p:nvSpPr>
        <p:spPr>
          <a:xfrm>
            <a:off x="6426200" y="3282057"/>
            <a:ext cx="4892294" cy="2691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3F4F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Lançamento errado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26200" y="3589338"/>
            <a:ext cx="4892294" cy="2567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B4BAC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Peça a um Gerente ou acima para reverter no livro do Baú.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12800" y="4303316"/>
            <a:ext cx="10883392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00FF6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Dúvidas? Fale com seu gerente.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Guia do Sistema Best Buds</dc:title>
  <dc:subject>PptxGenJS Presentation</dc:subject>
  <dc:creator>PptxGenJS</dc:creator>
  <cp:lastModifiedBy>PptxGenJS</cp:lastModifiedBy>
  <cp:revision>1</cp:revision>
  <dcterms:created xsi:type="dcterms:W3CDTF">2026-09-26T22:04:04Z</dcterms:created>
  <dcterms:modified xsi:type="dcterms:W3CDTF">2026-09-26T22:04:04Z</dcterms:modified>
</cp:coreProperties>
</file>