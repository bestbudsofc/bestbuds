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27"/>
    <p:sldId id="258" r:id="rId4"/>
    <p:sldId id="259" r:id="rId5"/>
    <p:sldId id="260" r:id="rId6"/>
    <p:sldId id="261" r:id="rId7"/>
    <p:sldId id="262" r:id="rId8"/>
    <p:sldId id="263" r:id="rId9"/>
    <p:sldId id="264" r:id="rId10"/>
    <p:sldId id="265" r:id="rId11"/>
    <p:sldId id="278" r:id="rId29"/>
    <p:sldId id="279" r:id="rId30"/>
    <p:sldId id="280" r:id="rId31"/>
    <p:sldId id="281" r:id="rId32"/>
    <p:sldId id="282" r:id="rId33"/>
    <p:sldId id="266" r:id="rId12"/>
    <p:sldId id="267" r:id="rId13"/>
    <p:sldId id="268" r:id="rId14"/>
    <p:sldId id="277" r:id="rId28"/>
    <p:sldId id="274" r:id="rId25"/>
    <p:sldId id="269" r:id="rId15"/>
    <p:sldId id="270" r:id="rId16"/>
    <p:sldId id="271" r:id="rId17"/>
    <p:sldId id="272" r:id="rId18"/>
    <p:sldId id="275" r:id="rId26"/>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2.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6.xml"/><Relationship Id="rId26" Type="http://schemas.openxmlformats.org/officeDocument/2006/relationships/slide" Target="slides/slide21.xml"/><Relationship Id="rId27" Type="http://schemas.openxmlformats.org/officeDocument/2006/relationships/slide" Target="slides/slide3.xml"/><Relationship Id="rId28" Type="http://schemas.openxmlformats.org/officeDocument/2006/relationships/slide" Target="slides/slide15.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Abertura. Este guia mostra as telas atuais do sistema (versão 4.19), com os produtos, itens, fornecedores, fotos e usuários reais. Algumas ações (vendas pendentes, um lote guardado no caixa, um pedido de cancelamento, uma compra, um vínculo de fornecedor, um pedido de senha, um aviso) foram simuladas só para mostrar as telas.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 guia tem quatro partes: perfis, senha, vendas e caixa, e Baú. A venda registrada no Caixa fica pendente e só entra no caixa quando o dinheiro é guardado (parte 3). No Caixa não existem centavos: o desconto é arredondado para o inteiro mais próximo (5% de $90 = $4,50 vira $5) e o repasse da equipe também fica inteiro. No Histórico Financeiro, o ajuste de caixa + Entrada soma no card Entradas e o − Saída soma no card Saídas.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Diretor tem as mesmas permissões do Sócio, exceto mexer em contas de Sócio ou promover alguém a Sócio. Gerente cadastra e gerencia apenas Vendedores. "Excluir linhas" vale para Baú, Financeiro e usuários inativos. Vendas: o Vendedor guarda no caixa só as próprias vendas e pede o cancelamento de uma pendente; Gerente ou acima guarda as de todos e aprova ou recusa cancelamentos.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Esquerda: Baú visto por um Sócio. Direita: o mesmo Baú visto por um Vendedor. O perfil aparece no rodapé do menu, abaixo do 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lista vem ordenada do maior para o menor perfil. Só Sócio e Diretor excluem usuários, e só depois de inativados. O selo "último sócio" impede inativar o único Sócio ativo. A coluna Primeiro acesso mostra Pendente até a pessoa entrar e criar a própria senha, inclusive depois de receber uma senha nova. Em todas as tabelas, linhas inativas ou revertidas ficam apagadas.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Início da parte sobre acesso e senhas.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endereço é o mesmo do anúncio do sistema novo. O login é só o nome de usuário, sem @ e sem domínio.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as senhas não conferem ou têm menos de 6 caracteres, a janela avisa em vermelho e não salva.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Não existe senha padrão: cada senha nova é definida só para aquela pessoa. Enquanto ninguém define a senha nova, a senha antiga continua valendo. Se o pedido for dispensado, nada muda.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senha do print é de exemplo. Salvar o usuário com a senha nova marca o pedido como atendido e tira o destaque da linha. Assim ninguém consegue entrar na conta de quem ainda não fez o primeiro acesso usando uma senha conhecida por todos.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Início da parte sobre o Baú.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Só aparecem no Baú os itens de categorias que controlam estoque (Matéria-Prima, Insumo Auxiliar e Produto Não Acabado). Produto Final não fica no Baú.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compra pode ter itens de fornecedores diferentes. No Manual, quantidade + valor unitário calcula o subtotal, e quantidade + subtotal calcula o valor unitário. Linhas incompletas ficam destacadas e impedem o registro. A compra aparece no Histórico Financeiro como saída. Vendedor também registra compras. O Big Mac é da categoria Comida, que pode ser comprada mas não tem controle de estoque: fica Automático · sem Baú, com o valor travado do fornecedor, e não entra no Baú. O total separa Entra no Baú e Só financeiro. O vínculo do Big Mac com o Mega mall foi simulado para o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Produto final (o que é vendido no Caixa) não entra no Baú: a produção só desconta os insumos. Se faltar um item intermediário, como a erva dichavada, o sistema oferece produzir em cascata a etapa anterior. As receitas são cadastradas em Configurações, aba Receitas.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reversão é bloqueada se deixar algum saldo negativo, por exemplo uma compra cujo insumo já foi usado numa produção: reverta primeiro a produção. Só depois de revertido, Sócio ou Diretor pode excluir o lançamento.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print, a produção "Baseado de Blue Dream ×2" está aberta e mostra as saídas de Blue Dream Dichavada e Papel de Seda. A compra de cima (Mega mall, em verde) foi simulada só para o print, para mostrar a diferença de cor.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tirado com a tela de um celular comum, logado como Vendedor.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Fechamento. Vale deixar este slide na tela durante as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Início da parte sobre vendas e caixa (pré-registro, versão 4.19). Registrar a venda continua igual; o que muda é que ela só entra no caixa quando alguém confirma que guardou o dinheiro.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jogo não existem centavos: desconto e repasse são arredondados para o inteiro mais próximo. O cupom mostra o repasse da equipe e a receita da loja. Ao finalizar, a venda aparece logo abaixo, em Vendas a guardar no caixa, como Pendente: ela ainda não conta no caixa.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resumo mostra o total vendido, os descontos, o repasse de cada pessoa e quem paga cada auxiliar. O valor para o caixa é a soma da parte da loja das vendas marcadas. Confirme só depois de guardar exatamente esse valor: as vendas entram no caixa juntas, num lote com número próprio, e aparecem no Histórico na data em que foram guardadas. O Vendedor guarda só as próprias vendas; Gerente ou acima pode guardar as de qualquer um.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pedido de cancelamento exige um motivo, e a venda fica travada: não pode ser guardada até a resposta. Aprovar deixa a venda revertida, fora do caixa, com o motivo registrado; recusar faz ela voltar a esperar. Gerente ou acima também pode cancelar uma pendente direto, pela seta de voltar.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caixa atual e os cards de cima contam só vendas guardadas. As vendas de antes da versão 4.19 continuam como estavam. A coluna Descrição mostra o lote de cada venda guardada; se ela não aparecer, ligue-a no botão Colunas.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 Id="rId7" Type="http://schemas.openxmlformats.org/officeDocument/2006/relationships/image" Target="../media/image1.png"/><Relationship Id="rId8"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notesSlide" Target="../notesSlides/notesSlide20.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notesSlide" Target="../notesSlides/notesSlide21.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5-2.png"/><Relationship Id="rId4" Type="http://schemas.openxmlformats.org/officeDocument/2006/relationships/notesSlide" Target="../notesSlides/notesSlide22.xml"/><Relationship Id="rId5" Type="http://schemas.openxmlformats.org/officeDocument/2006/relationships/image" Target="../media/image5.png"/><Relationship Id="rId6"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notesSlide" Target="../notesSlides/notesSlide23.xm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1862634"/>
            <a:ext cx="4970780" cy="256480"/>
          </a:xfrm>
          <a:prstGeom prst="rect">
            <a:avLst/>
          </a:prstGeom>
          <a:noFill/>
          <a:ln/>
        </p:spPr>
        <p:txBody>
          <a:bodyPr wrap="square" lIns="0" tIns="0" rIns="0" bIns="0" rtlCol="0" anchor="t">
            <a:normAutofit/>
          </a:bodyPr>
          <a:lstStyle/>
          <a:p>
            <a:pPr algn="l" indent="0" marL="0">
              <a:lnSpc>
                <a:spcPts val="1820"/>
              </a:lnSpc>
              <a:buNone/>
            </a:pPr>
            <a:r>
              <a:rPr lang="en-US" sz="1300" b="1" spc="200" kern="0" dirty="0">
                <a:solidFill>
                  <a:srgbClr val="00FF66"/>
                </a:solidFill>
                <a:latin typeface="DM Sans" pitchFamily="34" charset="0"/>
                <a:ea typeface="DM Sans" pitchFamily="34" charset="-122"/>
                <a:cs typeface="DM Sans" pitchFamily="34" charset="-120"/>
              </a:rPr>
              <a:t>BEST BUDS · SISTEMA DE GESTÃO</a:t>
            </a:r>
            <a:endParaRPr lang="en-US" sz="1300" dirty="0"/>
          </a:p>
        </p:txBody>
      </p:sp>
      <p:sp>
        <p:nvSpPr>
          <p:cNvPr id="3" name="Text 1"/>
          <p:cNvSpPr/>
          <p:nvPr/>
        </p:nvSpPr>
        <p:spPr>
          <a:xfrm>
            <a:off x="812800" y="2296914"/>
            <a:ext cx="4970780" cy="1372592"/>
          </a:xfrm>
          <a:prstGeom prst="rect">
            <a:avLst/>
          </a:prstGeom>
          <a:noFill/>
          <a:ln/>
        </p:spPr>
        <p:txBody>
          <a:bodyPr wrap="square" lIns="0" tIns="0" rIns="0" bIns="0" rtlCol="0" anchor="t">
            <a:normAutofit/>
          </a:bodyPr>
          <a:lstStyle/>
          <a:p>
            <a:pPr algn="l" indent="0" marL="0">
              <a:lnSpc>
                <a:spcPts val="5304"/>
              </a:lnSpc>
              <a:buNone/>
            </a:pPr>
            <a:r>
              <a:rPr lang="en-US" sz="5200" b="1" dirty="0">
                <a:solidFill>
                  <a:srgbClr val="F3F4F6"/>
                </a:solidFill>
                <a:latin typeface="Space Grotesk" pitchFamily="34" charset="0"/>
                <a:ea typeface="Space Grotesk" pitchFamily="34" charset="-122"/>
                <a:cs typeface="Space Grotesk" pitchFamily="34" charset="-120"/>
              </a:rPr>
              <a:t>Guia de uso do sistema</a:t>
            </a:r>
            <a:endParaRPr lang="en-US" sz="5200" dirty="0"/>
          </a:p>
        </p:txBody>
      </p:sp>
      <p:sp>
        <p:nvSpPr>
          <p:cNvPr id="4" name="Text 2"/>
          <p:cNvSpPr/>
          <p:nvPr/>
        </p:nvSpPr>
        <p:spPr>
          <a:xfrm>
            <a:off x="812800" y="3847306"/>
            <a:ext cx="4970780" cy="629841"/>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B4BAC5"/>
                </a:solidFill>
                <a:latin typeface="DM Sans" pitchFamily="34" charset="0"/>
                <a:ea typeface="DM Sans" pitchFamily="34" charset="-122"/>
                <a:cs typeface="DM Sans" pitchFamily="34" charset="-120"/>
              </a:rPr>
              <a:t>Entrar e trocar a senha, perfis, vender e guardar no caixa, e o Baú.</a:t>
            </a:r>
            <a:endParaRPr lang="en-US" sz="1700" dirty="0"/>
          </a:p>
        </p:txBody>
      </p:sp>
      <p:sp>
        <p:nvSpPr>
          <p:cNvPr id="5" name="Shape 3"/>
          <p:cNvSpPr/>
          <p:nvPr/>
        </p:nvSpPr>
        <p:spPr>
          <a:xfrm>
            <a:off x="819150" y="4661297"/>
            <a:ext cx="1203623" cy="327620"/>
          </a:xfrm>
          <a:prstGeom prst="roundRect">
            <a:avLst>
              <a:gd name="adj" fmla="val 50000"/>
            </a:avLst>
          </a:prstGeom>
          <a:noFill/>
          <a:ln w="12700">
            <a:solidFill>
              <a:srgbClr val="00FF66"/>
            </a:solidFill>
            <a:prstDash val="solid"/>
          </a:ln>
        </p:spPr>
        <p:txBody>
          <a:bodyPr/>
          <a:p/>
        </p:txBody>
      </p:sp>
      <p:sp>
        <p:nvSpPr>
          <p:cNvPr id="6" name="Text 4"/>
          <p:cNvSpPr/>
          <p:nvPr/>
        </p:nvSpPr>
        <p:spPr>
          <a:xfrm>
            <a:off x="977900" y="4718447"/>
            <a:ext cx="93692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0FF66"/>
                </a:solidFill>
                <a:latin typeface="DM Sans" pitchFamily="34" charset="0"/>
                <a:ea typeface="DM Sans" pitchFamily="34" charset="-122"/>
                <a:cs typeface="DM Sans" pitchFamily="34" charset="-120"/>
              </a:rPr>
              <a:t>Versão v4.19</a:t>
            </a:r>
            <a:endParaRPr lang="en-US" sz="1200" dirty="0"/>
          </a:p>
        </p:txBody>
      </p:sp>
      <p:sp>
        <p:nvSpPr>
          <p:cNvPr id="7" name="Shape 5"/>
          <p:cNvSpPr/>
          <p:nvPr/>
        </p:nvSpPr>
        <p:spPr>
          <a:xfrm>
            <a:off x="2137073" y="4661297"/>
            <a:ext cx="1644848" cy="327620"/>
          </a:xfrm>
          <a:prstGeom prst="roundRect">
            <a:avLst>
              <a:gd name="adj" fmla="val 50000"/>
            </a:avLst>
          </a:prstGeom>
          <a:noFill/>
          <a:ln w="12700">
            <a:solidFill>
              <a:srgbClr val="34343F"/>
            </a:solidFill>
            <a:prstDash val="solid"/>
          </a:ln>
        </p:spPr>
        <p:txBody>
          <a:bodyPr/>
          <a:p/>
        </p:txBody>
      </p:sp>
      <p:sp>
        <p:nvSpPr>
          <p:cNvPr id="8" name="Text 6"/>
          <p:cNvSpPr/>
          <p:nvPr/>
        </p:nvSpPr>
        <p:spPr>
          <a:xfrm>
            <a:off x="2295823" y="4718447"/>
            <a:ext cx="137814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BAC5"/>
                </a:solidFill>
                <a:latin typeface="DM Sans" pitchFamily="34" charset="0"/>
                <a:ea typeface="DM Sans" pitchFamily="34" charset="-122"/>
                <a:cs typeface="DM Sans" pitchFamily="34" charset="-120"/>
              </a:rPr>
              <a:t>Setembro de 2026</a:t>
            </a:r>
            <a:endParaRPr lang="en-US" sz="1200" dirty="0"/>
          </a:p>
        </p:txBody>
      </p:sp>
      <p:pic>
        <p:nvPicPr>
          <p:cNvPr id="9" name="Image 0" descr="Tela de login do sistema Best Buds">    </p:cNvPr>
          <p:cNvPicPr>
            <a:picLocks noChangeAspect="1"/>
          </p:cNvPicPr>
          <p:nvPr/>
        </p:nvPicPr>
        <p:blipFill>
          <a:blip r:embed="rId1"/>
          <a:srcRect l="0" r="0" t="145" b="145"/>
          <a:stretch/>
        </p:blipFill>
        <p:spPr>
          <a:xfrm>
            <a:off x="6108700" y="1790700"/>
            <a:ext cx="5257800" cy="3276600"/>
          </a:xfrm>
          <a:prstGeom prst="roundRect">
            <a:avLst>
              <a:gd name="adj" fmla="val 3488"/>
            </a:avLst>
          </a:prstGeom>
          <a:effectLst>
            <a:outerShdw sx="100000" sy="100000" kx="0" ky="0" algn="bl" rotWithShape="0" blurRad="508000" dist="190500" dir="5400000">
              <a:srgbClr val="00FF66">
                <a:alpha val="12000"/>
              </a:srgbClr>
            </a:outerShdw>
          </a:effectLst>
        </p:spPr>
      </p:pic>
      <p:sp>
        <p:nvSpPr>
          <p:cNvPr id="10" name="Shape 7"/>
          <p:cNvSpPr/>
          <p:nvPr/>
        </p:nvSpPr>
        <p:spPr>
          <a:xfrm>
            <a:off x="6102350" y="1784350"/>
            <a:ext cx="5270500" cy="3289300"/>
          </a:xfrm>
          <a:prstGeom prst="roundRect">
            <a:avLst>
              <a:gd name="adj" fmla="val 3668"/>
            </a:avLst>
          </a:prstGeom>
          <a:noFill/>
          <a:ln w="12700">
            <a:solidFill>
              <a:srgbClr val="282836"/>
            </a:solidFill>
            <a:prstDash val="solid"/>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VISÃO GERAL</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Mapa do sistema: quatro telas no menu</a:t>
            </a:r>
            <a:endParaRPr lang="en-US" sz="3000" dirty="0"/>
          </a:p>
        </p:txBody>
      </p:sp>
      <p:sp>
        <p:nvSpPr>
          <p:cNvPr id="4" name="Shape 2"/>
          <p:cNvSpPr/>
          <p:nvPr/>
        </p:nvSpPr>
        <p:spPr>
          <a:xfrm>
            <a:off x="815975" y="1727795"/>
            <a:ext cx="2482850" cy="2991842"/>
          </a:xfrm>
          <a:prstGeom prst="roundRect">
            <a:avLst>
              <a:gd name="adj" fmla="val 4476"/>
            </a:avLst>
          </a:prstGeom>
          <a:solidFill>
            <a:srgbClr val="15151C"/>
          </a:solidFill>
          <a:ln w="6350">
            <a:solidFill>
              <a:srgbClr val="282836"/>
            </a:solidFill>
            <a:prstDash val="solid"/>
          </a:ln>
        </p:spPr>
        <p:txBody>
          <a:bodyPr/>
          <a:p/>
        </p:txBody>
      </p:sp>
      <p:pic>
        <p:nvPicPr>
          <p:cNvPr id="5" name="Image 0" descr="Tela Caixa de Balcão">    </p:cNvPr>
          <p:cNvPicPr>
            <a:picLocks noChangeAspect="1"/>
          </p:cNvPicPr>
          <p:nvPr/>
        </p:nvPicPr>
        <p:blipFill>
          <a:blip r:embed="rId7"/>
          <a:srcRect l="57" r="57" t="0" b="0"/>
          <a:stretch/>
        </p:blipFill>
        <p:spPr>
          <a:xfrm>
            <a:off x="946150" y="1857970"/>
            <a:ext cx="2222500" cy="1390650"/>
          </a:xfrm>
          <a:prstGeom prst="roundRect">
            <a:avLst>
              <a:gd name="adj" fmla="val 4566"/>
            </a:avLst>
          </a:prstGeom>
        </p:spPr>
      </p:pic>
      <p:sp>
        <p:nvSpPr>
          <p:cNvPr id="6" name="Text 3"/>
          <p:cNvSpPr/>
          <p:nvPr/>
        </p:nvSpPr>
        <p:spPr>
          <a:xfrm>
            <a:off x="946150" y="3337520"/>
            <a:ext cx="228917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3F4F6"/>
                </a:solidFill>
                <a:latin typeface="Space Grotesk" pitchFamily="34" charset="0"/>
                <a:ea typeface="Space Grotesk" pitchFamily="34" charset="-122"/>
                <a:cs typeface="Space Grotesk" pitchFamily="34" charset="-120"/>
              </a:rPr>
              <a:t>Caixa de Balcão</a:t>
            </a:r>
            <a:endParaRPr lang="en-US" sz="1600" dirty="0"/>
          </a:p>
        </p:txBody>
      </p:sp>
      <p:sp>
        <p:nvSpPr>
          <p:cNvPr id="7" name="Text 4"/>
          <p:cNvSpPr/>
          <p:nvPr/>
        </p:nvSpPr>
        <p:spPr>
          <a:xfrm>
            <a:off x="946150" y="3670201"/>
            <a:ext cx="2289175" cy="64244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4BAC5"/>
                </a:solidFill>
                <a:latin typeface="DM Sans" pitchFamily="34" charset="0"/>
                <a:ea typeface="DM Sans" pitchFamily="34" charset="-122"/>
                <a:cs typeface="DM Sans" pitchFamily="34" charset="-120"/>
              </a:rPr>
              <a:t>Registrar vendas e guardar o dinheiro no caixa, em lotes.</a:t>
            </a:r>
            <a:endParaRPr lang="en-US" sz="1200" dirty="0"/>
          </a:p>
        </p:txBody>
      </p:sp>
      <p:sp>
        <p:nvSpPr>
          <p:cNvPr id="8" name="Text 5"/>
          <p:cNvSpPr/>
          <p:nvPr/>
        </p:nvSpPr>
        <p:spPr>
          <a:xfrm>
            <a:off x="946150" y="4376142"/>
            <a:ext cx="22891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0FF66"/>
                </a:solidFill>
                <a:latin typeface="DM Sans" pitchFamily="34" charset="0"/>
                <a:ea typeface="DM Sans" pitchFamily="34" charset="-122"/>
                <a:cs typeface="DM Sans" pitchFamily="34" charset="-120"/>
              </a:rPr>
              <a:t>Todos os perfis</a:t>
            </a:r>
            <a:endParaRPr lang="en-US" sz="1200" dirty="0"/>
          </a:p>
        </p:txBody>
      </p:sp>
      <p:sp>
        <p:nvSpPr>
          <p:cNvPr id="9" name="Shape 6"/>
          <p:cNvSpPr/>
          <p:nvPr/>
        </p:nvSpPr>
        <p:spPr>
          <a:xfrm>
            <a:off x="3511550" y="1730970"/>
            <a:ext cx="2476500" cy="2985492"/>
          </a:xfrm>
          <a:prstGeom prst="roundRect">
            <a:avLst>
              <a:gd name="adj" fmla="val 4359"/>
            </a:avLst>
          </a:prstGeom>
          <a:solidFill>
            <a:srgbClr val="15151C"/>
          </a:solidFill>
          <a:ln w="12700">
            <a:solidFill>
              <a:srgbClr val="00FF66"/>
            </a:solidFill>
            <a:prstDash val="solid"/>
          </a:ln>
        </p:spPr>
        <p:txBody>
          <a:bodyPr/>
          <a:p/>
        </p:txBody>
      </p:sp>
      <p:pic>
        <p:nvPicPr>
          <p:cNvPr id="10" name="Image 1" descr="Tela do Baú">    </p:cNvPr>
          <p:cNvPicPr>
            <a:picLocks noChangeAspect="1"/>
          </p:cNvPicPr>
          <p:nvPr/>
        </p:nvPicPr>
        <p:blipFill>
          <a:blip r:embed="rId2"/>
          <a:srcRect l="57" r="57" t="0" b="0"/>
          <a:stretch/>
        </p:blipFill>
        <p:spPr>
          <a:xfrm>
            <a:off x="3644900" y="1864320"/>
            <a:ext cx="2222500" cy="1390650"/>
          </a:xfrm>
          <a:prstGeom prst="roundRect">
            <a:avLst>
              <a:gd name="adj" fmla="val 4566"/>
            </a:avLst>
          </a:prstGeom>
        </p:spPr>
      </p:pic>
      <p:sp>
        <p:nvSpPr>
          <p:cNvPr id="11" name="Text 7"/>
          <p:cNvSpPr/>
          <p:nvPr/>
        </p:nvSpPr>
        <p:spPr>
          <a:xfrm>
            <a:off x="3644900" y="3343870"/>
            <a:ext cx="22760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3F4F6"/>
                </a:solidFill>
                <a:latin typeface="Space Grotesk" pitchFamily="34" charset="0"/>
                <a:ea typeface="Space Grotesk" pitchFamily="34" charset="-122"/>
                <a:cs typeface="Space Grotesk" pitchFamily="34" charset="-120"/>
              </a:rPr>
              <a:t>Baú</a:t>
            </a:r>
            <a:endParaRPr lang="en-US" sz="1600" dirty="0"/>
          </a:p>
        </p:txBody>
      </p:sp>
      <p:sp>
        <p:nvSpPr>
          <p:cNvPr id="12" name="Text 8"/>
          <p:cNvSpPr/>
          <p:nvPr/>
        </p:nvSpPr>
        <p:spPr>
          <a:xfrm>
            <a:off x="3644900" y="3676551"/>
            <a:ext cx="2276094"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4BAC5"/>
                </a:solidFill>
                <a:latin typeface="DM Sans" pitchFamily="34" charset="0"/>
                <a:ea typeface="DM Sans" pitchFamily="34" charset="-122"/>
                <a:cs typeface="DM Sans" pitchFamily="34" charset="-120"/>
              </a:rPr>
              <a:t>Estoque de insumos: compras, produção, ajustes e livro.</a:t>
            </a:r>
            <a:endParaRPr lang="en-US" sz="1200" dirty="0"/>
          </a:p>
        </p:txBody>
      </p:sp>
      <p:sp>
        <p:nvSpPr>
          <p:cNvPr id="13" name="Text 9"/>
          <p:cNvSpPr/>
          <p:nvPr/>
        </p:nvSpPr>
        <p:spPr>
          <a:xfrm>
            <a:off x="3644900" y="4176812"/>
            <a:ext cx="227609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0FF66"/>
                </a:solidFill>
                <a:latin typeface="DM Sans" pitchFamily="34" charset="0"/>
                <a:ea typeface="DM Sans" pitchFamily="34" charset="-122"/>
                <a:cs typeface="DM Sans" pitchFamily="34" charset="-120"/>
              </a:rPr>
              <a:t>Todos os perfis</a:t>
            </a:r>
            <a:endParaRPr lang="en-US" sz="1200" dirty="0"/>
          </a:p>
        </p:txBody>
      </p:sp>
      <p:sp>
        <p:nvSpPr>
          <p:cNvPr id="14" name="Shape 10"/>
          <p:cNvSpPr/>
          <p:nvPr/>
        </p:nvSpPr>
        <p:spPr>
          <a:xfrm>
            <a:off x="6200775" y="1727795"/>
            <a:ext cx="2482850" cy="2991842"/>
          </a:xfrm>
          <a:prstGeom prst="roundRect">
            <a:avLst>
              <a:gd name="adj" fmla="val 4476"/>
            </a:avLst>
          </a:prstGeom>
          <a:solidFill>
            <a:srgbClr val="15151C"/>
          </a:solidFill>
          <a:ln w="6350">
            <a:solidFill>
              <a:srgbClr val="282836"/>
            </a:solidFill>
            <a:prstDash val="solid"/>
          </a:ln>
        </p:spPr>
        <p:txBody>
          <a:bodyPr/>
          <a:p/>
        </p:txBody>
      </p:sp>
      <p:pic>
        <p:nvPicPr>
          <p:cNvPr id="15" name="Image 2" descr="Tela Histórico Financeiro">    </p:cNvPr>
          <p:cNvPicPr>
            <a:picLocks noChangeAspect="1"/>
          </p:cNvPicPr>
          <p:nvPr/>
        </p:nvPicPr>
        <p:blipFill>
          <a:blip r:embed="rId8"/>
          <a:srcRect l="57" r="57" t="0" b="0"/>
          <a:stretch/>
        </p:blipFill>
        <p:spPr>
          <a:xfrm>
            <a:off x="6330950" y="1857970"/>
            <a:ext cx="2222500" cy="1390650"/>
          </a:xfrm>
          <a:prstGeom prst="roundRect">
            <a:avLst>
              <a:gd name="adj" fmla="val 4566"/>
            </a:avLst>
          </a:prstGeom>
        </p:spPr>
      </p:pic>
      <p:sp>
        <p:nvSpPr>
          <p:cNvPr id="16" name="Text 11"/>
          <p:cNvSpPr/>
          <p:nvPr/>
        </p:nvSpPr>
        <p:spPr>
          <a:xfrm>
            <a:off x="6330950" y="3337520"/>
            <a:ext cx="228917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3F4F6"/>
                </a:solidFill>
                <a:latin typeface="Space Grotesk" pitchFamily="34" charset="0"/>
                <a:ea typeface="Space Grotesk" pitchFamily="34" charset="-122"/>
                <a:cs typeface="Space Grotesk" pitchFamily="34" charset="-120"/>
              </a:rPr>
              <a:t>Histórico Financeiro</a:t>
            </a:r>
            <a:endParaRPr lang="en-US" sz="1600" dirty="0"/>
          </a:p>
        </p:txBody>
      </p:sp>
      <p:sp>
        <p:nvSpPr>
          <p:cNvPr id="17" name="Text 12"/>
          <p:cNvSpPr/>
          <p:nvPr/>
        </p:nvSpPr>
        <p:spPr>
          <a:xfrm>
            <a:off x="6330950" y="3670201"/>
            <a:ext cx="2289175"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4BAC5"/>
                </a:solidFill>
                <a:latin typeface="DM Sans" pitchFamily="34" charset="0"/>
                <a:ea typeface="DM Sans" pitchFamily="34" charset="-122"/>
                <a:cs typeface="DM Sans" pitchFamily="34" charset="-120"/>
              </a:rPr>
              <a:t>Caixa atual, vendas guardadas, compras e ajustes.</a:t>
            </a:r>
            <a:endParaRPr lang="en-US" sz="1200" dirty="0"/>
          </a:p>
        </p:txBody>
      </p:sp>
      <p:sp>
        <p:nvSpPr>
          <p:cNvPr id="18" name="Text 13"/>
          <p:cNvSpPr/>
          <p:nvPr/>
        </p:nvSpPr>
        <p:spPr>
          <a:xfrm>
            <a:off x="6330950" y="4170462"/>
            <a:ext cx="22891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0FF66"/>
                </a:solidFill>
                <a:latin typeface="DM Sans" pitchFamily="34" charset="0"/>
                <a:ea typeface="DM Sans" pitchFamily="34" charset="-122"/>
                <a:cs typeface="DM Sans" pitchFamily="34" charset="-120"/>
              </a:rPr>
              <a:t>Todos os perfis</a:t>
            </a:r>
            <a:endParaRPr lang="en-US" sz="1200" dirty="0"/>
          </a:p>
        </p:txBody>
      </p:sp>
      <p:sp>
        <p:nvSpPr>
          <p:cNvPr id="19" name="Shape 14"/>
          <p:cNvSpPr/>
          <p:nvPr/>
        </p:nvSpPr>
        <p:spPr>
          <a:xfrm>
            <a:off x="8893175" y="1727795"/>
            <a:ext cx="2482850" cy="2991842"/>
          </a:xfrm>
          <a:prstGeom prst="roundRect">
            <a:avLst>
              <a:gd name="adj" fmla="val 4476"/>
            </a:avLst>
          </a:prstGeom>
          <a:solidFill>
            <a:srgbClr val="15151C"/>
          </a:solidFill>
          <a:ln w="6350">
            <a:solidFill>
              <a:srgbClr val="282836"/>
            </a:solidFill>
            <a:prstDash val="solid"/>
          </a:ln>
        </p:spPr>
        <p:txBody>
          <a:bodyPr/>
          <a:p/>
        </p:txBody>
      </p:sp>
      <p:pic>
        <p:nvPicPr>
          <p:cNvPr id="20" name="Image 3" descr="Tela Configurações, aba Usuários">    </p:cNvPr>
          <p:cNvPicPr>
            <a:picLocks noChangeAspect="1"/>
          </p:cNvPicPr>
          <p:nvPr/>
        </p:nvPicPr>
        <p:blipFill>
          <a:blip r:embed="rId4"/>
          <a:srcRect l="57" r="57" t="0" b="0"/>
          <a:stretch/>
        </p:blipFill>
        <p:spPr>
          <a:xfrm>
            <a:off x="9023350" y="1857970"/>
            <a:ext cx="2222500" cy="1390650"/>
          </a:xfrm>
          <a:prstGeom prst="roundRect">
            <a:avLst>
              <a:gd name="adj" fmla="val 4566"/>
            </a:avLst>
          </a:prstGeom>
        </p:spPr>
      </p:pic>
      <p:sp>
        <p:nvSpPr>
          <p:cNvPr id="21" name="Text 15"/>
          <p:cNvSpPr/>
          <p:nvPr/>
        </p:nvSpPr>
        <p:spPr>
          <a:xfrm>
            <a:off x="9023350" y="3337520"/>
            <a:ext cx="228917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3F4F6"/>
                </a:solidFill>
                <a:latin typeface="Space Grotesk" pitchFamily="34" charset="0"/>
                <a:ea typeface="Space Grotesk" pitchFamily="34" charset="-122"/>
                <a:cs typeface="Space Grotesk" pitchFamily="34" charset="-120"/>
              </a:rPr>
              <a:t>Configurações</a:t>
            </a:r>
            <a:endParaRPr lang="en-US" sz="1600" dirty="0"/>
          </a:p>
        </p:txBody>
      </p:sp>
      <p:sp>
        <p:nvSpPr>
          <p:cNvPr id="22" name="Text 16"/>
          <p:cNvSpPr/>
          <p:nvPr/>
        </p:nvSpPr>
        <p:spPr>
          <a:xfrm>
            <a:off x="9023350" y="3670201"/>
            <a:ext cx="2289175" cy="64244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4BAC5"/>
                </a:solidFill>
                <a:latin typeface="DM Sans" pitchFamily="34" charset="0"/>
                <a:ea typeface="DM Sans" pitchFamily="34" charset="-122"/>
                <a:cs typeface="DM Sans" pitchFamily="34" charset="-120"/>
              </a:rPr>
              <a:t>Usuários e senhas, catálogo, itens, receitas, fornecedores e visual.</a:t>
            </a:r>
            <a:endParaRPr lang="en-US" sz="1200" dirty="0"/>
          </a:p>
        </p:txBody>
      </p:sp>
      <p:sp>
        <p:nvSpPr>
          <p:cNvPr id="23" name="Text 17"/>
          <p:cNvSpPr/>
          <p:nvPr/>
        </p:nvSpPr>
        <p:spPr>
          <a:xfrm>
            <a:off x="9023350" y="4376142"/>
            <a:ext cx="22891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BBF24"/>
                </a:solidFill>
                <a:latin typeface="DM Sans" pitchFamily="34" charset="0"/>
                <a:ea typeface="DM Sans" pitchFamily="34" charset="-122"/>
                <a:cs typeface="DM Sans" pitchFamily="34" charset="-120"/>
              </a:rPr>
              <a:t>Gerente, Diretor e Sócio</a:t>
            </a:r>
            <a:endParaRPr lang="en-US" sz="1200" dirty="0"/>
          </a:p>
        </p:txBody>
      </p:sp>
      <p:sp>
        <p:nvSpPr>
          <p:cNvPr id="24" name="Text 18"/>
          <p:cNvSpPr/>
          <p:nvPr/>
        </p:nvSpPr>
        <p:spPr>
          <a:xfrm>
            <a:off x="812800" y="4951413"/>
            <a:ext cx="1088339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4BAC5"/>
                </a:solidFill>
                <a:latin typeface="DM Sans" pitchFamily="34" charset="0"/>
                <a:ea typeface="DM Sans" pitchFamily="34" charset="-122"/>
                <a:cs typeface="DM Sans" pitchFamily="34" charset="-120"/>
              </a:rPr>
              <a:t>No computador o menu fica à esquerda, com a equipe on-line e Configurações embaixo; no celular, na barra de baixo.</a:t>
            </a:r>
            <a:endParaRPr lang="en-US" sz="1300" dirty="0"/>
          </a:p>
        </p:txBody>
      </p:sp>
      <p:sp>
        <p:nvSpPr>
          <p:cNvPr id="25"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3">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MENU LATERAL</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Menu, equipe on-line e perfil</a:t>
            </a:r>
            <a:endParaRPr lang="en-US" sz="3000" dirty="0"/>
          </a:p>
        </p:txBody>
      </p:sp>
      <p:sp>
        <p:nvSpPr>
          <p:cNvPr id="4" name="Shape 2"/>
          <p:cNvSpPr/>
          <p:nvPr/>
        </p:nvSpPr>
        <p:spPr>
          <a:xfrm>
            <a:off x="812800" y="1750020"/>
            <a:ext cx="304800" cy="304800"/>
          </a:xfrm>
          <a:prstGeom prst="roundRect">
            <a:avLst>
              <a:gd name="adj" fmla="val 50000"/>
            </a:avLst>
          </a:prstGeom>
          <a:solidFill>
            <a:srgbClr val="00FF66"/>
          </a:solidFill>
          <a:ln/>
        </p:spPr>
        <p:txBody>
          <a:bodyPr/>
          <a:p/>
        </p:txBody>
      </p:sp>
      <p:sp>
        <p:nvSpPr>
          <p:cNvPr id="5" name="Text 3"/>
          <p:cNvSpPr/>
          <p:nvPr/>
        </p:nvSpPr>
        <p:spPr>
          <a:xfrm>
            <a:off x="787400" y="17500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1</a:t>
            </a:r>
            <a:endParaRPr lang="en-US" sz="1200" dirty="0"/>
          </a:p>
        </p:txBody>
      </p:sp>
      <p:sp>
        <p:nvSpPr>
          <p:cNvPr id="6" name="Text 4"/>
          <p:cNvSpPr/>
          <p:nvPr/>
        </p:nvSpPr>
        <p:spPr>
          <a:xfrm>
            <a:off x="1244600" y="1750020"/>
            <a:ext cx="3584194" cy="33020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No alto ficam as telas de </a:t>
            </a:r>
            <a:r>
              <a:rPr lang="en-US" sz="1400" b="1" dirty="0">
                <a:solidFill>
                  <a:srgbClr val="D5D9E0"/>
                </a:solidFill>
                <a:latin typeface="DM Sans" pitchFamily="34" charset="0"/>
                <a:ea typeface="DM Sans" pitchFamily="34" charset="-122"/>
                <a:cs typeface="DM Sans" pitchFamily="34" charset="-120"/>
              </a:rPr>
              <a:t>operação</a:t>
            </a:r>
            <a:r>
              <a:rPr lang="en-US" sz="1400" dirty="0">
                <a:solidFill>
                  <a:srgbClr val="D5D9E0"/>
                </a:solidFill>
                <a:latin typeface="DM Sans" pitchFamily="34" charset="0"/>
                <a:ea typeface="DM Sans" pitchFamily="34" charset="-122"/>
                <a:cs typeface="DM Sans" pitchFamily="34" charset="-120"/>
              </a:rPr>
              <a:t>: Caixa, Baú e Histórico.</a:t>
            </a:r>
            <a:endParaRPr lang="en-US" sz="1400" dirty="0"/>
          </a:p>
        </p:txBody>
      </p:sp>
      <p:sp>
        <p:nvSpPr>
          <p:cNvPr id="7" name="Shape 5"/>
          <p:cNvSpPr/>
          <p:nvPr/>
        </p:nvSpPr>
        <p:spPr>
          <a:xfrm>
            <a:off x="812800" y="2207220"/>
            <a:ext cx="304800" cy="304800"/>
          </a:xfrm>
          <a:prstGeom prst="roundRect">
            <a:avLst>
              <a:gd name="adj" fmla="val 50000"/>
            </a:avLst>
          </a:prstGeom>
          <a:solidFill>
            <a:srgbClr val="00FF66"/>
          </a:solidFill>
          <a:ln/>
        </p:spPr>
        <p:txBody>
          <a:bodyPr/>
          <a:p/>
        </p:txBody>
      </p:sp>
      <p:sp>
        <p:nvSpPr>
          <p:cNvPr id="8" name="Text 6"/>
          <p:cNvSpPr/>
          <p:nvPr/>
        </p:nvSpPr>
        <p:spPr>
          <a:xfrm>
            <a:off x="787400" y="22072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2</a:t>
            </a:r>
            <a:endParaRPr lang="en-US" sz="1200" dirty="0"/>
          </a:p>
        </p:txBody>
      </p:sp>
      <p:sp>
        <p:nvSpPr>
          <p:cNvPr id="9" name="Text 7"/>
          <p:cNvSpPr/>
          <p:nvPr/>
        </p:nvSpPr>
        <p:spPr>
          <a:xfrm>
            <a:off x="1244600" y="2207220"/>
            <a:ext cx="35841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Toque em </a:t>
            </a:r>
            <a:r>
              <a:rPr lang="en-US" sz="1400" b="1" dirty="0">
                <a:solidFill>
                  <a:srgbClr val="D5D9E0"/>
                </a:solidFill>
                <a:latin typeface="DM Sans" pitchFamily="34" charset="0"/>
                <a:ea typeface="DM Sans" pitchFamily="34" charset="-122"/>
                <a:cs typeface="DM Sans" pitchFamily="34" charset="-120"/>
              </a:rPr>
              <a:t>On-line</a:t>
            </a:r>
            <a:r>
              <a:rPr lang="en-US" sz="1400" dirty="0">
                <a:solidFill>
                  <a:srgbClr val="D5D9E0"/>
                </a:solidFill>
                <a:latin typeface="DM Sans" pitchFamily="34" charset="0"/>
                <a:ea typeface="DM Sans" pitchFamily="34" charset="-122"/>
                <a:cs typeface="DM Sans" pitchFamily="34" charset="-120"/>
              </a:rPr>
              <a:t> ou Off-line para ver quem está no site agora, com o perfil na frente do nome.</a:t>
            </a:r>
            <a:endParaRPr lang="en-US" sz="1400" dirty="0"/>
          </a:p>
        </p:txBody>
      </p:sp>
      <p:sp>
        <p:nvSpPr>
          <p:cNvPr id="10" name="Shape 8"/>
          <p:cNvSpPr/>
          <p:nvPr/>
        </p:nvSpPr>
        <p:spPr>
          <a:xfrm>
            <a:off x="812800" y="3079651"/>
            <a:ext cx="304800" cy="304800"/>
          </a:xfrm>
          <a:prstGeom prst="roundRect">
            <a:avLst>
              <a:gd name="adj" fmla="val 50000"/>
            </a:avLst>
          </a:prstGeom>
          <a:solidFill>
            <a:srgbClr val="00FF66"/>
          </a:solidFill>
          <a:ln/>
        </p:spPr>
        <p:txBody>
          <a:bodyPr/>
          <a:p/>
        </p:txBody>
      </p:sp>
      <p:sp>
        <p:nvSpPr>
          <p:cNvPr id="11" name="Text 9"/>
          <p:cNvSpPr/>
          <p:nvPr/>
        </p:nvSpPr>
        <p:spPr>
          <a:xfrm>
            <a:off x="787400" y="307965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3</a:t>
            </a:r>
            <a:endParaRPr lang="en-US" sz="1200" dirty="0"/>
          </a:p>
        </p:txBody>
      </p:sp>
      <p:sp>
        <p:nvSpPr>
          <p:cNvPr id="12" name="Text 10"/>
          <p:cNvSpPr/>
          <p:nvPr/>
        </p:nvSpPr>
        <p:spPr>
          <a:xfrm>
            <a:off x="1244600" y="3079651"/>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A tela </a:t>
            </a:r>
            <a:r>
              <a:rPr lang="en-US" sz="1400" b="1" dirty="0">
                <a:solidFill>
                  <a:srgbClr val="D5D9E0"/>
                </a:solidFill>
                <a:latin typeface="DM Sans" pitchFamily="34" charset="0"/>
                <a:ea typeface="DM Sans" pitchFamily="34" charset="-122"/>
                <a:cs typeface="DM Sans" pitchFamily="34" charset="-120"/>
              </a:rPr>
              <a:t>Configurações</a:t>
            </a:r>
            <a:r>
              <a:rPr lang="en-US" sz="1400" dirty="0">
                <a:solidFill>
                  <a:srgbClr val="D5D9E0"/>
                </a:solidFill>
                <a:latin typeface="DM Sans" pitchFamily="34" charset="0"/>
                <a:ea typeface="DM Sans" pitchFamily="34" charset="-122"/>
                <a:cs typeface="DM Sans" pitchFamily="34" charset="-120"/>
              </a:rPr>
              <a:t> fica separada, logo acima do seu nome (Gerente ou acima).</a:t>
            </a:r>
            <a:endParaRPr lang="en-US" sz="1400" dirty="0"/>
          </a:p>
        </p:txBody>
      </p:sp>
      <p:sp>
        <p:nvSpPr>
          <p:cNvPr id="13" name="Shape 11"/>
          <p:cNvSpPr/>
          <p:nvPr/>
        </p:nvSpPr>
        <p:spPr>
          <a:xfrm>
            <a:off x="812800" y="3712071"/>
            <a:ext cx="304800" cy="304800"/>
          </a:xfrm>
          <a:prstGeom prst="roundRect">
            <a:avLst>
              <a:gd name="adj" fmla="val 50000"/>
            </a:avLst>
          </a:prstGeom>
          <a:solidFill>
            <a:srgbClr val="00FF66"/>
          </a:solidFill>
          <a:ln/>
        </p:spPr>
        <p:txBody>
          <a:bodyPr/>
          <a:p/>
        </p:txBody>
      </p:sp>
      <p:sp>
        <p:nvSpPr>
          <p:cNvPr id="14" name="Text 12"/>
          <p:cNvSpPr/>
          <p:nvPr/>
        </p:nvSpPr>
        <p:spPr>
          <a:xfrm>
            <a:off x="787400" y="371207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4</a:t>
            </a:r>
            <a:endParaRPr lang="en-US" sz="1200" dirty="0"/>
          </a:p>
        </p:txBody>
      </p:sp>
      <p:sp>
        <p:nvSpPr>
          <p:cNvPr id="15" name="Text 13"/>
          <p:cNvSpPr/>
          <p:nvPr/>
        </p:nvSpPr>
        <p:spPr>
          <a:xfrm>
            <a:off x="1244600" y="3712071"/>
            <a:ext cx="35841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No rodapé: seu nome, o perfil e o botão </a:t>
            </a:r>
            <a:r>
              <a:rPr lang="en-US" sz="1400" b="1" dirty="0">
                <a:solidFill>
                  <a:srgbClr val="D5D9E0"/>
                </a:solidFill>
                <a:latin typeface="DM Sans" pitchFamily="34" charset="0"/>
                <a:ea typeface="DM Sans" pitchFamily="34" charset="-122"/>
                <a:cs typeface="DM Sans" pitchFamily="34" charset="-120"/>
              </a:rPr>
              <a:t>Sair</a:t>
            </a:r>
            <a:r>
              <a:rPr lang="en-US" sz="1400" dirty="0">
                <a:solidFill>
                  <a:srgbClr val="D5D9E0"/>
                </a:solidFill>
                <a:latin typeface="DM Sans" pitchFamily="34" charset="0"/>
                <a:ea typeface="DM Sans" pitchFamily="34" charset="-122"/>
                <a:cs typeface="DM Sans" pitchFamily="34" charset="-120"/>
              </a:rPr>
              <a:t>. A versão fica no topo, ao lado do nome da loja.</a:t>
            </a:r>
            <a:endParaRPr lang="en-US" sz="1400" dirty="0"/>
          </a:p>
        </p:txBody>
      </p:sp>
      <p:sp>
        <p:nvSpPr>
          <p:cNvPr id="16" name="Shape 14"/>
          <p:cNvSpPr/>
          <p:nvPr/>
        </p:nvSpPr>
        <p:spPr>
          <a:xfrm>
            <a:off x="5080000" y="1750020"/>
            <a:ext cx="6299200" cy="3937000"/>
          </a:xfrm>
          <a:prstGeom prst="roundRect">
            <a:avLst>
              <a:gd name="adj" fmla="val 2581"/>
            </a:avLst>
          </a:prstGeom>
          <a:solidFill>
            <a:srgbClr val="15151C"/>
          </a:solidFill>
          <a:ln/>
        </p:spPr>
        <p:txBody>
          <a:bodyPr/>
          <a:p/>
        </p:txBody>
      </p:sp>
      <p:pic>
        <p:nvPicPr>
          <p:cNvPr id="17" name="Image 0" descr="Caixa de Balcão com o menu lateral e a lista On-line aberta">    </p:cNvPr>
          <p:cNvPicPr>
            <a:picLocks noChangeAspect="1"/>
          </p:cNvPicPr>
          <p:nvPr/>
        </p:nvPicPr>
        <p:blipFill>
          <a:blip r:embed="rId1"/>
          <a:srcRect l="-61" r="-61" t="0" b="0"/>
          <a:stretch/>
        </p:blipFill>
        <p:spPr>
          <a:xfrm>
            <a:off x="5086350" y="1756370"/>
            <a:ext cx="6286500" cy="3924300"/>
          </a:xfrm>
          <a:prstGeom prst="roundRect">
            <a:avLst>
              <a:gd name="adj" fmla="val 2427"/>
            </a:avLst>
          </a:prstGeom>
        </p:spPr>
      </p:pic>
      <p:sp>
        <p:nvSpPr>
          <p:cNvPr id="18" name="Shape 15"/>
          <p:cNvSpPr/>
          <p:nvPr/>
        </p:nvSpPr>
        <p:spPr>
          <a:xfrm>
            <a:off x="5083175" y="1753195"/>
            <a:ext cx="6292850" cy="3930650"/>
          </a:xfrm>
          <a:prstGeom prst="roundRect">
            <a:avLst>
              <a:gd name="adj" fmla="val 2504"/>
            </a:avLst>
          </a:prstGeom>
          <a:noFill/>
          <a:ln w="6350">
            <a:solidFill>
              <a:srgbClr val="282836"/>
            </a:solidFill>
            <a:prstDash val="solid"/>
          </a:ln>
        </p:spPr>
        <p:txBody>
          <a:bodyPr/>
          <a:p/>
        </p:txBody>
      </p:sp>
      <p:sp>
        <p:nvSpPr>
          <p:cNvPr id="19"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1515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PERFIS</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Quatro perfis, do maior para o menor acesso</a:t>
            </a:r>
            <a:endParaRPr lang="en-US" sz="3000" dirty="0"/>
          </a:p>
        </p:txBody>
      </p:sp>
      <p:sp>
        <p:nvSpPr>
          <p:cNvPr id="4" name="Shape 2"/>
          <p:cNvSpPr/>
          <p:nvPr/>
        </p:nvSpPr>
        <p:spPr>
          <a:xfrm>
            <a:off x="812800" y="1750020"/>
            <a:ext cx="10566400" cy="2277566"/>
          </a:xfrm>
          <a:custGeom>
            <a:avLst/>
            <a:gdLst/>
            <a:ahLst/>
            <a:cxnLst/>
            <a:rect l="l" t="t" r="r" b="b"/>
            <a:pathLst>
              <a:path w="10566400" h="2277566">
                <a:moveTo>
                  <a:pt x="10477500" y="0"/>
                </a:moveTo>
                <a:lnTo>
                  <a:pt x="10477500" y="0"/>
                </a:lnTo>
                <a:arcTo hR="88900" wR="88900" stAng="16200000" swAng="5400000"/>
                <a:lnTo>
                  <a:pt x="10566400" y="2188666"/>
                </a:lnTo>
                <a:arcTo hR="88900" wR="88900" stAng="0" swAng="5400000"/>
                <a:lnTo>
                  <a:pt x="88900" y="2277566"/>
                </a:lnTo>
                <a:arcTo hR="88900" wR="88900" stAng="5400000" swAng="5400000"/>
                <a:lnTo>
                  <a:pt x="0" y="2188666"/>
                </a:lnTo>
                <a:arcTo hR="82550" wR="88900" stAng="10800000" swAng="-5400000"/>
                <a:lnTo>
                  <a:pt x="10477500" y="2271216"/>
                </a:lnTo>
                <a:arcTo hR="82550" wR="82550" stAng="5400000" swAng="-5400000"/>
                <a:lnTo>
                  <a:pt x="10560050" y="88900"/>
                </a:lnTo>
                <a:arcTo hR="88900" wR="82550" stAng="0" swAng="-5400000"/>
                <a:close/>
              </a:path>
            </a:pathLst>
          </a:custGeom>
          <a:solidFill>
            <a:srgbClr val="282836"/>
          </a:solidFill>
          <a:ln/>
        </p:spPr>
        <p:txBody>
          <a:bodyPr/>
          <a:p/>
        </p:txBody>
      </p:sp>
      <p:sp>
        <p:nvSpPr>
          <p:cNvPr id="5" name="Shape 3"/>
          <p:cNvSpPr/>
          <p:nvPr/>
        </p:nvSpPr>
        <p:spPr>
          <a:xfrm>
            <a:off x="812800" y="1750020"/>
            <a:ext cx="10566400" cy="2277566"/>
          </a:xfrm>
          <a:custGeom>
            <a:avLst/>
            <a:gdLst/>
            <a:ahLst/>
            <a:cxnLst/>
            <a:rect l="l" t="t" r="r" b="b"/>
            <a:pathLst>
              <a:path w="10566400" h="2277566">
                <a:moveTo>
                  <a:pt x="88900" y="2277566"/>
                </a:moveTo>
                <a:lnTo>
                  <a:pt x="88900" y="2277566"/>
                </a:lnTo>
                <a:arcTo hR="88900" wR="88900" stAng="5400000" swAng="5400000"/>
                <a:lnTo>
                  <a:pt x="0" y="88900"/>
                </a:lnTo>
                <a:arcTo hR="88900" wR="88900" stAng="10800000" swAng="5400000"/>
                <a:lnTo>
                  <a:pt x="10477500" y="0"/>
                </a:lnTo>
                <a:arcTo hR="88900" wR="88900" stAng="16200000" swAng="5400000"/>
                <a:lnTo>
                  <a:pt x="10566400" y="88900"/>
                </a:lnTo>
                <a:arcTo hR="76200" wR="88900" stAng="0" swAng="-5400000"/>
                <a:lnTo>
                  <a:pt x="88900" y="12700"/>
                </a:lnTo>
                <a:arcTo hR="76200" wR="76200" stAng="16200000" swAng="-5400000"/>
                <a:lnTo>
                  <a:pt x="12700" y="2188666"/>
                </a:lnTo>
                <a:arcTo hR="88900" wR="76200" stAng="10800000" swAng="-5400000"/>
                <a:close/>
              </a:path>
            </a:pathLst>
          </a:custGeom>
          <a:solidFill>
            <a:srgbClr val="FAF9F5">
              <a:alpha val="22000"/>
            </a:srgbClr>
          </a:solidFill>
          <a:ln/>
        </p:spPr>
        <p:txBody>
          <a:bodyPr/>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762720"/>
          <a:ext cx="10547350" cy="2258516"/>
        </p:xfrm>
        <a:graphic>
          <a:graphicData uri="http://schemas.openxmlformats.org/drawingml/2006/table">
            <a:tbl>
              <a:tblPr/>
              <a:tblGrid>
                <a:gridCol w="1582102"/>
                <a:gridCol w="2425890"/>
                <a:gridCol w="2320417"/>
                <a:gridCol w="2320417"/>
                <a:gridCol w="1898523"/>
              </a:tblGrid>
              <a:tr h="590352">
                <a:tc>
                  <a:txBody>
                    <a:bodyPr/>
                    <a:lstStyle/>
                    <a:p>
                      <a:pPr indent="0" marL="0">
                        <a:lnSpc>
                          <a:spcPts val="1820"/>
                        </a:lnSpc>
                        <a:buNone/>
                      </a:pPr>
                      <a:r>
                        <a:rPr lang="en-US" sz="1300" b="1" dirty="0">
                          <a:solidFill>
                            <a:srgbClr val="F3F4F6"/>
                          </a:solidFill>
                          <a:latin typeface="DM Sans" pitchFamily="34" charset="0"/>
                          <a:ea typeface="DM Sans" pitchFamily="34" charset="-122"/>
                          <a:cs typeface="DM Sans" pitchFamily="34" charset="-120"/>
                        </a:rPr>
                        <a:t>Perfil</a:t>
                      </a:r>
                      <a:endParaRPr lang="en-US" sz="1300" dirty="0">
                        <a:latin typeface="DM Sans" charset="0"/>
                        <a:ea typeface="DM Sans" charset="0"/>
                        <a:cs typeface="DM Sans" charset="0"/>
                      </a:endParaRPr>
                    </a:p>
                  </a:txBody>
                  <a:tcPr marL="57785" marR="57785" marT="57785" marB="57785" anchor="t">
                    <a:lnL w="0" cap="flat" cmpd="sng" algn="ctr">
                      <a:noFill/>
                    </a:lnL>
                    <a:lnR w="12700" cap="flat" cmpd="sng" algn="ctr">
                      <a:solidFill>
                        <a:srgbClr val="4E4E55"/>
                      </a:solidFill>
                      <a:prstDash val="solid"/>
                      <a:round/>
                      <a:headEnd type="none" w="med" len="med"/>
                      <a:tailEnd type="none" w="med" len="med"/>
                    </a:lnR>
                    <a:lnT w="0" cap="flat" cmpd="sng" algn="ctr">
                      <a:noFill/>
                    </a:lnT>
                    <a:lnB w="12700" cap="flat" cmpd="sng" algn="ctr">
                      <a:solidFill>
                        <a:srgbClr val="4E4E55"/>
                      </a:solidFill>
                      <a:prstDash val="solid"/>
                      <a:round/>
                      <a:headEnd type="none" w="med" len="med"/>
                      <a:tailEnd type="none" w="med" len="med"/>
                    </a:lnB>
                    <a:solidFill>
                      <a:srgbClr val="1E1E28"/>
                    </a:solidFill>
                  </a:tcPr>
                </a:tc>
                <a:tc>
                  <a:txBody>
                    <a:bodyPr/>
                    <a:lstStyle/>
                    <a:p>
                      <a:pPr indent="0" marL="0">
                        <a:lnSpc>
                          <a:spcPts val="1820"/>
                        </a:lnSpc>
                        <a:buNone/>
                      </a:pPr>
                      <a:r>
                        <a:rPr lang="en-US" sz="1300" b="1" dirty="0">
                          <a:solidFill>
                            <a:srgbClr val="F3F4F6"/>
                          </a:solidFill>
                          <a:latin typeface="DM Sans" pitchFamily="34" charset="0"/>
                          <a:ea typeface="DM Sans" pitchFamily="34" charset="-122"/>
                          <a:cs typeface="DM Sans" pitchFamily="34" charset="-120"/>
                        </a:rPr>
                        <a:t>Telas</a:t>
                      </a:r>
                      <a:endParaRPr lang="en-US" sz="1300" dirty="0">
                        <a:latin typeface="DM Sans" charset="0"/>
                        <a:ea typeface="DM Sans" charset="0"/>
                        <a:cs typeface="DM Sans" charset="0"/>
                      </a:endParaRPr>
                    </a:p>
                  </a:txBody>
                  <a:tcPr marL="57785" marR="57785" marT="57785" marB="57785" anchor="t">
                    <a:lnL w="12700" cap="flat" cmpd="sng" algn="ctr">
                      <a:solidFill>
                        <a:srgbClr val="4E4E55"/>
                      </a:solidFill>
                      <a:prstDash val="solid"/>
                      <a:round/>
                      <a:headEnd type="none" w="med" len="med"/>
                      <a:tailEnd type="none" w="med" len="med"/>
                    </a:lnL>
                    <a:lnR w="12700" cap="flat" cmpd="sng" algn="ctr">
                      <a:solidFill>
                        <a:srgbClr val="4E4E55"/>
                      </a:solidFill>
                      <a:prstDash val="solid"/>
                      <a:round/>
                      <a:headEnd type="none" w="med" len="med"/>
                      <a:tailEnd type="none" w="med" len="med"/>
                    </a:lnR>
                    <a:lnT w="0" cap="flat" cmpd="sng" algn="ctr">
                      <a:noFill/>
                    </a:lnT>
                    <a:lnB w="12700" cap="flat" cmpd="sng" algn="ctr">
                      <a:solidFill>
                        <a:srgbClr val="4E4E55"/>
                      </a:solidFill>
                      <a:prstDash val="solid"/>
                      <a:round/>
                      <a:headEnd type="none" w="med" len="med"/>
                      <a:tailEnd type="none" w="med" len="med"/>
                    </a:lnB>
                    <a:solidFill>
                      <a:srgbClr val="1E1E28"/>
                    </a:solidFill>
                  </a:tcPr>
                </a:tc>
                <a:tc>
                  <a:txBody>
                    <a:bodyPr/>
                    <a:lstStyle/>
                    <a:p>
                      <a:pPr indent="0" marL="0">
                        <a:lnSpc>
                          <a:spcPts val="1820"/>
                        </a:lnSpc>
                        <a:buNone/>
                      </a:pPr>
                      <a:r>
                        <a:rPr lang="en-US" sz="1300" b="1" dirty="0">
                          <a:solidFill>
                            <a:srgbClr val="F3F4F6"/>
                          </a:solidFill>
                          <a:latin typeface="DM Sans" pitchFamily="34" charset="0"/>
                          <a:ea typeface="DM Sans" pitchFamily="34" charset="-122"/>
                          <a:cs typeface="DM Sans" pitchFamily="34" charset="-120"/>
                        </a:rPr>
                        <a:t>Gerencia usuários</a:t>
                      </a:r>
                      <a:endParaRPr lang="en-US" sz="1300" dirty="0">
                        <a:latin typeface="DM Sans" charset="0"/>
                        <a:ea typeface="DM Sans" charset="0"/>
                        <a:cs typeface="DM Sans" charset="0"/>
                      </a:endParaRPr>
                    </a:p>
                  </a:txBody>
                  <a:tcPr marL="57785" marR="57785" marT="57785" marB="57785" anchor="t">
                    <a:lnL w="12700" cap="flat" cmpd="sng" algn="ctr">
                      <a:solidFill>
                        <a:srgbClr val="4E4E55"/>
                      </a:solidFill>
                      <a:prstDash val="solid"/>
                      <a:round/>
                      <a:headEnd type="none" w="med" len="med"/>
                      <a:tailEnd type="none" w="med" len="med"/>
                    </a:lnL>
                    <a:lnR w="12700" cap="flat" cmpd="sng" algn="ctr">
                      <a:solidFill>
                        <a:srgbClr val="4E4E55"/>
                      </a:solidFill>
                      <a:prstDash val="solid"/>
                      <a:round/>
                      <a:headEnd type="none" w="med" len="med"/>
                      <a:tailEnd type="none" w="med" len="med"/>
                    </a:lnR>
                    <a:lnT w="0" cap="flat" cmpd="sng" algn="ctr">
                      <a:noFill/>
                    </a:lnT>
                    <a:lnB w="12700" cap="flat" cmpd="sng" algn="ctr">
                      <a:solidFill>
                        <a:srgbClr val="4E4E55"/>
                      </a:solidFill>
                      <a:prstDash val="solid"/>
                      <a:round/>
                      <a:headEnd type="none" w="med" len="med"/>
                      <a:tailEnd type="none" w="med" len="med"/>
                    </a:lnB>
                    <a:solidFill>
                      <a:srgbClr val="1E1E28"/>
                    </a:solidFill>
                  </a:tcPr>
                </a:tc>
                <a:tc>
                  <a:txBody>
                    <a:bodyPr/>
                    <a:lstStyle/>
                    <a:p>
                      <a:pPr indent="0" marL="0">
                        <a:lnSpc>
                          <a:spcPts val="1820"/>
                        </a:lnSpc>
                        <a:buNone/>
                      </a:pPr>
                      <a:r>
                        <a:rPr lang="en-US" sz="1300" b="1" dirty="0">
                          <a:solidFill>
                            <a:srgbClr val="F3F4F6"/>
                          </a:solidFill>
                          <a:latin typeface="DM Sans" pitchFamily="34" charset="0"/>
                          <a:ea typeface="DM Sans" pitchFamily="34" charset="-122"/>
                          <a:cs typeface="DM Sans" pitchFamily="34" charset="-120"/>
                        </a:rPr>
                        <a:t>Ajustes, reversões e CSV</a:t>
                      </a:r>
                      <a:endParaRPr lang="en-US" sz="1300" dirty="0">
                        <a:latin typeface="DM Sans" charset="0"/>
                        <a:ea typeface="DM Sans" charset="0"/>
                        <a:cs typeface="DM Sans" charset="0"/>
                      </a:endParaRPr>
                    </a:p>
                  </a:txBody>
                  <a:tcPr marL="57785" marR="57785" marT="57785" marB="57785" anchor="t">
                    <a:lnL w="12700" cap="flat" cmpd="sng" algn="ctr">
                      <a:solidFill>
                        <a:srgbClr val="4E4E55"/>
                      </a:solidFill>
                      <a:prstDash val="solid"/>
                      <a:round/>
                      <a:headEnd type="none" w="med" len="med"/>
                      <a:tailEnd type="none" w="med" len="med"/>
                    </a:lnL>
                    <a:lnR w="12700" cap="flat" cmpd="sng" algn="ctr">
                      <a:solidFill>
                        <a:srgbClr val="4E4E55"/>
                      </a:solidFill>
                      <a:prstDash val="solid"/>
                      <a:round/>
                      <a:headEnd type="none" w="med" len="med"/>
                      <a:tailEnd type="none" w="med" len="med"/>
                    </a:lnR>
                    <a:lnT w="0" cap="flat" cmpd="sng" algn="ctr">
                      <a:noFill/>
                    </a:lnT>
                    <a:lnB w="12700" cap="flat" cmpd="sng" algn="ctr">
                      <a:solidFill>
                        <a:srgbClr val="4E4E55"/>
                      </a:solidFill>
                      <a:prstDash val="solid"/>
                      <a:round/>
                      <a:headEnd type="none" w="med" len="med"/>
                      <a:tailEnd type="none" w="med" len="med"/>
                    </a:lnB>
                    <a:solidFill>
                      <a:srgbClr val="1E1E28"/>
                    </a:solidFill>
                  </a:tcPr>
                </a:tc>
                <a:tc>
                  <a:txBody>
                    <a:bodyPr/>
                    <a:lstStyle/>
                    <a:p>
                      <a:pPr indent="0" marL="0">
                        <a:lnSpc>
                          <a:spcPts val="1820"/>
                        </a:lnSpc>
                        <a:buNone/>
                      </a:pPr>
                      <a:r>
                        <a:rPr lang="en-US" sz="1300" b="1" dirty="0">
                          <a:solidFill>
                            <a:srgbClr val="F3F4F6"/>
                          </a:solidFill>
                          <a:latin typeface="DM Sans" pitchFamily="34" charset="0"/>
                          <a:ea typeface="DM Sans" pitchFamily="34" charset="-122"/>
                          <a:cs typeface="DM Sans" pitchFamily="34" charset="-120"/>
                        </a:rPr>
                        <a:t>Excluir linhas</a:t>
                      </a:r>
                      <a:endParaRPr lang="en-US" sz="1300" dirty="0">
                        <a:latin typeface="DM Sans" charset="0"/>
                        <a:ea typeface="DM Sans" charset="0"/>
                        <a:cs typeface="DM Sans" charset="0"/>
                      </a:endParaRPr>
                    </a:p>
                  </a:txBody>
                  <a:tcPr marL="57785" marR="57785" marT="57785" marB="57785" anchor="t">
                    <a:lnL w="12700" cap="flat" cmpd="sng" algn="ctr">
                      <a:solidFill>
                        <a:srgbClr val="4E4E55"/>
                      </a:solidFill>
                      <a:prstDash val="solid"/>
                      <a:round/>
                      <a:headEnd type="none" w="med" len="med"/>
                      <a:tailEnd type="none" w="med" len="med"/>
                    </a:lnL>
                    <a:lnR w="12700" cap="flat" cmpd="sng" algn="ctr">
                      <a:solidFill>
                        <a:srgbClr val="4E4E55"/>
                      </a:solidFill>
                      <a:prstDash val="solid"/>
                      <a:round/>
                      <a:headEnd type="none" w="med" len="med"/>
                      <a:tailEnd type="none" w="med" len="med"/>
                    </a:lnR>
                    <a:lnT w="0" cap="flat" cmpd="sng" algn="ctr">
                      <a:noFill/>
                    </a:lnT>
                    <a:lnB w="12700" cap="flat" cmpd="sng" algn="ctr">
                      <a:solidFill>
                        <a:srgbClr val="4E4E55"/>
                      </a:solidFill>
                      <a:prstDash val="solid"/>
                      <a:round/>
                      <a:headEnd type="none" w="med" len="med"/>
                      <a:tailEnd type="none" w="med" len="med"/>
                    </a:lnB>
                    <a:solidFill>
                      <a:srgbClr val="1E1E28"/>
                    </a:solidFill>
                  </a:tcPr>
                </a:tc>
              </a:tr>
              <a:tr h="359271">
                <a:tc>
                  <a:txBody>
                    <a:bodyPr/>
                    <a:lstStyle/>
                    <a:p>
                      <a:pPr indent="0" marL="0">
                        <a:lnSpc>
                          <a:spcPts val="1820"/>
                        </a:lnSpc>
                        <a:buNone/>
                      </a:pPr>
                      <a:r>
                        <a:rPr lang="en-US" sz="1300" dirty="0">
                          <a:solidFill>
                            <a:srgbClr val="FBBF24"/>
                          </a:solidFill>
                          <a:latin typeface="DM Sans" pitchFamily="34" charset="0"/>
                          <a:ea typeface="DM Sans" pitchFamily="34" charset="-122"/>
                          <a:cs typeface="DM Sans" pitchFamily="34" charset="-120"/>
                        </a:rPr>
                        <a:t>Sócio</a:t>
                      </a:r>
                      <a:endParaRPr lang="en-US" sz="1300" dirty="0">
                        <a:latin typeface="DM Sans" charset="0"/>
                        <a:ea typeface="DM Sans" charset="0"/>
                        <a:cs typeface="DM Sans" charset="0"/>
                      </a:endParaRPr>
                    </a:p>
                  </a:txBody>
                  <a:tcPr marL="57785" marR="57785" marT="57785" marB="57785" anchor="t">
                    <a:lnL w="0" cap="flat" cmpd="sng" algn="ctr">
                      <a:noFill/>
                    </a:lnL>
                    <a:lnR w="12700" cap="flat" cmpd="sng" algn="ctr">
                      <a:solidFill>
                        <a:srgbClr val="47474C"/>
                      </a:solidFill>
                      <a:prstDash val="solid"/>
                      <a:round/>
                      <a:headEnd type="none" w="med" len="med"/>
                      <a:tailEnd type="none" w="med" len="med"/>
                    </a:lnR>
                    <a:lnT w="12700" cap="flat" cmpd="sng" algn="ctr">
                      <a:solidFill>
                        <a:srgbClr val="4E4E55"/>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As 4 telas</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E4E55"/>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Todos, inclusive Sócios</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E4E55"/>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Sim</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E4E55"/>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Sim</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E4E55"/>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r>
              <a:tr h="359271">
                <a:tc>
                  <a:txBody>
                    <a:bodyPr/>
                    <a:lstStyle/>
                    <a:p>
                      <a:pPr indent="0" marL="0">
                        <a:lnSpc>
                          <a:spcPts val="1820"/>
                        </a:lnSpc>
                        <a:buNone/>
                      </a:pPr>
                      <a:r>
                        <a:rPr lang="en-US" sz="1300" dirty="0">
                          <a:solidFill>
                            <a:srgbClr val="60A5FA"/>
                          </a:solidFill>
                          <a:latin typeface="DM Sans" pitchFamily="34" charset="0"/>
                          <a:ea typeface="DM Sans" pitchFamily="34" charset="-122"/>
                          <a:cs typeface="DM Sans" pitchFamily="34" charset="-120"/>
                        </a:rPr>
                        <a:t>Diretor</a:t>
                      </a:r>
                      <a:endParaRPr lang="en-US" sz="1300" dirty="0">
                        <a:latin typeface="DM Sans" charset="0"/>
                        <a:ea typeface="DM Sans" charset="0"/>
                        <a:cs typeface="DM Sans" charset="0"/>
                      </a:endParaRPr>
                    </a:p>
                  </a:txBody>
                  <a:tcPr marL="57785" marR="57785" marT="57785" marB="57785" anchor="t">
                    <a:lnL w="0" cap="flat" cmpd="sng" algn="ctr">
                      <a:noFill/>
                    </a:lnL>
                    <a:lnR w="12700" cap="flat" cmpd="sng" algn="ctr">
                      <a:solidFill>
                        <a:srgbClr val="47474C"/>
                      </a:solidFill>
                      <a:prstDash val="solid"/>
                      <a:round/>
                      <a:headEnd type="none" w="med" len="med"/>
                      <a:tailEnd type="none" w="med" len="med"/>
                    </a:lnR>
                    <a:lnT w="12700" cap="flat" cmpd="sng" algn="ctr">
                      <a:solidFill>
                        <a:srgbClr val="47474C"/>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As 4 telas</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7474C"/>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Todos, menos Sócios</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7474C"/>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Sim</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7474C"/>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Sim</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7474C"/>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r>
              <a:tr h="359271">
                <a:tc>
                  <a:txBody>
                    <a:bodyPr/>
                    <a:lstStyle/>
                    <a:p>
                      <a:pPr indent="0" marL="0">
                        <a:lnSpc>
                          <a:spcPts val="1820"/>
                        </a:lnSpc>
                        <a:buNone/>
                      </a:pPr>
                      <a:r>
                        <a:rPr lang="en-US" sz="1300" dirty="0">
                          <a:solidFill>
                            <a:srgbClr val="A78BFA"/>
                          </a:solidFill>
                          <a:latin typeface="DM Sans" pitchFamily="34" charset="0"/>
                          <a:ea typeface="DM Sans" pitchFamily="34" charset="-122"/>
                          <a:cs typeface="DM Sans" pitchFamily="34" charset="-120"/>
                        </a:rPr>
                        <a:t>Gerente</a:t>
                      </a:r>
                      <a:endParaRPr lang="en-US" sz="1300" dirty="0">
                        <a:latin typeface="DM Sans" charset="0"/>
                        <a:ea typeface="DM Sans" charset="0"/>
                        <a:cs typeface="DM Sans" charset="0"/>
                      </a:endParaRPr>
                    </a:p>
                  </a:txBody>
                  <a:tcPr marL="57785" marR="57785" marT="57785" marB="57785" anchor="t">
                    <a:lnL w="0" cap="flat" cmpd="sng" algn="ctr">
                      <a:noFill/>
                    </a:lnL>
                    <a:lnR w="12700" cap="flat" cmpd="sng" algn="ctr">
                      <a:solidFill>
                        <a:srgbClr val="47474C"/>
                      </a:solidFill>
                      <a:prstDash val="solid"/>
                      <a:round/>
                      <a:headEnd type="none" w="med" len="med"/>
                      <a:tailEnd type="none" w="med" len="med"/>
                    </a:lnR>
                    <a:lnT w="12700" cap="flat" cmpd="sng" algn="ctr">
                      <a:solidFill>
                        <a:srgbClr val="47474C"/>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As 4 telas</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7474C"/>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Só Vendedores</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7474C"/>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Sim</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7474C"/>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Não</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7474C"/>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r>
              <a:tr h="590352">
                <a:tc>
                  <a:txBody>
                    <a:bodyPr/>
                    <a:lstStyle/>
                    <a:p>
                      <a:pPr indent="0" marL="0">
                        <a:lnSpc>
                          <a:spcPts val="1820"/>
                        </a:lnSpc>
                        <a:buNone/>
                      </a:pPr>
                      <a:r>
                        <a:rPr lang="en-US" sz="1300" dirty="0">
                          <a:solidFill>
                            <a:srgbClr val="00FF66"/>
                          </a:solidFill>
                          <a:latin typeface="DM Sans" pitchFamily="34" charset="0"/>
                          <a:ea typeface="DM Sans" pitchFamily="34" charset="-122"/>
                          <a:cs typeface="DM Sans" pitchFamily="34" charset="-120"/>
                        </a:rPr>
                        <a:t>Vendedor</a:t>
                      </a:r>
                      <a:endParaRPr lang="en-US" sz="1300" dirty="0">
                        <a:latin typeface="DM Sans" charset="0"/>
                        <a:ea typeface="DM Sans" charset="0"/>
                        <a:cs typeface="DM Sans" charset="0"/>
                      </a:endParaRPr>
                    </a:p>
                  </a:txBody>
                  <a:tcPr marL="57785" marR="57785" marT="57785" marB="57785" anchor="t">
                    <a:lnL w="0" cap="flat" cmpd="sng" algn="ctr">
                      <a:noFill/>
                    </a:lnL>
                    <a:lnR w="12700" cap="flat" cmpd="sng" algn="ctr">
                      <a:solidFill>
                        <a:srgbClr val="47474C"/>
                      </a:solidFill>
                      <a:prstDash val="solid"/>
                      <a:round/>
                      <a:headEnd type="none" w="med" len="med"/>
                      <a:tailEnd type="none" w="med" len="med"/>
                    </a:lnR>
                    <a:lnT w="12700" cap="flat" cmpd="sng" algn="ctr">
                      <a:solidFill>
                        <a:srgbClr val="47474C"/>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Caixa, Baú e Histórico</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7474C"/>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Nenhum</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7474C"/>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Não (mas registra compra e produção)</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7474C"/>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c>
                  <a:txBody>
                    <a:bodyPr/>
                    <a:lstStyle/>
                    <a:p>
                      <a:pPr indent="0" marL="0">
                        <a:lnSpc>
                          <a:spcPts val="1820"/>
                        </a:lnSpc>
                        <a:buNone/>
                      </a:pPr>
                      <a:r>
                        <a:rPr lang="en-US" sz="1300" dirty="0">
                          <a:solidFill>
                            <a:srgbClr val="D5D9E0"/>
                          </a:solidFill>
                          <a:latin typeface="DM Sans" pitchFamily="34" charset="0"/>
                          <a:ea typeface="DM Sans" pitchFamily="34" charset="-122"/>
                          <a:cs typeface="DM Sans" pitchFamily="34" charset="-120"/>
                        </a:rPr>
                        <a:t>Não</a:t>
                      </a:r>
                      <a:endParaRPr lang="en-US" sz="1300" dirty="0">
                        <a:latin typeface="DM Sans" charset="0"/>
                        <a:ea typeface="DM Sans" charset="0"/>
                        <a:cs typeface="DM Sans" charset="0"/>
                      </a:endParaRPr>
                    </a:p>
                  </a:txBody>
                  <a:tcPr marL="57785" marR="57785" marT="57785" marB="57785" anchor="t">
                    <a:lnL w="12700" cap="flat" cmpd="sng" algn="ctr">
                      <a:solidFill>
                        <a:srgbClr val="47474C"/>
                      </a:solidFill>
                      <a:prstDash val="solid"/>
                      <a:round/>
                      <a:headEnd type="none" w="med" len="med"/>
                      <a:tailEnd type="none" w="med" len="med"/>
                    </a:lnL>
                    <a:lnR w="12700" cap="flat" cmpd="sng" algn="ctr">
                      <a:solidFill>
                        <a:srgbClr val="47474C"/>
                      </a:solidFill>
                      <a:prstDash val="solid"/>
                      <a:round/>
                      <a:headEnd type="none" w="med" len="med"/>
                      <a:tailEnd type="none" w="med" len="med"/>
                    </a:lnR>
                    <a:lnT w="12700" cap="flat" cmpd="sng" algn="ctr">
                      <a:solidFill>
                        <a:srgbClr val="47474C"/>
                      </a:solidFill>
                      <a:prstDash val="solid"/>
                      <a:round/>
                      <a:headEnd type="none" w="med" len="med"/>
                      <a:tailEnd type="none" w="med" len="med"/>
                    </a:lnT>
                    <a:lnB w="12700" cap="flat" cmpd="sng" algn="ctr">
                      <a:solidFill>
                        <a:srgbClr val="47474C"/>
                      </a:solidFill>
                      <a:prstDash val="solid"/>
                      <a:round/>
                      <a:headEnd type="none" w="med" len="med"/>
                      <a:tailEnd type="none" w="med" len="med"/>
                    </a:lnB>
                  </a:tcPr>
                </a:tc>
              </a:tr>
            </a:tbl>
          </a:graphicData>
        </a:graphic>
      </p:graphicFrame>
      <p:sp>
        <p:nvSpPr>
          <p:cNvPr id="7" name="Shape 4"/>
          <p:cNvSpPr/>
          <p:nvPr/>
        </p:nvSpPr>
        <p:spPr>
          <a:xfrm>
            <a:off x="812800" y="4281587"/>
            <a:ext cx="5207000" cy="476845"/>
          </a:xfrm>
          <a:prstGeom prst="roundRect">
            <a:avLst>
              <a:gd name="adj" fmla="val 13317"/>
            </a:avLst>
          </a:prstGeom>
          <a:solidFill>
            <a:srgbClr val="0D0D11"/>
          </a:solidFill>
          <a:ln/>
        </p:spPr>
        <p:txBody>
          <a:bodyPr/>
          <a:p/>
        </p:txBody>
      </p:sp>
      <p:sp>
        <p:nvSpPr>
          <p:cNvPr id="8" name="Shape 5"/>
          <p:cNvSpPr/>
          <p:nvPr/>
        </p:nvSpPr>
        <p:spPr>
          <a:xfrm>
            <a:off x="812800" y="4281587"/>
            <a:ext cx="5207000" cy="476845"/>
          </a:xfrm>
          <a:custGeom>
            <a:avLst/>
            <a:gdLst/>
            <a:ahLst/>
            <a:cxnLst/>
            <a:rect l="l" t="t" r="r" b="b"/>
            <a:pathLst>
              <a:path w="5207000" h="476845">
                <a:moveTo>
                  <a:pt x="63500" y="476845"/>
                </a:moveTo>
                <a:lnTo>
                  <a:pt x="63500" y="476845"/>
                </a:lnTo>
                <a:arcTo hR="63500" wR="63500" stAng="5400000" swAng="5400000"/>
                <a:lnTo>
                  <a:pt x="0" y="63500"/>
                </a:lnTo>
                <a:arcTo hR="63500" wR="63500" stAng="10800000" swAng="5400000"/>
                <a:lnTo>
                  <a:pt x="63500" y="0"/>
                </a:lnTo>
                <a:arcTo hR="63500" wR="38100" stAng="16200000" swAng="-5400000"/>
                <a:lnTo>
                  <a:pt x="25400" y="413345"/>
                </a:lnTo>
                <a:arcTo hR="63500" wR="38100" stAng="10800000" swAng="-5400000"/>
                <a:close/>
              </a:path>
            </a:pathLst>
          </a:custGeom>
          <a:solidFill>
            <a:srgbClr val="00FF66"/>
          </a:solidFill>
          <a:ln/>
        </p:spPr>
        <p:txBody>
          <a:bodyPr/>
          <a:p/>
        </p:txBody>
      </p:sp>
      <p:sp>
        <p:nvSpPr>
          <p:cNvPr id="9" name="Text 6"/>
          <p:cNvSpPr/>
          <p:nvPr/>
        </p:nvSpPr>
        <p:spPr>
          <a:xfrm>
            <a:off x="990600" y="4408587"/>
            <a:ext cx="5023104"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9E0"/>
                </a:solidFill>
                <a:latin typeface="DM Sans" pitchFamily="34" charset="0"/>
                <a:ea typeface="DM Sans" pitchFamily="34" charset="-122"/>
                <a:cs typeface="DM Sans" pitchFamily="34" charset="-120"/>
              </a:rPr>
              <a:t>Ninguém altera o próprio perfil.</a:t>
            </a:r>
            <a:endParaRPr lang="en-US" sz="1300" dirty="0"/>
          </a:p>
        </p:txBody>
      </p:sp>
      <p:sp>
        <p:nvSpPr>
          <p:cNvPr id="10" name="Shape 7"/>
          <p:cNvSpPr/>
          <p:nvPr/>
        </p:nvSpPr>
        <p:spPr>
          <a:xfrm>
            <a:off x="6172200" y="4281587"/>
            <a:ext cx="5207000" cy="476845"/>
          </a:xfrm>
          <a:prstGeom prst="roundRect">
            <a:avLst>
              <a:gd name="adj" fmla="val 13317"/>
            </a:avLst>
          </a:prstGeom>
          <a:solidFill>
            <a:srgbClr val="0D0D11"/>
          </a:solidFill>
          <a:ln/>
        </p:spPr>
        <p:txBody>
          <a:bodyPr/>
          <a:p/>
        </p:txBody>
      </p:sp>
      <p:sp>
        <p:nvSpPr>
          <p:cNvPr id="11" name="Shape 8"/>
          <p:cNvSpPr/>
          <p:nvPr/>
        </p:nvSpPr>
        <p:spPr>
          <a:xfrm>
            <a:off x="6172200" y="4281587"/>
            <a:ext cx="5207000" cy="476845"/>
          </a:xfrm>
          <a:custGeom>
            <a:avLst/>
            <a:gdLst/>
            <a:ahLst/>
            <a:cxnLst/>
            <a:rect l="l" t="t" r="r" b="b"/>
            <a:pathLst>
              <a:path w="5207000" h="476845">
                <a:moveTo>
                  <a:pt x="63500" y="476845"/>
                </a:moveTo>
                <a:lnTo>
                  <a:pt x="63500" y="476845"/>
                </a:lnTo>
                <a:arcTo hR="63500" wR="63500" stAng="5400000" swAng="5400000"/>
                <a:lnTo>
                  <a:pt x="0" y="63500"/>
                </a:lnTo>
                <a:arcTo hR="63500" wR="63500" stAng="10800000" swAng="5400000"/>
                <a:lnTo>
                  <a:pt x="63500" y="0"/>
                </a:lnTo>
                <a:arcTo hR="63500" wR="38100" stAng="16200000" swAng="-5400000"/>
                <a:lnTo>
                  <a:pt x="25400" y="413345"/>
                </a:lnTo>
                <a:arcTo hR="63500" wR="38100" stAng="10800000" swAng="-5400000"/>
                <a:close/>
              </a:path>
            </a:pathLst>
          </a:custGeom>
          <a:solidFill>
            <a:srgbClr val="00FF66"/>
          </a:solidFill>
          <a:ln/>
        </p:spPr>
        <p:txBody>
          <a:bodyPr/>
          <a:p/>
        </p:txBody>
      </p:sp>
      <p:sp>
        <p:nvSpPr>
          <p:cNvPr id="12" name="Text 9"/>
          <p:cNvSpPr/>
          <p:nvPr/>
        </p:nvSpPr>
        <p:spPr>
          <a:xfrm>
            <a:off x="6350000" y="4408587"/>
            <a:ext cx="5023104"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9E0"/>
                </a:solidFill>
                <a:latin typeface="DM Sans" pitchFamily="34" charset="0"/>
                <a:ea typeface="DM Sans" pitchFamily="34" charset="-122"/>
                <a:cs typeface="DM Sans" pitchFamily="34" charset="-120"/>
              </a:rPr>
              <a:t>Sempre precisa existir ao menos um Sócio ativo.</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PERFIS</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A mesma tela muda conforme o perfil</a:t>
            </a:r>
            <a:endParaRPr lang="en-US" sz="3000" dirty="0"/>
          </a:p>
        </p:txBody>
      </p:sp>
      <p:pic>
        <p:nvPicPr>
          <p:cNvPr id="4" name="Image 0" descr="Baú visto por um Sócio">    </p:cNvPr>
          <p:cNvPicPr>
            <a:picLocks noChangeAspect="1"/>
          </p:cNvPicPr>
          <p:nvPr/>
        </p:nvPicPr>
        <p:blipFill>
          <a:blip r:embed="rId1"/>
          <a:srcRect l="0" r="0" t="149" b="149"/>
          <a:stretch/>
        </p:blipFill>
        <p:spPr>
          <a:xfrm>
            <a:off x="825500" y="1762720"/>
            <a:ext cx="5105400" cy="3181350"/>
          </a:xfrm>
          <a:prstGeom prst="roundRect">
            <a:avLst>
              <a:gd name="adj" fmla="val 2395"/>
            </a:avLst>
          </a:prstGeom>
        </p:spPr>
      </p:pic>
      <p:sp>
        <p:nvSpPr>
          <p:cNvPr id="5" name="Shape 2"/>
          <p:cNvSpPr/>
          <p:nvPr/>
        </p:nvSpPr>
        <p:spPr>
          <a:xfrm>
            <a:off x="819150" y="1756370"/>
            <a:ext cx="5118100" cy="3194050"/>
          </a:xfrm>
          <a:prstGeom prst="roundRect">
            <a:avLst>
              <a:gd name="adj" fmla="val 2584"/>
            </a:avLst>
          </a:prstGeom>
          <a:noFill/>
          <a:ln w="12700">
            <a:solidFill>
              <a:srgbClr val="FBBF24"/>
            </a:solidFill>
            <a:prstDash val="solid"/>
          </a:ln>
        </p:spPr>
        <p:txBody>
          <a:bodyPr/>
          <a:p/>
        </p:txBody>
      </p:sp>
      <p:sp>
        <p:nvSpPr>
          <p:cNvPr id="6" name="Text 3"/>
          <p:cNvSpPr/>
          <p:nvPr/>
        </p:nvSpPr>
        <p:spPr>
          <a:xfrm>
            <a:off x="812800" y="5071070"/>
            <a:ext cx="5284724"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BBF24"/>
                </a:solidFill>
                <a:latin typeface="DM Sans" pitchFamily="34" charset="0"/>
                <a:ea typeface="DM Sans" pitchFamily="34" charset="-122"/>
                <a:cs typeface="DM Sans" pitchFamily="34" charset="-120"/>
              </a:rPr>
              <a:t>Sócio, Diretor ou Gerente:</a:t>
            </a:r>
            <a:r>
              <a:rPr lang="en-US" sz="1300" dirty="0">
                <a:solidFill>
                  <a:srgbClr val="D5D9E0"/>
                </a:solidFill>
                <a:latin typeface="DM Sans" pitchFamily="34" charset="0"/>
                <a:ea typeface="DM Sans" pitchFamily="34" charset="-122"/>
                <a:cs typeface="DM Sans" pitchFamily="34" charset="-120"/>
              </a:rPr>
              <a:t> menu com Configurações, botões + Entrada e − Saída, Exportar CSV e coluna Ações para reverter.</a:t>
            </a:r>
            <a:endParaRPr lang="en-US" sz="1300" dirty="0"/>
          </a:p>
        </p:txBody>
      </p:sp>
      <p:pic>
        <p:nvPicPr>
          <p:cNvPr id="7" name="Image 1" descr="Baú visto por um Vendedor">    </p:cNvPr>
          <p:cNvPicPr>
            <a:picLocks noChangeAspect="1"/>
          </p:cNvPicPr>
          <p:nvPr/>
        </p:nvPicPr>
        <p:blipFill>
          <a:blip r:embed="rId2"/>
          <a:srcRect l="0" r="0" t="149" b="149"/>
          <a:stretch/>
        </p:blipFill>
        <p:spPr>
          <a:xfrm>
            <a:off x="6261100" y="1762720"/>
            <a:ext cx="5105400" cy="3181350"/>
          </a:xfrm>
          <a:prstGeom prst="roundRect">
            <a:avLst>
              <a:gd name="adj" fmla="val 2395"/>
            </a:avLst>
          </a:prstGeom>
        </p:spPr>
      </p:pic>
      <p:sp>
        <p:nvSpPr>
          <p:cNvPr id="8" name="Shape 4"/>
          <p:cNvSpPr/>
          <p:nvPr/>
        </p:nvSpPr>
        <p:spPr>
          <a:xfrm>
            <a:off x="6254750" y="1756370"/>
            <a:ext cx="5118100" cy="3194050"/>
          </a:xfrm>
          <a:prstGeom prst="roundRect">
            <a:avLst>
              <a:gd name="adj" fmla="val 2584"/>
            </a:avLst>
          </a:prstGeom>
          <a:noFill/>
          <a:ln w="12700">
            <a:solidFill>
              <a:srgbClr val="00FF66"/>
            </a:solidFill>
            <a:prstDash val="solid"/>
          </a:ln>
        </p:spPr>
        <p:txBody>
          <a:bodyPr/>
          <a:p/>
        </p:txBody>
      </p:sp>
      <p:sp>
        <p:nvSpPr>
          <p:cNvPr id="9" name="Text 5"/>
          <p:cNvSpPr/>
          <p:nvPr/>
        </p:nvSpPr>
        <p:spPr>
          <a:xfrm>
            <a:off x="6248400" y="5071070"/>
            <a:ext cx="5284724"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0FF66"/>
                </a:solidFill>
                <a:latin typeface="DM Sans" pitchFamily="34" charset="0"/>
                <a:ea typeface="DM Sans" pitchFamily="34" charset="-122"/>
                <a:cs typeface="DM Sans" pitchFamily="34" charset="-120"/>
              </a:rPr>
              <a:t>Vendedor:</a:t>
            </a:r>
            <a:r>
              <a:rPr lang="en-US" sz="1300" dirty="0">
                <a:solidFill>
                  <a:srgbClr val="D5D9E0"/>
                </a:solidFill>
                <a:latin typeface="DM Sans" pitchFamily="34" charset="0"/>
                <a:ea typeface="DM Sans" pitchFamily="34" charset="-122"/>
                <a:cs typeface="DM Sans" pitchFamily="34" charset="-120"/>
              </a:rPr>
              <a:t> sem Configurações e sem ajustes. Vê saldos e o livro, e pode registrar compra e produzir.</a:t>
            </a:r>
            <a:endParaRPr lang="en-US" sz="1300" dirty="0"/>
          </a:p>
        </p:txBody>
      </p:sp>
      <p:sp>
        <p:nvSpPr>
          <p:cNvPr id="10"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PERFIS</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Cadastrar e gerenciar usuários</a:t>
            </a:r>
            <a:endParaRPr lang="en-US" sz="3000" dirty="0"/>
          </a:p>
        </p:txBody>
      </p:sp>
      <p:sp>
        <p:nvSpPr>
          <p:cNvPr id="4" name="Shape 2"/>
          <p:cNvSpPr/>
          <p:nvPr/>
        </p:nvSpPr>
        <p:spPr>
          <a:xfrm>
            <a:off x="812800" y="1750020"/>
            <a:ext cx="304800" cy="304800"/>
          </a:xfrm>
          <a:prstGeom prst="roundRect">
            <a:avLst>
              <a:gd name="adj" fmla="val 50000"/>
            </a:avLst>
          </a:prstGeom>
          <a:solidFill>
            <a:srgbClr val="00FF66"/>
          </a:solidFill>
          <a:ln/>
        </p:spPr>
        <p:txBody>
          <a:bodyPr/>
          <a:p/>
        </p:txBody>
      </p:sp>
      <p:sp>
        <p:nvSpPr>
          <p:cNvPr id="5" name="Text 3"/>
          <p:cNvSpPr/>
          <p:nvPr/>
        </p:nvSpPr>
        <p:spPr>
          <a:xfrm>
            <a:off x="787400" y="17500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1</a:t>
            </a:r>
            <a:endParaRPr lang="en-US" sz="1200" dirty="0"/>
          </a:p>
        </p:txBody>
      </p:sp>
      <p:sp>
        <p:nvSpPr>
          <p:cNvPr id="6" name="Text 4"/>
          <p:cNvSpPr/>
          <p:nvPr/>
        </p:nvSpPr>
        <p:spPr>
          <a:xfrm>
            <a:off x="1244600" y="1750020"/>
            <a:ext cx="3584194" cy="33020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Abra </a:t>
            </a:r>
            <a:r>
              <a:rPr lang="en-US" sz="1400" b="1" dirty="0">
                <a:solidFill>
                  <a:srgbClr val="D5D9E0"/>
                </a:solidFill>
                <a:latin typeface="DM Sans" pitchFamily="34" charset="0"/>
                <a:ea typeface="DM Sans" pitchFamily="34" charset="-122"/>
                <a:cs typeface="DM Sans" pitchFamily="34" charset="-120"/>
              </a:rPr>
              <a:t>Configurações</a:t>
            </a:r>
            <a:r>
              <a:rPr lang="en-US" sz="1400" dirty="0">
                <a:solidFill>
                  <a:srgbClr val="D5D9E0"/>
                </a:solidFill>
                <a:latin typeface="DM Sans" pitchFamily="34" charset="0"/>
                <a:ea typeface="DM Sans" pitchFamily="34" charset="-122"/>
                <a:cs typeface="DM Sans" pitchFamily="34" charset="-120"/>
              </a:rPr>
              <a:t> e a aba </a:t>
            </a:r>
            <a:r>
              <a:rPr lang="en-US" sz="1400" b="1" dirty="0">
                <a:solidFill>
                  <a:srgbClr val="D5D9E0"/>
                </a:solidFill>
                <a:latin typeface="DM Sans" pitchFamily="34" charset="0"/>
                <a:ea typeface="DM Sans" pitchFamily="34" charset="-122"/>
                <a:cs typeface="DM Sans" pitchFamily="34" charset="-120"/>
              </a:rPr>
              <a:t>Usuários</a:t>
            </a:r>
            <a:r>
              <a:rPr lang="en-US" sz="1400" dirty="0">
                <a:solidFill>
                  <a:srgbClr val="D5D9E0"/>
                </a:solidFill>
                <a:latin typeface="DM Sans" pitchFamily="34" charset="0"/>
                <a:ea typeface="DM Sans" pitchFamily="34" charset="-122"/>
                <a:cs typeface="DM Sans" pitchFamily="34" charset="-120"/>
              </a:rPr>
              <a:t>.</a:t>
            </a:r>
            <a:endParaRPr lang="en-US" sz="1400" dirty="0"/>
          </a:p>
        </p:txBody>
      </p:sp>
      <p:sp>
        <p:nvSpPr>
          <p:cNvPr id="7" name="Shape 5"/>
          <p:cNvSpPr/>
          <p:nvPr/>
        </p:nvSpPr>
        <p:spPr>
          <a:xfrm>
            <a:off x="812800" y="2219920"/>
            <a:ext cx="304800" cy="304800"/>
          </a:xfrm>
          <a:prstGeom prst="roundRect">
            <a:avLst>
              <a:gd name="adj" fmla="val 50000"/>
            </a:avLst>
          </a:prstGeom>
          <a:solidFill>
            <a:srgbClr val="00FF66"/>
          </a:solidFill>
          <a:ln/>
        </p:spPr>
        <p:txBody>
          <a:bodyPr/>
          <a:p/>
        </p:txBody>
      </p:sp>
      <p:sp>
        <p:nvSpPr>
          <p:cNvPr id="8" name="Text 6"/>
          <p:cNvSpPr/>
          <p:nvPr/>
        </p:nvSpPr>
        <p:spPr>
          <a:xfrm>
            <a:off x="787400" y="22199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2</a:t>
            </a:r>
            <a:endParaRPr lang="en-US" sz="1200" dirty="0"/>
          </a:p>
        </p:txBody>
      </p:sp>
      <p:sp>
        <p:nvSpPr>
          <p:cNvPr id="9" name="Text 7"/>
          <p:cNvSpPr/>
          <p:nvPr/>
        </p:nvSpPr>
        <p:spPr>
          <a:xfrm>
            <a:off x="1244600" y="2219920"/>
            <a:ext cx="3584194" cy="985441"/>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D5D9E0"/>
                </a:solidFill>
                <a:latin typeface="DM Sans" pitchFamily="34" charset="0"/>
                <a:ea typeface="DM Sans" pitchFamily="34" charset="-122"/>
                <a:cs typeface="DM Sans" pitchFamily="34" charset="-120"/>
              </a:rPr>
              <a:t>+ Novo usuário</a:t>
            </a:r>
            <a:r>
              <a:rPr lang="en-US" sz="1400" dirty="0">
                <a:solidFill>
                  <a:srgbClr val="D5D9E0"/>
                </a:solidFill>
                <a:latin typeface="DM Sans" pitchFamily="34" charset="0"/>
                <a:ea typeface="DM Sans" pitchFamily="34" charset="-122"/>
                <a:cs typeface="DM Sans" pitchFamily="34" charset="-120"/>
              </a:rPr>
              <a:t>: nome, login, perfil e senha inicial (mín. 6). Enquanto a pessoa não criar a própria senha, Primeiro acesso mostra Pendente.</a:t>
            </a:r>
            <a:endParaRPr lang="en-US" sz="1400" dirty="0"/>
          </a:p>
        </p:txBody>
      </p:sp>
      <p:sp>
        <p:nvSpPr>
          <p:cNvPr id="10" name="Shape 8"/>
          <p:cNvSpPr/>
          <p:nvPr/>
        </p:nvSpPr>
        <p:spPr>
          <a:xfrm>
            <a:off x="812800" y="3345061"/>
            <a:ext cx="304800" cy="304800"/>
          </a:xfrm>
          <a:prstGeom prst="roundRect">
            <a:avLst>
              <a:gd name="adj" fmla="val 50000"/>
            </a:avLst>
          </a:prstGeom>
          <a:solidFill>
            <a:srgbClr val="00FF66"/>
          </a:solidFill>
          <a:ln/>
        </p:spPr>
        <p:txBody>
          <a:bodyPr/>
          <a:p/>
        </p:txBody>
      </p:sp>
      <p:sp>
        <p:nvSpPr>
          <p:cNvPr id="11" name="Text 9"/>
          <p:cNvSpPr/>
          <p:nvPr/>
        </p:nvSpPr>
        <p:spPr>
          <a:xfrm>
            <a:off x="787400" y="334506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3</a:t>
            </a:r>
            <a:endParaRPr lang="en-US" sz="1200" dirty="0"/>
          </a:p>
        </p:txBody>
      </p:sp>
      <p:sp>
        <p:nvSpPr>
          <p:cNvPr id="12" name="Text 10"/>
          <p:cNvSpPr/>
          <p:nvPr/>
        </p:nvSpPr>
        <p:spPr>
          <a:xfrm>
            <a:off x="1244600" y="3345061"/>
            <a:ext cx="3584194" cy="74543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D5D9E0"/>
                </a:solidFill>
                <a:latin typeface="DM Sans" pitchFamily="34" charset="0"/>
                <a:ea typeface="DM Sans" pitchFamily="34" charset="-122"/>
                <a:cs typeface="DM Sans" pitchFamily="34" charset="-120"/>
              </a:rPr>
              <a:t>Lápis</a:t>
            </a:r>
            <a:r>
              <a:rPr lang="en-US" sz="1400" dirty="0">
                <a:solidFill>
                  <a:srgbClr val="D5D9E0"/>
                </a:solidFill>
                <a:latin typeface="DM Sans" pitchFamily="34" charset="0"/>
                <a:ea typeface="DM Sans" pitchFamily="34" charset="-122"/>
                <a:cs typeface="DM Sans" pitchFamily="34" charset="-120"/>
              </a:rPr>
              <a:t> edita nome, login, perfil ou senha. </a:t>
            </a:r>
            <a:r>
              <a:rPr lang="en-US" sz="1400" b="1" dirty="0">
                <a:solidFill>
                  <a:srgbClr val="D5D9E0"/>
                </a:solidFill>
                <a:latin typeface="DM Sans" pitchFamily="34" charset="0"/>
                <a:ea typeface="DM Sans" pitchFamily="34" charset="-122"/>
                <a:cs typeface="DM Sans" pitchFamily="34" charset="-120"/>
              </a:rPr>
              <a:t>Pausa</a:t>
            </a:r>
            <a:r>
              <a:rPr lang="en-US" sz="1400" dirty="0">
                <a:solidFill>
                  <a:srgbClr val="D5D9E0"/>
                </a:solidFill>
                <a:latin typeface="DM Sans" pitchFamily="34" charset="0"/>
                <a:ea typeface="DM Sans" pitchFamily="34" charset="-122"/>
                <a:cs typeface="DM Sans" pitchFamily="34" charset="-120"/>
              </a:rPr>
              <a:t> inativa quem saiu (a linha fica apagada). </a:t>
            </a:r>
            <a:r>
              <a:rPr lang="en-US" sz="1400" b="1" dirty="0">
                <a:solidFill>
                  <a:srgbClr val="D5D9E0"/>
                </a:solidFill>
                <a:latin typeface="DM Sans" pitchFamily="34" charset="0"/>
                <a:ea typeface="DM Sans" pitchFamily="34" charset="-122"/>
                <a:cs typeface="DM Sans" pitchFamily="34" charset="-120"/>
              </a:rPr>
              <a:t>Lixeira</a:t>
            </a:r>
            <a:r>
              <a:rPr lang="en-US" sz="1400" dirty="0">
                <a:solidFill>
                  <a:srgbClr val="D5D9E0"/>
                </a:solidFill>
                <a:latin typeface="DM Sans" pitchFamily="34" charset="0"/>
                <a:ea typeface="DM Sans" pitchFamily="34" charset="-122"/>
                <a:cs typeface="DM Sans" pitchFamily="34" charset="-120"/>
              </a:rPr>
              <a:t> só para inativos.</a:t>
            </a:r>
            <a:endParaRPr lang="en-US" sz="1400" dirty="0"/>
          </a:p>
        </p:txBody>
      </p:sp>
      <p:sp>
        <p:nvSpPr>
          <p:cNvPr id="13" name="Shape 11"/>
          <p:cNvSpPr/>
          <p:nvPr/>
        </p:nvSpPr>
        <p:spPr>
          <a:xfrm>
            <a:off x="5080000" y="1750020"/>
            <a:ext cx="6299200" cy="3937000"/>
          </a:xfrm>
          <a:prstGeom prst="roundRect">
            <a:avLst>
              <a:gd name="adj" fmla="val 2581"/>
            </a:avLst>
          </a:prstGeom>
          <a:solidFill>
            <a:srgbClr val="15151C"/>
          </a:solidFill>
          <a:ln/>
        </p:spPr>
        <p:txBody>
          <a:bodyPr/>
          <a:p/>
        </p:txBody>
      </p:sp>
      <p:pic>
        <p:nvPicPr>
          <p:cNvPr id="14" name="Image 0" descr="Configurações, aba Usuários, com a lista de usuários">    </p:cNvPr>
          <p:cNvPicPr>
            <a:picLocks noChangeAspect="1"/>
          </p:cNvPicPr>
          <p:nvPr/>
        </p:nvPicPr>
        <p:blipFill>
          <a:blip r:embed="rId1"/>
          <a:srcRect l="-61" r="-61" t="0" b="0"/>
          <a:stretch/>
        </p:blipFill>
        <p:spPr>
          <a:xfrm>
            <a:off x="5086350" y="1756370"/>
            <a:ext cx="6286500" cy="3924300"/>
          </a:xfrm>
          <a:prstGeom prst="roundRect">
            <a:avLst>
              <a:gd name="adj" fmla="val 2427"/>
            </a:avLst>
          </a:prstGeom>
        </p:spPr>
      </p:pic>
      <p:sp>
        <p:nvSpPr>
          <p:cNvPr id="15" name="Shape 12"/>
          <p:cNvSpPr/>
          <p:nvPr/>
        </p:nvSpPr>
        <p:spPr>
          <a:xfrm>
            <a:off x="5083175" y="1753195"/>
            <a:ext cx="6292850" cy="3930650"/>
          </a:xfrm>
          <a:prstGeom prst="roundRect">
            <a:avLst>
              <a:gd name="adj" fmla="val 2504"/>
            </a:avLst>
          </a:prstGeom>
          <a:noFill/>
          <a:ln w="6350">
            <a:solidFill>
              <a:srgbClr val="282836"/>
            </a:solidFill>
            <a:prstDash val="solid"/>
          </a:ln>
        </p:spPr>
        <p:txBody>
          <a:bodyPr/>
          <a:p/>
        </p:txBody>
      </p:sp>
      <p:sp>
        <p:nvSpPr>
          <p:cNvPr id="16"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0FF66"/>
        </a:solidFill>
      </p:bgPr>
    </p:bg>
    <p:spTree>
      <p:nvGrpSpPr>
        <p:cNvPr id="1" name=""/>
        <p:cNvGrpSpPr/>
        <p:nvPr/>
      </p:nvGrpSpPr>
      <p:grpSpPr>
        <a:xfrm>
          <a:off x="0" y="0"/>
          <a:ext cx="0" cy="0"/>
          <a:chOff x="0" y="0"/>
          <a:chExt cx="0" cy="0"/>
        </a:xfrm>
      </p:grpSpPr>
      <p:sp>
        <p:nvSpPr>
          <p:cNvPr id="2" name="Text 0"/>
          <p:cNvSpPr/>
          <p:nvPr/>
        </p:nvSpPr>
        <p:spPr>
          <a:xfrm>
            <a:off x="812800" y="257819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04120A"/>
                </a:solidFill>
                <a:latin typeface="DM Sans" pitchFamily="34" charset="0"/>
                <a:ea typeface="DM Sans" pitchFamily="34" charset="-122"/>
                <a:cs typeface="DM Sans" pitchFamily="34" charset="-120"/>
              </a:rPr>
              <a:t>PARTE 2</a:t>
            </a:r>
            <a:endParaRPr lang="en-US" sz="1400" dirty="0"/>
          </a:p>
        </p:txBody>
      </p:sp>
      <p:sp>
        <p:nvSpPr>
          <p:cNvPr id="3" name="Text 1"/>
          <p:cNvSpPr/>
          <p:nvPr/>
        </p:nvSpPr>
        <p:spPr>
          <a:xfrm>
            <a:off x="812800" y="3004840"/>
            <a:ext cx="10883392" cy="802580"/>
          </a:xfrm>
          <a:prstGeom prst="rect">
            <a:avLst/>
          </a:prstGeom>
          <a:noFill/>
          <a:ln/>
        </p:spPr>
        <p:txBody>
          <a:bodyPr wrap="square" lIns="0" tIns="0" rIns="0" bIns="0" rtlCol="0" anchor="t">
            <a:normAutofit/>
          </a:bodyPr>
          <a:lstStyle/>
          <a:p>
            <a:pPr algn="l" indent="0" marL="0">
              <a:lnSpc>
                <a:spcPts val="6120"/>
              </a:lnSpc>
              <a:buNone/>
            </a:pPr>
            <a:r>
              <a:rPr lang="en-US" sz="6000" b="1" dirty="0">
                <a:solidFill>
                  <a:srgbClr val="04120A"/>
                </a:solidFill>
                <a:latin typeface="Space Grotesk" pitchFamily="34" charset="0"/>
                <a:ea typeface="Space Grotesk" pitchFamily="34" charset="-122"/>
                <a:cs typeface="Space Grotesk" pitchFamily="34" charset="-120"/>
              </a:rPr>
              <a:t>Entrar e cuidar da senha</a:t>
            </a:r>
            <a:endParaRPr lang="en-US" sz="6000" dirty="0"/>
          </a:p>
        </p:txBody>
      </p:sp>
      <p:sp>
        <p:nvSpPr>
          <p:cNvPr id="4" name="Text 2"/>
          <p:cNvSpPr/>
          <p:nvPr/>
        </p:nvSpPr>
        <p:spPr>
          <a:xfrm>
            <a:off x="812800" y="3959820"/>
            <a:ext cx="7848600" cy="3453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0B2A17"/>
                </a:solidFill>
                <a:latin typeface="DM Sans" pitchFamily="34" charset="0"/>
                <a:ea typeface="DM Sans" pitchFamily="34" charset="-122"/>
                <a:cs typeface="DM Sans" pitchFamily="34" charset="-120"/>
              </a:rPr>
              <a:t>Login, primeiro acesso e o que fazer quando esquecer a senha.</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SENHA</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Como entrar no sistema</a:t>
            </a:r>
            <a:endParaRPr lang="en-US" sz="3000" dirty="0"/>
          </a:p>
        </p:txBody>
      </p:sp>
      <p:sp>
        <p:nvSpPr>
          <p:cNvPr id="4" name="Shape 2"/>
          <p:cNvSpPr/>
          <p:nvPr/>
        </p:nvSpPr>
        <p:spPr>
          <a:xfrm>
            <a:off x="812800" y="1750020"/>
            <a:ext cx="304800" cy="304800"/>
          </a:xfrm>
          <a:prstGeom prst="roundRect">
            <a:avLst>
              <a:gd name="adj" fmla="val 50000"/>
            </a:avLst>
          </a:prstGeom>
          <a:solidFill>
            <a:srgbClr val="00FF66"/>
          </a:solidFill>
          <a:ln/>
        </p:spPr>
        <p:txBody>
          <a:bodyPr/>
          <a:p/>
        </p:txBody>
      </p:sp>
      <p:sp>
        <p:nvSpPr>
          <p:cNvPr id="5" name="Text 3"/>
          <p:cNvSpPr/>
          <p:nvPr/>
        </p:nvSpPr>
        <p:spPr>
          <a:xfrm>
            <a:off x="787400" y="17500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1</a:t>
            </a:r>
            <a:endParaRPr lang="en-US" sz="1200" dirty="0"/>
          </a:p>
        </p:txBody>
      </p:sp>
      <p:sp>
        <p:nvSpPr>
          <p:cNvPr id="6" name="Text 4"/>
          <p:cNvSpPr/>
          <p:nvPr/>
        </p:nvSpPr>
        <p:spPr>
          <a:xfrm>
            <a:off x="1244600" y="1750020"/>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Abra </a:t>
            </a:r>
            <a:r>
              <a:rPr lang="en-US" sz="1400" b="1" dirty="0">
                <a:solidFill>
                  <a:srgbClr val="D5D9E0"/>
                </a:solidFill>
                <a:latin typeface="DM Sans" pitchFamily="34" charset="0"/>
                <a:ea typeface="DM Sans" pitchFamily="34" charset="-122"/>
                <a:cs typeface="DM Sans" pitchFamily="34" charset="-120"/>
              </a:rPr>
              <a:t>best-buds-gamma.vercel.app</a:t>
            </a:r>
            <a:r>
              <a:rPr lang="en-US" sz="1400" dirty="0">
                <a:solidFill>
                  <a:srgbClr val="D5D9E0"/>
                </a:solidFill>
                <a:latin typeface="DM Sans" pitchFamily="34" charset="0"/>
                <a:ea typeface="DM Sans" pitchFamily="34" charset="-122"/>
                <a:cs typeface="DM Sans" pitchFamily="34" charset="-120"/>
              </a:rPr>
              <a:t> no navegador.</a:t>
            </a:r>
            <a:endParaRPr lang="en-US" sz="1400" dirty="0"/>
          </a:p>
        </p:txBody>
      </p:sp>
      <p:sp>
        <p:nvSpPr>
          <p:cNvPr id="7" name="Shape 5"/>
          <p:cNvSpPr/>
          <p:nvPr/>
        </p:nvSpPr>
        <p:spPr>
          <a:xfrm>
            <a:off x="812800" y="2382441"/>
            <a:ext cx="304800" cy="304800"/>
          </a:xfrm>
          <a:prstGeom prst="roundRect">
            <a:avLst>
              <a:gd name="adj" fmla="val 50000"/>
            </a:avLst>
          </a:prstGeom>
          <a:solidFill>
            <a:srgbClr val="00FF66"/>
          </a:solidFill>
          <a:ln/>
        </p:spPr>
        <p:txBody>
          <a:bodyPr/>
          <a:p/>
        </p:txBody>
      </p:sp>
      <p:sp>
        <p:nvSpPr>
          <p:cNvPr id="8" name="Text 6"/>
          <p:cNvSpPr/>
          <p:nvPr/>
        </p:nvSpPr>
        <p:spPr>
          <a:xfrm>
            <a:off x="787400" y="238244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2</a:t>
            </a:r>
            <a:endParaRPr lang="en-US" sz="1200" dirty="0"/>
          </a:p>
        </p:txBody>
      </p:sp>
      <p:sp>
        <p:nvSpPr>
          <p:cNvPr id="9" name="Text 7"/>
          <p:cNvSpPr/>
          <p:nvPr/>
        </p:nvSpPr>
        <p:spPr>
          <a:xfrm>
            <a:off x="1244600" y="2382441"/>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Em </a:t>
            </a:r>
            <a:r>
              <a:rPr lang="en-US" sz="1400" b="1" dirty="0">
                <a:solidFill>
                  <a:srgbClr val="D5D9E0"/>
                </a:solidFill>
                <a:latin typeface="DM Sans" pitchFamily="34" charset="0"/>
                <a:ea typeface="DM Sans" pitchFamily="34" charset="-122"/>
                <a:cs typeface="DM Sans" pitchFamily="34" charset="-120"/>
              </a:rPr>
              <a:t>Usuário</a:t>
            </a:r>
            <a:r>
              <a:rPr lang="en-US" sz="1400" dirty="0">
                <a:solidFill>
                  <a:srgbClr val="D5D9E0"/>
                </a:solidFill>
                <a:latin typeface="DM Sans" pitchFamily="34" charset="0"/>
                <a:ea typeface="DM Sans" pitchFamily="34" charset="-122"/>
                <a:cs typeface="DM Sans" pitchFamily="34" charset="-120"/>
              </a:rPr>
              <a:t>, digite seu login (ex.: joao.silva), sem e-mail.</a:t>
            </a:r>
            <a:endParaRPr lang="en-US" sz="1400" dirty="0"/>
          </a:p>
        </p:txBody>
      </p:sp>
      <p:sp>
        <p:nvSpPr>
          <p:cNvPr id="10" name="Shape 8"/>
          <p:cNvSpPr/>
          <p:nvPr/>
        </p:nvSpPr>
        <p:spPr>
          <a:xfrm>
            <a:off x="812800" y="3014861"/>
            <a:ext cx="304800" cy="304800"/>
          </a:xfrm>
          <a:prstGeom prst="roundRect">
            <a:avLst>
              <a:gd name="adj" fmla="val 50000"/>
            </a:avLst>
          </a:prstGeom>
          <a:solidFill>
            <a:srgbClr val="00FF66"/>
          </a:solidFill>
          <a:ln/>
        </p:spPr>
        <p:txBody>
          <a:bodyPr/>
          <a:p/>
        </p:txBody>
      </p:sp>
      <p:sp>
        <p:nvSpPr>
          <p:cNvPr id="11" name="Text 9"/>
          <p:cNvSpPr/>
          <p:nvPr/>
        </p:nvSpPr>
        <p:spPr>
          <a:xfrm>
            <a:off x="787400" y="301486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3</a:t>
            </a:r>
            <a:endParaRPr lang="en-US" sz="1200" dirty="0"/>
          </a:p>
        </p:txBody>
      </p:sp>
      <p:sp>
        <p:nvSpPr>
          <p:cNvPr id="12" name="Text 10"/>
          <p:cNvSpPr/>
          <p:nvPr/>
        </p:nvSpPr>
        <p:spPr>
          <a:xfrm>
            <a:off x="1244600" y="3014861"/>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Digite a </a:t>
            </a:r>
            <a:r>
              <a:rPr lang="en-US" sz="1400" b="1" dirty="0">
                <a:solidFill>
                  <a:srgbClr val="D5D9E0"/>
                </a:solidFill>
                <a:latin typeface="DM Sans" pitchFamily="34" charset="0"/>
                <a:ea typeface="DM Sans" pitchFamily="34" charset="-122"/>
                <a:cs typeface="DM Sans" pitchFamily="34" charset="-120"/>
              </a:rPr>
              <a:t>senha</a:t>
            </a:r>
            <a:r>
              <a:rPr lang="en-US" sz="1400" dirty="0">
                <a:solidFill>
                  <a:srgbClr val="D5D9E0"/>
                </a:solidFill>
                <a:latin typeface="DM Sans" pitchFamily="34" charset="0"/>
                <a:ea typeface="DM Sans" pitchFamily="34" charset="-122"/>
                <a:cs typeface="DM Sans" pitchFamily="34" charset="-120"/>
              </a:rPr>
              <a:t>. O ícone de olho mostra o que foi digitado.</a:t>
            </a:r>
            <a:endParaRPr lang="en-US" sz="1400" dirty="0"/>
          </a:p>
        </p:txBody>
      </p:sp>
      <p:sp>
        <p:nvSpPr>
          <p:cNvPr id="13" name="Shape 11"/>
          <p:cNvSpPr/>
          <p:nvPr/>
        </p:nvSpPr>
        <p:spPr>
          <a:xfrm>
            <a:off x="812800" y="3647281"/>
            <a:ext cx="304800" cy="304800"/>
          </a:xfrm>
          <a:prstGeom prst="roundRect">
            <a:avLst>
              <a:gd name="adj" fmla="val 50000"/>
            </a:avLst>
          </a:prstGeom>
          <a:solidFill>
            <a:srgbClr val="00FF66"/>
          </a:solidFill>
          <a:ln/>
        </p:spPr>
        <p:txBody>
          <a:bodyPr/>
          <a:p/>
        </p:txBody>
      </p:sp>
      <p:sp>
        <p:nvSpPr>
          <p:cNvPr id="14" name="Text 12"/>
          <p:cNvSpPr/>
          <p:nvPr/>
        </p:nvSpPr>
        <p:spPr>
          <a:xfrm>
            <a:off x="787400" y="364728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4</a:t>
            </a:r>
            <a:endParaRPr lang="en-US" sz="1200" dirty="0"/>
          </a:p>
        </p:txBody>
      </p:sp>
      <p:sp>
        <p:nvSpPr>
          <p:cNvPr id="15" name="Text 13"/>
          <p:cNvSpPr/>
          <p:nvPr/>
        </p:nvSpPr>
        <p:spPr>
          <a:xfrm>
            <a:off x="1244600" y="3647281"/>
            <a:ext cx="3584194" cy="33020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Toque em </a:t>
            </a:r>
            <a:r>
              <a:rPr lang="en-US" sz="1400" b="1" dirty="0">
                <a:solidFill>
                  <a:srgbClr val="D5D9E0"/>
                </a:solidFill>
                <a:latin typeface="DM Sans" pitchFamily="34" charset="0"/>
                <a:ea typeface="DM Sans" pitchFamily="34" charset="-122"/>
                <a:cs typeface="DM Sans" pitchFamily="34" charset="-120"/>
              </a:rPr>
              <a:t>Entrar</a:t>
            </a:r>
            <a:r>
              <a:rPr lang="en-US" sz="1400" dirty="0">
                <a:solidFill>
                  <a:srgbClr val="D5D9E0"/>
                </a:solidFill>
                <a:latin typeface="DM Sans" pitchFamily="34" charset="0"/>
                <a:ea typeface="DM Sans" pitchFamily="34" charset="-122"/>
                <a:cs typeface="DM Sans" pitchFamily="34" charset="-120"/>
              </a:rPr>
              <a:t>.</a:t>
            </a:r>
            <a:endParaRPr lang="en-US" sz="1400" dirty="0"/>
          </a:p>
        </p:txBody>
      </p:sp>
      <p:sp>
        <p:nvSpPr>
          <p:cNvPr id="16" name="Shape 14"/>
          <p:cNvSpPr/>
          <p:nvPr/>
        </p:nvSpPr>
        <p:spPr>
          <a:xfrm>
            <a:off x="812800" y="4104481"/>
            <a:ext cx="3911600" cy="629841"/>
          </a:xfrm>
          <a:prstGeom prst="roundRect">
            <a:avLst>
              <a:gd name="adj" fmla="val 10082"/>
            </a:avLst>
          </a:prstGeom>
          <a:solidFill>
            <a:srgbClr val="15151C"/>
          </a:solidFill>
          <a:ln/>
        </p:spPr>
        <p:txBody>
          <a:bodyPr/>
          <a:p/>
        </p:txBody>
      </p:sp>
      <p:sp>
        <p:nvSpPr>
          <p:cNvPr id="17" name="Shape 15"/>
          <p:cNvSpPr/>
          <p:nvPr/>
        </p:nvSpPr>
        <p:spPr>
          <a:xfrm>
            <a:off x="812800" y="4104481"/>
            <a:ext cx="3911600" cy="629841"/>
          </a:xfrm>
          <a:custGeom>
            <a:avLst/>
            <a:gdLst/>
            <a:ahLst/>
            <a:cxnLst/>
            <a:rect l="l" t="t" r="r" b="b"/>
            <a:pathLst>
              <a:path w="3911600" h="629841">
                <a:moveTo>
                  <a:pt x="63500" y="629841"/>
                </a:moveTo>
                <a:lnTo>
                  <a:pt x="63500" y="629841"/>
                </a:lnTo>
                <a:arcTo hR="63500" wR="63500" stAng="5400000" swAng="5400000"/>
                <a:lnTo>
                  <a:pt x="0" y="63500"/>
                </a:lnTo>
                <a:arcTo hR="63500" wR="63500" stAng="10800000" swAng="5400000"/>
                <a:lnTo>
                  <a:pt x="63500" y="0"/>
                </a:lnTo>
                <a:arcTo hR="63500" wR="38100" stAng="16200000" swAng="-5400000"/>
                <a:lnTo>
                  <a:pt x="25400" y="566341"/>
                </a:lnTo>
                <a:arcTo hR="63500" wR="38100" stAng="10800000" swAng="-5400000"/>
                <a:close/>
              </a:path>
            </a:pathLst>
          </a:custGeom>
          <a:solidFill>
            <a:srgbClr val="EF4444"/>
          </a:solidFill>
          <a:ln/>
        </p:spPr>
        <p:txBody>
          <a:bodyPr/>
          <a:p/>
        </p:txBody>
      </p:sp>
      <p:sp>
        <p:nvSpPr>
          <p:cNvPr id="18" name="Text 16"/>
          <p:cNvSpPr/>
          <p:nvPr/>
        </p:nvSpPr>
        <p:spPr>
          <a:xfrm>
            <a:off x="965200" y="4206081"/>
            <a:ext cx="374116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BAC5"/>
                </a:solidFill>
                <a:latin typeface="DM Sans" pitchFamily="34" charset="0"/>
                <a:ea typeface="DM Sans" pitchFamily="34" charset="-122"/>
                <a:cs typeface="DM Sans" pitchFamily="34" charset="-120"/>
              </a:rPr>
              <a:t>"Usuário inativo" ou "senha inválida"? Fale com um Gerente.</a:t>
            </a:r>
            <a:endParaRPr lang="en-US" sz="1200" dirty="0"/>
          </a:p>
        </p:txBody>
      </p:sp>
      <p:sp>
        <p:nvSpPr>
          <p:cNvPr id="19" name="Shape 17"/>
          <p:cNvSpPr/>
          <p:nvPr/>
        </p:nvSpPr>
        <p:spPr>
          <a:xfrm>
            <a:off x="5080000" y="1750020"/>
            <a:ext cx="6299200" cy="3937000"/>
          </a:xfrm>
          <a:prstGeom prst="roundRect">
            <a:avLst>
              <a:gd name="adj" fmla="val 2581"/>
            </a:avLst>
          </a:prstGeom>
          <a:solidFill>
            <a:srgbClr val="15151C"/>
          </a:solidFill>
          <a:ln/>
        </p:spPr>
        <p:txBody>
          <a:bodyPr/>
          <a:p/>
        </p:txBody>
      </p:sp>
      <p:pic>
        <p:nvPicPr>
          <p:cNvPr id="20" name="Image 0" descr="Tela de login com campos Usuário e Senha, link Redefinir senha e botão Entrar">    </p:cNvPr>
          <p:cNvPicPr>
            <a:picLocks noChangeAspect="1"/>
          </p:cNvPicPr>
          <p:nvPr/>
        </p:nvPicPr>
        <p:blipFill>
          <a:blip r:embed="rId1"/>
          <a:srcRect l="-61" r="-61" t="0" b="0"/>
          <a:stretch/>
        </p:blipFill>
        <p:spPr>
          <a:xfrm>
            <a:off x="5086350" y="1756370"/>
            <a:ext cx="6286500" cy="3924300"/>
          </a:xfrm>
          <a:prstGeom prst="roundRect">
            <a:avLst>
              <a:gd name="adj" fmla="val 2427"/>
            </a:avLst>
          </a:prstGeom>
        </p:spPr>
      </p:pic>
      <p:sp>
        <p:nvSpPr>
          <p:cNvPr id="21" name="Shape 18"/>
          <p:cNvSpPr/>
          <p:nvPr/>
        </p:nvSpPr>
        <p:spPr>
          <a:xfrm>
            <a:off x="5083175" y="1753195"/>
            <a:ext cx="6292850" cy="3930650"/>
          </a:xfrm>
          <a:prstGeom prst="roundRect">
            <a:avLst>
              <a:gd name="adj" fmla="val 2504"/>
            </a:avLst>
          </a:prstGeom>
          <a:noFill/>
          <a:ln w="6350">
            <a:solidFill>
              <a:srgbClr val="282836"/>
            </a:solidFill>
            <a:prstDash val="solid"/>
          </a:ln>
        </p:spPr>
        <p:txBody>
          <a:bodyPr/>
          <a:p/>
        </p:txBody>
      </p:sp>
      <p:sp>
        <p:nvSpPr>
          <p:cNvPr id="22"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SENHA</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Primeiro acesso: criar a sua senha</a:t>
            </a:r>
            <a:endParaRPr lang="en-US" sz="3000" dirty="0"/>
          </a:p>
        </p:txBody>
      </p:sp>
      <p:sp>
        <p:nvSpPr>
          <p:cNvPr id="4" name="Text 2"/>
          <p:cNvSpPr/>
          <p:nvPr/>
        </p:nvSpPr>
        <p:spPr>
          <a:xfrm>
            <a:off x="812800" y="1750020"/>
            <a:ext cx="4028948"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5D9E0"/>
                </a:solidFill>
                <a:latin typeface="DM Sans" pitchFamily="34" charset="0"/>
                <a:ea typeface="DM Sans" pitchFamily="34" charset="-122"/>
                <a:cs typeface="DM Sans" pitchFamily="34" charset="-120"/>
              </a:rPr>
              <a:t>Esta janela aparece logo depois do login quando a conta é nova ou a senha acabou de ser redefinida. Não dá para pular.</a:t>
            </a:r>
            <a:endParaRPr lang="en-US" sz="1400" dirty="0"/>
          </a:p>
        </p:txBody>
      </p:sp>
      <p:sp>
        <p:nvSpPr>
          <p:cNvPr id="5" name="Shape 3"/>
          <p:cNvSpPr/>
          <p:nvPr/>
        </p:nvSpPr>
        <p:spPr>
          <a:xfrm>
            <a:off x="812800" y="2648942"/>
            <a:ext cx="304800" cy="304800"/>
          </a:xfrm>
          <a:prstGeom prst="roundRect">
            <a:avLst>
              <a:gd name="adj" fmla="val 50000"/>
            </a:avLst>
          </a:prstGeom>
          <a:solidFill>
            <a:srgbClr val="00FF66"/>
          </a:solidFill>
          <a:ln/>
        </p:spPr>
        <p:txBody>
          <a:bodyPr/>
          <a:p/>
        </p:txBody>
      </p:sp>
      <p:sp>
        <p:nvSpPr>
          <p:cNvPr id="6" name="Text 4"/>
          <p:cNvSpPr/>
          <p:nvPr/>
        </p:nvSpPr>
        <p:spPr>
          <a:xfrm>
            <a:off x="787400" y="2648942"/>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1</a:t>
            </a:r>
            <a:endParaRPr lang="en-US" sz="1200" dirty="0"/>
          </a:p>
        </p:txBody>
      </p:sp>
      <p:sp>
        <p:nvSpPr>
          <p:cNvPr id="7" name="Text 5"/>
          <p:cNvSpPr/>
          <p:nvPr/>
        </p:nvSpPr>
        <p:spPr>
          <a:xfrm>
            <a:off x="1244600" y="2648942"/>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Digite a </a:t>
            </a:r>
            <a:r>
              <a:rPr lang="en-US" sz="1400" b="1" dirty="0">
                <a:solidFill>
                  <a:srgbClr val="D5D9E0"/>
                </a:solidFill>
                <a:latin typeface="DM Sans" pitchFamily="34" charset="0"/>
                <a:ea typeface="DM Sans" pitchFamily="34" charset="-122"/>
                <a:cs typeface="DM Sans" pitchFamily="34" charset="-120"/>
              </a:rPr>
              <a:t>nova senha</a:t>
            </a:r>
            <a:r>
              <a:rPr lang="en-US" sz="1400" dirty="0">
                <a:solidFill>
                  <a:srgbClr val="D5D9E0"/>
                </a:solidFill>
                <a:latin typeface="DM Sans" pitchFamily="34" charset="0"/>
                <a:ea typeface="DM Sans" pitchFamily="34" charset="-122"/>
                <a:cs typeface="DM Sans" pitchFamily="34" charset="-120"/>
              </a:rPr>
              <a:t>, com no mínimo 6 caracteres.</a:t>
            </a:r>
            <a:endParaRPr lang="en-US" sz="1400" dirty="0"/>
          </a:p>
        </p:txBody>
      </p:sp>
      <p:sp>
        <p:nvSpPr>
          <p:cNvPr id="8" name="Shape 6"/>
          <p:cNvSpPr/>
          <p:nvPr/>
        </p:nvSpPr>
        <p:spPr>
          <a:xfrm>
            <a:off x="812800" y="3281363"/>
            <a:ext cx="304800" cy="304800"/>
          </a:xfrm>
          <a:prstGeom prst="roundRect">
            <a:avLst>
              <a:gd name="adj" fmla="val 50000"/>
            </a:avLst>
          </a:prstGeom>
          <a:solidFill>
            <a:srgbClr val="00FF66"/>
          </a:solidFill>
          <a:ln/>
        </p:spPr>
        <p:txBody>
          <a:bodyPr/>
          <a:p/>
        </p:txBody>
      </p:sp>
      <p:sp>
        <p:nvSpPr>
          <p:cNvPr id="9" name="Text 7"/>
          <p:cNvSpPr/>
          <p:nvPr/>
        </p:nvSpPr>
        <p:spPr>
          <a:xfrm>
            <a:off x="787400" y="3281363"/>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2</a:t>
            </a:r>
            <a:endParaRPr lang="en-US" sz="1200" dirty="0"/>
          </a:p>
        </p:txBody>
      </p:sp>
      <p:sp>
        <p:nvSpPr>
          <p:cNvPr id="10" name="Text 8"/>
          <p:cNvSpPr/>
          <p:nvPr/>
        </p:nvSpPr>
        <p:spPr>
          <a:xfrm>
            <a:off x="1244600" y="3281363"/>
            <a:ext cx="3584194" cy="33020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Repita a mesma senha em </a:t>
            </a:r>
            <a:r>
              <a:rPr lang="en-US" sz="1400" b="1" dirty="0">
                <a:solidFill>
                  <a:srgbClr val="D5D9E0"/>
                </a:solidFill>
                <a:latin typeface="DM Sans" pitchFamily="34" charset="0"/>
                <a:ea typeface="DM Sans" pitchFamily="34" charset="-122"/>
                <a:cs typeface="DM Sans" pitchFamily="34" charset="-120"/>
              </a:rPr>
              <a:t>Confirmar</a:t>
            </a:r>
            <a:r>
              <a:rPr lang="en-US" sz="1400" dirty="0">
                <a:solidFill>
                  <a:srgbClr val="D5D9E0"/>
                </a:solidFill>
                <a:latin typeface="DM Sans" pitchFamily="34" charset="0"/>
                <a:ea typeface="DM Sans" pitchFamily="34" charset="-122"/>
                <a:cs typeface="DM Sans" pitchFamily="34" charset="-120"/>
              </a:rPr>
              <a:t>.</a:t>
            </a:r>
            <a:endParaRPr lang="en-US" sz="1400" dirty="0"/>
          </a:p>
        </p:txBody>
      </p:sp>
      <p:sp>
        <p:nvSpPr>
          <p:cNvPr id="11" name="Shape 9"/>
          <p:cNvSpPr/>
          <p:nvPr/>
        </p:nvSpPr>
        <p:spPr>
          <a:xfrm>
            <a:off x="812800" y="3738563"/>
            <a:ext cx="304800" cy="304800"/>
          </a:xfrm>
          <a:prstGeom prst="roundRect">
            <a:avLst>
              <a:gd name="adj" fmla="val 50000"/>
            </a:avLst>
          </a:prstGeom>
          <a:solidFill>
            <a:srgbClr val="00FF66"/>
          </a:solidFill>
          <a:ln/>
        </p:spPr>
        <p:txBody>
          <a:bodyPr/>
          <a:p/>
        </p:txBody>
      </p:sp>
      <p:sp>
        <p:nvSpPr>
          <p:cNvPr id="12" name="Text 10"/>
          <p:cNvSpPr/>
          <p:nvPr/>
        </p:nvSpPr>
        <p:spPr>
          <a:xfrm>
            <a:off x="787400" y="3738563"/>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3</a:t>
            </a:r>
            <a:endParaRPr lang="en-US" sz="1200" dirty="0"/>
          </a:p>
        </p:txBody>
      </p:sp>
      <p:sp>
        <p:nvSpPr>
          <p:cNvPr id="13" name="Text 11"/>
          <p:cNvSpPr/>
          <p:nvPr/>
        </p:nvSpPr>
        <p:spPr>
          <a:xfrm>
            <a:off x="1244600" y="3738563"/>
            <a:ext cx="3584194"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D5D9E0"/>
                </a:solidFill>
                <a:latin typeface="DM Sans" pitchFamily="34" charset="0"/>
                <a:ea typeface="DM Sans" pitchFamily="34" charset="-122"/>
                <a:cs typeface="DM Sans" pitchFamily="34" charset="-120"/>
              </a:rPr>
              <a:t>Salvar e entrar</a:t>
            </a:r>
            <a:r>
              <a:rPr lang="en-US" sz="1400" dirty="0">
                <a:solidFill>
                  <a:srgbClr val="D5D9E0"/>
                </a:solidFill>
                <a:latin typeface="DM Sans" pitchFamily="34" charset="0"/>
                <a:ea typeface="DM Sans" pitchFamily="34" charset="-122"/>
                <a:cs typeface="DM Sans" pitchFamily="34" charset="-120"/>
              </a:rPr>
              <a:t>. Nas próximas vezes use só a senha nova.</a:t>
            </a:r>
            <a:endParaRPr lang="en-US" sz="1400" dirty="0"/>
          </a:p>
        </p:txBody>
      </p:sp>
      <p:sp>
        <p:nvSpPr>
          <p:cNvPr id="14" name="Shape 12"/>
          <p:cNvSpPr/>
          <p:nvPr/>
        </p:nvSpPr>
        <p:spPr>
          <a:xfrm>
            <a:off x="5080000" y="1750020"/>
            <a:ext cx="6299200" cy="3937000"/>
          </a:xfrm>
          <a:prstGeom prst="roundRect">
            <a:avLst>
              <a:gd name="adj" fmla="val 2581"/>
            </a:avLst>
          </a:prstGeom>
          <a:solidFill>
            <a:srgbClr val="15151C"/>
          </a:solidFill>
          <a:ln/>
        </p:spPr>
        <p:txBody>
          <a:bodyPr/>
          <a:p/>
        </p:txBody>
      </p:sp>
      <p:pic>
        <p:nvPicPr>
          <p:cNvPr id="15" name="Image 0" descr="Janela Troca obrigatória de senha com os campos Nova senha e Confirmar nova senha">    </p:cNvPr>
          <p:cNvPicPr>
            <a:picLocks noChangeAspect="1"/>
          </p:cNvPicPr>
          <p:nvPr/>
        </p:nvPicPr>
        <p:blipFill>
          <a:blip r:embed="rId1"/>
          <a:stretch>
            <a:fillRect/>
          </a:stretch>
        </p:blipFill>
        <p:spPr>
          <a:xfrm>
            <a:off x="5194230" y="1756370"/>
            <a:ext cx="6070740" cy="3924300"/>
          </a:xfrm>
          <a:prstGeom prst="rect">
            <a:avLst/>
          </a:prstGeom>
        </p:spPr>
      </p:pic>
      <p:sp>
        <p:nvSpPr>
          <p:cNvPr id="16" name="Shape 13"/>
          <p:cNvSpPr/>
          <p:nvPr/>
        </p:nvSpPr>
        <p:spPr>
          <a:xfrm>
            <a:off x="5083175" y="1753195"/>
            <a:ext cx="6292850" cy="3930650"/>
          </a:xfrm>
          <a:prstGeom prst="roundRect">
            <a:avLst>
              <a:gd name="adj" fmla="val 2504"/>
            </a:avLst>
          </a:prstGeom>
          <a:noFill/>
          <a:ln w="6350">
            <a:solidFill>
              <a:srgbClr val="282836"/>
            </a:solidFill>
            <a:prstDash val="solid"/>
          </a:ln>
        </p:spPr>
        <p:txBody>
          <a:bodyPr/>
          <a:p/>
        </p:txBody>
      </p:sp>
      <p:sp>
        <p:nvSpPr>
          <p:cNvPr id="17"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515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SENHA</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Esqueci a senha: três passos</a:t>
            </a:r>
            <a:endParaRPr lang="en-US" sz="3000" dirty="0"/>
          </a:p>
        </p:txBody>
      </p:sp>
      <p:sp>
        <p:nvSpPr>
          <p:cNvPr id="4" name="Shape 2"/>
          <p:cNvSpPr/>
          <p:nvPr/>
        </p:nvSpPr>
        <p:spPr>
          <a:xfrm>
            <a:off x="815975" y="1753195"/>
            <a:ext cx="3346450" cy="3301206"/>
          </a:xfrm>
          <a:prstGeom prst="roundRect">
            <a:avLst>
              <a:gd name="adj" fmla="val 3366"/>
            </a:avLst>
          </a:prstGeom>
          <a:solidFill>
            <a:srgbClr val="0D0D11"/>
          </a:solidFill>
          <a:ln w="6350">
            <a:solidFill>
              <a:srgbClr val="282836"/>
            </a:solidFill>
            <a:prstDash val="solid"/>
          </a:ln>
        </p:spPr>
        <p:txBody>
          <a:bodyPr/>
          <a:p/>
        </p:txBody>
      </p:sp>
      <p:sp>
        <p:nvSpPr>
          <p:cNvPr id="5" name="Text 3"/>
          <p:cNvSpPr/>
          <p:nvPr/>
        </p:nvSpPr>
        <p:spPr>
          <a:xfrm>
            <a:off x="971550" y="1908770"/>
            <a:ext cx="31263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0FF66"/>
                </a:solidFill>
                <a:latin typeface="DM Sans" pitchFamily="34" charset="0"/>
                <a:ea typeface="DM Sans" pitchFamily="34" charset="-122"/>
                <a:cs typeface="DM Sans" pitchFamily="34" charset="-120"/>
              </a:rPr>
              <a:t>1 · Quem esqueceu</a:t>
            </a:r>
            <a:endParaRPr lang="en-US" sz="1200" dirty="0"/>
          </a:p>
        </p:txBody>
      </p:sp>
      <p:pic>
        <p:nvPicPr>
          <p:cNvPr id="6" name="Image 0" descr="Janela Redefinir senha com o pedido enviado">    </p:cNvPr>
          <p:cNvPicPr>
            <a:picLocks noChangeAspect="1"/>
          </p:cNvPicPr>
          <p:nvPr/>
        </p:nvPicPr>
        <p:blipFill>
          <a:blip r:embed="rId1"/>
          <a:srcRect l="0" r="0" t="0" b="0"/>
          <a:stretch/>
        </p:blipFill>
        <p:spPr>
          <a:xfrm>
            <a:off x="971550" y="2223691"/>
            <a:ext cx="3048000" cy="1905000"/>
          </a:xfrm>
          <a:prstGeom prst="rect">
            <a:avLst/>
          </a:prstGeom>
        </p:spPr>
      </p:pic>
      <p:sp>
        <p:nvSpPr>
          <p:cNvPr id="7" name="Text 4"/>
          <p:cNvSpPr/>
          <p:nvPr/>
        </p:nvSpPr>
        <p:spPr>
          <a:xfrm>
            <a:off x="971550" y="4230291"/>
            <a:ext cx="3126359"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9E0"/>
                </a:solidFill>
                <a:latin typeface="DM Sans" pitchFamily="34" charset="0"/>
                <a:ea typeface="DM Sans" pitchFamily="34" charset="-122"/>
                <a:cs typeface="DM Sans" pitchFamily="34" charset="-120"/>
              </a:rPr>
              <a:t>Na tela de login, toque em </a:t>
            </a:r>
            <a:r>
              <a:rPr lang="en-US" sz="1300" b="1" dirty="0">
                <a:solidFill>
                  <a:srgbClr val="D5D9E0"/>
                </a:solidFill>
                <a:latin typeface="DM Sans" pitchFamily="34" charset="0"/>
                <a:ea typeface="DM Sans" pitchFamily="34" charset="-122"/>
                <a:cs typeface="DM Sans" pitchFamily="34" charset="-120"/>
              </a:rPr>
              <a:t>Redefinir senha</a:t>
            </a:r>
            <a:r>
              <a:rPr lang="en-US" sz="1300" dirty="0">
                <a:solidFill>
                  <a:srgbClr val="D5D9E0"/>
                </a:solidFill>
                <a:latin typeface="DM Sans" pitchFamily="34" charset="0"/>
                <a:ea typeface="DM Sans" pitchFamily="34" charset="-122"/>
                <a:cs typeface="DM Sans" pitchFamily="34" charset="-120"/>
              </a:rPr>
              <a:t>, digite o usuário e envie o pedido.</a:t>
            </a:r>
            <a:endParaRPr lang="en-US" sz="1300" dirty="0"/>
          </a:p>
        </p:txBody>
      </p:sp>
      <p:sp>
        <p:nvSpPr>
          <p:cNvPr id="8" name="Shape 5"/>
          <p:cNvSpPr/>
          <p:nvPr/>
        </p:nvSpPr>
        <p:spPr>
          <a:xfrm>
            <a:off x="4422775" y="1753195"/>
            <a:ext cx="3346450" cy="3301206"/>
          </a:xfrm>
          <a:prstGeom prst="roundRect">
            <a:avLst>
              <a:gd name="adj" fmla="val 3366"/>
            </a:avLst>
          </a:prstGeom>
          <a:solidFill>
            <a:srgbClr val="0D0D11"/>
          </a:solidFill>
          <a:ln w="6350">
            <a:solidFill>
              <a:srgbClr val="282836"/>
            </a:solidFill>
            <a:prstDash val="solid"/>
          </a:ln>
        </p:spPr>
        <p:txBody>
          <a:bodyPr/>
          <a:p/>
        </p:txBody>
      </p:sp>
      <p:sp>
        <p:nvSpPr>
          <p:cNvPr id="9" name="Text 6"/>
          <p:cNvSpPr/>
          <p:nvPr/>
        </p:nvSpPr>
        <p:spPr>
          <a:xfrm>
            <a:off x="4578350" y="1908770"/>
            <a:ext cx="31263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BBF24"/>
                </a:solidFill>
                <a:latin typeface="DM Sans" pitchFamily="34" charset="0"/>
                <a:ea typeface="DM Sans" pitchFamily="34" charset="-122"/>
                <a:cs typeface="DM Sans" pitchFamily="34" charset="-120"/>
              </a:rPr>
              <a:t>2 · Gerente ou acima</a:t>
            </a:r>
            <a:endParaRPr lang="en-US" sz="1200" dirty="0"/>
          </a:p>
        </p:txBody>
      </p:sp>
      <p:pic>
        <p:nvPicPr>
          <p:cNvPr id="10" name="Image 1" descr="Janela Editar usuário com o aviso do pedido e o campo Senha nova">    </p:cNvPr>
          <p:cNvPicPr>
            <a:picLocks noChangeAspect="1"/>
          </p:cNvPicPr>
          <p:nvPr/>
        </p:nvPicPr>
        <p:blipFill>
          <a:blip r:embed="rId2"/>
          <a:srcRect l="0" r="0" t="0" b="0"/>
          <a:stretch/>
        </p:blipFill>
        <p:spPr>
          <a:xfrm>
            <a:off x="4578350" y="2223691"/>
            <a:ext cx="3048000" cy="1905000"/>
          </a:xfrm>
          <a:prstGeom prst="rect">
            <a:avLst/>
          </a:prstGeom>
        </p:spPr>
      </p:pic>
      <p:sp>
        <p:nvSpPr>
          <p:cNvPr id="11" name="Text 7"/>
          <p:cNvSpPr/>
          <p:nvPr/>
        </p:nvSpPr>
        <p:spPr>
          <a:xfrm>
            <a:off x="4578350" y="4230291"/>
            <a:ext cx="3126359"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9E0"/>
                </a:solidFill>
                <a:latin typeface="DM Sans" pitchFamily="34" charset="0"/>
                <a:ea typeface="DM Sans" pitchFamily="34" charset="-122"/>
                <a:cs typeface="DM Sans" pitchFamily="34" charset="-120"/>
              </a:rPr>
              <a:t>Em Usuários, lápis na linha destacada: </a:t>
            </a:r>
            <a:r>
              <a:rPr lang="en-US" sz="1300" b="1" dirty="0">
                <a:solidFill>
                  <a:srgbClr val="D5D9E0"/>
                </a:solidFill>
                <a:latin typeface="DM Sans" pitchFamily="34" charset="0"/>
                <a:ea typeface="DM Sans" pitchFamily="34" charset="-122"/>
                <a:cs typeface="DM Sans" pitchFamily="34" charset="-120"/>
              </a:rPr>
              <a:t>senha nova</a:t>
            </a:r>
            <a:r>
              <a:rPr lang="en-US" sz="1300" dirty="0">
                <a:solidFill>
                  <a:srgbClr val="D5D9E0"/>
                </a:solidFill>
                <a:latin typeface="DM Sans" pitchFamily="34" charset="0"/>
                <a:ea typeface="DM Sans" pitchFamily="34" charset="-122"/>
                <a:cs typeface="DM Sans" pitchFamily="34" charset="-120"/>
              </a:rPr>
              <a:t> e Salvar.</a:t>
            </a:r>
            <a:endParaRPr lang="en-US" sz="1300" dirty="0"/>
          </a:p>
        </p:txBody>
      </p:sp>
      <p:sp>
        <p:nvSpPr>
          <p:cNvPr id="12" name="Shape 8"/>
          <p:cNvSpPr/>
          <p:nvPr/>
        </p:nvSpPr>
        <p:spPr>
          <a:xfrm>
            <a:off x="8029575" y="1753195"/>
            <a:ext cx="3346450" cy="3301206"/>
          </a:xfrm>
          <a:prstGeom prst="roundRect">
            <a:avLst>
              <a:gd name="adj" fmla="val 3366"/>
            </a:avLst>
          </a:prstGeom>
          <a:solidFill>
            <a:srgbClr val="0D0D11"/>
          </a:solidFill>
          <a:ln w="6350">
            <a:solidFill>
              <a:srgbClr val="282836"/>
            </a:solidFill>
            <a:prstDash val="solid"/>
          </a:ln>
        </p:spPr>
        <p:txBody>
          <a:bodyPr/>
          <a:p/>
        </p:txBody>
      </p:sp>
      <p:sp>
        <p:nvSpPr>
          <p:cNvPr id="13" name="Text 9"/>
          <p:cNvSpPr/>
          <p:nvPr/>
        </p:nvSpPr>
        <p:spPr>
          <a:xfrm>
            <a:off x="8185150" y="1908770"/>
            <a:ext cx="31263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0FF66"/>
                </a:solidFill>
                <a:latin typeface="DM Sans" pitchFamily="34" charset="0"/>
                <a:ea typeface="DM Sans" pitchFamily="34" charset="-122"/>
                <a:cs typeface="DM Sans" pitchFamily="34" charset="-120"/>
              </a:rPr>
              <a:t>3 · Quem esqueceu</a:t>
            </a:r>
            <a:endParaRPr lang="en-US" sz="1200" dirty="0"/>
          </a:p>
        </p:txBody>
      </p:sp>
      <p:pic>
        <p:nvPicPr>
          <p:cNvPr id="14" name="Image 2" descr="Janela Troca obrigatória de senha">    </p:cNvPr>
          <p:cNvPicPr>
            <a:picLocks noChangeAspect="1"/>
          </p:cNvPicPr>
          <p:nvPr/>
        </p:nvPicPr>
        <p:blipFill>
          <a:blip r:embed="rId3"/>
          <a:srcRect l="0" r="0" t="0" b="0"/>
          <a:stretch/>
        </p:blipFill>
        <p:spPr>
          <a:xfrm>
            <a:off x="8185150" y="2223691"/>
            <a:ext cx="3048000" cy="1905000"/>
          </a:xfrm>
          <a:prstGeom prst="rect">
            <a:avLst/>
          </a:prstGeom>
        </p:spPr>
      </p:pic>
      <p:sp>
        <p:nvSpPr>
          <p:cNvPr id="15" name="Text 10"/>
          <p:cNvSpPr/>
          <p:nvPr/>
        </p:nvSpPr>
        <p:spPr>
          <a:xfrm>
            <a:off x="8185150" y="4230291"/>
            <a:ext cx="3126359"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9E0"/>
                </a:solidFill>
                <a:latin typeface="DM Sans" pitchFamily="34" charset="0"/>
                <a:ea typeface="DM Sans" pitchFamily="34" charset="-122"/>
                <a:cs typeface="DM Sans" pitchFamily="34" charset="-120"/>
              </a:rPr>
              <a:t>Entra com a </a:t>
            </a:r>
            <a:r>
              <a:rPr lang="en-US" sz="1300" b="1" dirty="0">
                <a:solidFill>
                  <a:srgbClr val="D5D9E0"/>
                </a:solidFill>
                <a:latin typeface="DM Sans" pitchFamily="34" charset="0"/>
                <a:ea typeface="DM Sans" pitchFamily="34" charset="-122"/>
                <a:cs typeface="DM Sans" pitchFamily="34" charset="-120"/>
              </a:rPr>
              <a:t>senha que recebeu</a:t>
            </a:r>
            <a:r>
              <a:rPr lang="en-US" sz="1300" dirty="0">
                <a:solidFill>
                  <a:srgbClr val="D5D9E0"/>
                </a:solidFill>
                <a:latin typeface="DM Sans" pitchFamily="34" charset="0"/>
                <a:ea typeface="DM Sans" pitchFamily="34" charset="-122"/>
                <a:cs typeface="DM Sans" pitchFamily="34" charset="-120"/>
              </a:rPr>
              <a:t> e cria a sua própria.</a:t>
            </a:r>
            <a:endParaRPr lang="en-US" sz="1300" dirty="0"/>
          </a:p>
        </p:txBody>
      </p:sp>
      <p:sp>
        <p:nvSpPr>
          <p:cNvPr id="16"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BBF24"/>
                </a:solidFill>
                <a:latin typeface="DM Sans" pitchFamily="34" charset="0"/>
                <a:ea typeface="DM Sans" pitchFamily="34" charset="-122"/>
                <a:cs typeface="DM Sans" pitchFamily="34" charset="-120"/>
              </a:rPr>
              <a:t>SENHA · GERENTE OU ACIMA</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Pedidos de nova senha</a:t>
            </a:r>
            <a:endParaRPr lang="en-US" sz="3000" dirty="0"/>
          </a:p>
        </p:txBody>
      </p:sp>
      <p:sp>
        <p:nvSpPr>
          <p:cNvPr id="4" name="Shape 2"/>
          <p:cNvSpPr/>
          <p:nvPr/>
        </p:nvSpPr>
        <p:spPr>
          <a:xfrm>
            <a:off x="825500" y="1750020"/>
            <a:ext cx="0" cy="694134"/>
          </a:xfrm>
          <a:prstGeom prst="line">
            <a:avLst/>
          </a:prstGeom>
          <a:noFill/>
          <a:ln w="25400">
            <a:solidFill>
              <a:srgbClr val="FBBF24"/>
            </a:solidFill>
            <a:prstDash val="solid"/>
          </a:ln>
        </p:spPr>
        <p:txBody>
          <a:bodyPr/>
          <a:p/>
        </p:txBody>
      </p:sp>
      <p:sp>
        <p:nvSpPr>
          <p:cNvPr id="5" name="Text 3"/>
          <p:cNvSpPr/>
          <p:nvPr/>
        </p:nvSpPr>
        <p:spPr>
          <a:xfrm>
            <a:off x="965200" y="1750020"/>
            <a:ext cx="3871976" cy="719534"/>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D5D9E0"/>
                </a:solidFill>
                <a:latin typeface="DM Sans" pitchFamily="34" charset="0"/>
                <a:ea typeface="DM Sans" pitchFamily="34" charset="-122"/>
                <a:cs typeface="DM Sans" pitchFamily="34" charset="-120"/>
              </a:rPr>
              <a:t>A linha de quem pediu fica destacada em </a:t>
            </a:r>
            <a:r>
              <a:rPr lang="en-US" sz="1350" b="1" dirty="0">
                <a:solidFill>
                  <a:srgbClr val="D5D9E0"/>
                </a:solidFill>
                <a:latin typeface="DM Sans" pitchFamily="34" charset="0"/>
                <a:ea typeface="DM Sans" pitchFamily="34" charset="-122"/>
                <a:cs typeface="DM Sans" pitchFamily="34" charset="-120"/>
              </a:rPr>
              <a:t>Usuários</a:t>
            </a:r>
            <a:r>
              <a:rPr lang="en-US" sz="1350" dirty="0">
                <a:solidFill>
                  <a:srgbClr val="D5D9E0"/>
                </a:solidFill>
                <a:latin typeface="DM Sans" pitchFamily="34" charset="0"/>
                <a:ea typeface="DM Sans" pitchFamily="34" charset="-122"/>
                <a:cs typeface="DM Sans" pitchFamily="34" charset="-120"/>
              </a:rPr>
              <a:t>; o menu Configurações mostra a chave com o total.</a:t>
            </a:r>
            <a:endParaRPr lang="en-US" sz="1350" dirty="0"/>
          </a:p>
        </p:txBody>
      </p:sp>
      <p:sp>
        <p:nvSpPr>
          <p:cNvPr id="6" name="Shape 4"/>
          <p:cNvSpPr/>
          <p:nvPr/>
        </p:nvSpPr>
        <p:spPr>
          <a:xfrm>
            <a:off x="825500" y="2583855"/>
            <a:ext cx="0" cy="462756"/>
          </a:xfrm>
          <a:prstGeom prst="line">
            <a:avLst/>
          </a:prstGeom>
          <a:noFill/>
          <a:ln w="25400">
            <a:solidFill>
              <a:srgbClr val="FBBF24"/>
            </a:solidFill>
            <a:prstDash val="solid"/>
          </a:ln>
        </p:spPr>
        <p:txBody>
          <a:bodyPr/>
          <a:p/>
        </p:txBody>
      </p:sp>
      <p:sp>
        <p:nvSpPr>
          <p:cNvPr id="7" name="Text 5"/>
          <p:cNvSpPr/>
          <p:nvPr/>
        </p:nvSpPr>
        <p:spPr>
          <a:xfrm>
            <a:off x="965200" y="2583855"/>
            <a:ext cx="3871976" cy="488156"/>
          </a:xfrm>
          <a:prstGeom prst="rect">
            <a:avLst/>
          </a:prstGeom>
          <a:noFill/>
          <a:ln/>
        </p:spPr>
        <p:txBody>
          <a:bodyPr wrap="square" lIns="0" tIns="0" rIns="0" bIns="0" rtlCol="0" anchor="t">
            <a:normAutofit/>
          </a:bodyPr>
          <a:lstStyle/>
          <a:p>
            <a:pPr algn="l" indent="0" marL="0">
              <a:lnSpc>
                <a:spcPts val="1823"/>
              </a:lnSpc>
              <a:buNone/>
            </a:pPr>
            <a:r>
              <a:rPr lang="en-US" sz="1350" b="1" dirty="0">
                <a:solidFill>
                  <a:srgbClr val="D5D9E0"/>
                </a:solidFill>
                <a:latin typeface="DM Sans" pitchFamily="34" charset="0"/>
                <a:ea typeface="DM Sans" pitchFamily="34" charset="-122"/>
                <a:cs typeface="DM Sans" pitchFamily="34" charset="-120"/>
              </a:rPr>
              <a:t>Lápis</a:t>
            </a:r>
            <a:r>
              <a:rPr lang="en-US" sz="1350" dirty="0">
                <a:solidFill>
                  <a:srgbClr val="D5D9E0"/>
                </a:solidFill>
                <a:latin typeface="DM Sans" pitchFamily="34" charset="0"/>
                <a:ea typeface="DM Sans" pitchFamily="34" charset="-122"/>
                <a:cs typeface="DM Sans" pitchFamily="34" charset="-120"/>
              </a:rPr>
              <a:t>: digite uma senha nova, salve e passe a ela. </a:t>
            </a:r>
            <a:r>
              <a:rPr lang="en-US" sz="1350" b="1" dirty="0">
                <a:solidFill>
                  <a:srgbClr val="D5D9E0"/>
                </a:solidFill>
                <a:latin typeface="DM Sans" pitchFamily="34" charset="0"/>
                <a:ea typeface="DM Sans" pitchFamily="34" charset="-122"/>
                <a:cs typeface="DM Sans" pitchFamily="34" charset="-120"/>
              </a:rPr>
              <a:t>O X</a:t>
            </a:r>
            <a:r>
              <a:rPr lang="en-US" sz="1350" dirty="0">
                <a:solidFill>
                  <a:srgbClr val="D5D9E0"/>
                </a:solidFill>
                <a:latin typeface="DM Sans" pitchFamily="34" charset="0"/>
                <a:ea typeface="DM Sans" pitchFamily="34" charset="-122"/>
                <a:cs typeface="DM Sans" pitchFamily="34" charset="-120"/>
              </a:rPr>
              <a:t> dispensa o pedido.</a:t>
            </a:r>
            <a:endParaRPr lang="en-US" sz="1350" dirty="0"/>
          </a:p>
        </p:txBody>
      </p:sp>
      <p:sp>
        <p:nvSpPr>
          <p:cNvPr id="8" name="Shape 6"/>
          <p:cNvSpPr/>
          <p:nvPr/>
        </p:nvSpPr>
        <p:spPr>
          <a:xfrm>
            <a:off x="825500" y="3186311"/>
            <a:ext cx="0" cy="462756"/>
          </a:xfrm>
          <a:prstGeom prst="line">
            <a:avLst/>
          </a:prstGeom>
          <a:noFill/>
          <a:ln w="25400">
            <a:solidFill>
              <a:srgbClr val="FBBF24"/>
            </a:solidFill>
            <a:prstDash val="solid"/>
          </a:ln>
        </p:spPr>
        <p:txBody>
          <a:bodyPr/>
          <a:p/>
        </p:txBody>
      </p:sp>
      <p:sp>
        <p:nvSpPr>
          <p:cNvPr id="9" name="Text 7"/>
          <p:cNvSpPr/>
          <p:nvPr/>
        </p:nvSpPr>
        <p:spPr>
          <a:xfrm>
            <a:off x="965200" y="3186311"/>
            <a:ext cx="3871976" cy="488156"/>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D5D9E0"/>
                </a:solidFill>
                <a:latin typeface="DM Sans" pitchFamily="34" charset="0"/>
                <a:ea typeface="DM Sans" pitchFamily="34" charset="-122"/>
                <a:cs typeface="DM Sans" pitchFamily="34" charset="-120"/>
              </a:rPr>
              <a:t>Gerente atende pedidos de Vendedores; Diretor, de todos menos Sócios.</a:t>
            </a:r>
            <a:endParaRPr lang="en-US" sz="1350" dirty="0"/>
          </a:p>
        </p:txBody>
      </p:sp>
      <p:sp>
        <p:nvSpPr>
          <p:cNvPr id="10" name="Shape 8"/>
          <p:cNvSpPr/>
          <p:nvPr/>
        </p:nvSpPr>
        <p:spPr>
          <a:xfrm>
            <a:off x="825500" y="3788767"/>
            <a:ext cx="0" cy="694134"/>
          </a:xfrm>
          <a:prstGeom prst="line">
            <a:avLst/>
          </a:prstGeom>
          <a:noFill/>
          <a:ln w="25400">
            <a:solidFill>
              <a:srgbClr val="FBBF24"/>
            </a:solidFill>
            <a:prstDash val="solid"/>
          </a:ln>
        </p:spPr>
        <p:txBody>
          <a:bodyPr/>
          <a:p/>
        </p:txBody>
      </p:sp>
      <p:sp>
        <p:nvSpPr>
          <p:cNvPr id="11" name="Text 9"/>
          <p:cNvSpPr/>
          <p:nvPr/>
        </p:nvSpPr>
        <p:spPr>
          <a:xfrm>
            <a:off x="965200" y="3788767"/>
            <a:ext cx="3871976" cy="719534"/>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D5D9E0"/>
                </a:solidFill>
                <a:latin typeface="DM Sans" pitchFamily="34" charset="0"/>
                <a:ea typeface="DM Sans" pitchFamily="34" charset="-122"/>
                <a:cs typeface="DM Sans" pitchFamily="34" charset="-120"/>
              </a:rPr>
              <a:t>Não existe senha padrão. Cada senha é só da pessoa, que cria a própria no </a:t>
            </a:r>
            <a:r>
              <a:rPr lang="en-US" sz="1350" b="1" dirty="0">
                <a:solidFill>
                  <a:srgbClr val="D5D9E0"/>
                </a:solidFill>
                <a:latin typeface="DM Sans" pitchFamily="34" charset="0"/>
                <a:ea typeface="DM Sans" pitchFamily="34" charset="-122"/>
                <a:cs typeface="DM Sans" pitchFamily="34" charset="-120"/>
              </a:rPr>
              <a:t>primeiro acesso</a:t>
            </a:r>
            <a:r>
              <a:rPr lang="en-US" sz="1350" dirty="0">
                <a:solidFill>
                  <a:srgbClr val="D5D9E0"/>
                </a:solidFill>
                <a:latin typeface="DM Sans" pitchFamily="34" charset="0"/>
                <a:ea typeface="DM Sans" pitchFamily="34" charset="-122"/>
                <a:cs typeface="DM Sans" pitchFamily="34" charset="-120"/>
              </a:rPr>
              <a:t>.</a:t>
            </a:r>
            <a:endParaRPr lang="en-US" sz="1350" dirty="0"/>
          </a:p>
        </p:txBody>
      </p:sp>
      <p:pic>
        <p:nvPicPr>
          <p:cNvPr id="12" name="Image 0" descr="Aba Usuários com o aviso de pedidos e a linha de quem pediu destacada">    </p:cNvPr>
          <p:cNvPicPr>
            <a:picLocks noChangeAspect="1"/>
          </p:cNvPicPr>
          <p:nvPr/>
        </p:nvPicPr>
        <p:blipFill>
          <a:blip r:embed="rId1"/>
          <a:srcRect l="0" r="0" t="0" b="0"/>
          <a:stretch/>
        </p:blipFill>
        <p:spPr>
          <a:xfrm>
            <a:off x="5086350" y="1756370"/>
            <a:ext cx="6286500" cy="2400300"/>
          </a:xfrm>
          <a:prstGeom prst="roundRect">
            <a:avLst>
              <a:gd name="adj" fmla="val 3968"/>
            </a:avLst>
          </a:prstGeom>
        </p:spPr>
      </p:pic>
      <p:sp>
        <p:nvSpPr>
          <p:cNvPr id="13" name="Shape 10"/>
          <p:cNvSpPr/>
          <p:nvPr/>
        </p:nvSpPr>
        <p:spPr>
          <a:xfrm>
            <a:off x="5083175" y="1753195"/>
            <a:ext cx="6292850" cy="2406650"/>
          </a:xfrm>
          <a:prstGeom prst="roundRect">
            <a:avLst>
              <a:gd name="adj" fmla="val 4090"/>
            </a:avLst>
          </a:prstGeom>
          <a:noFill/>
          <a:ln w="6350">
            <a:solidFill>
              <a:srgbClr val="282836"/>
            </a:solidFill>
            <a:prstDash val="solid"/>
          </a:ln>
        </p:spPr>
        <p:txBody>
          <a:bodyPr/>
          <a:p/>
        </p:txBody>
      </p:sp>
      <p:sp>
        <p:nvSpPr>
          <p:cNvPr id="14" name="Shape 11"/>
          <p:cNvSpPr/>
          <p:nvPr/>
        </p:nvSpPr>
        <p:spPr>
          <a:xfrm>
            <a:off x="5080000" y="4290020"/>
            <a:ext cx="6299200" cy="1397000"/>
          </a:xfrm>
          <a:prstGeom prst="roundRect">
            <a:avLst>
              <a:gd name="adj" fmla="val 7273"/>
            </a:avLst>
          </a:prstGeom>
          <a:solidFill>
            <a:srgbClr val="15151C"/>
          </a:solidFill>
          <a:ln/>
        </p:spPr>
        <p:txBody>
          <a:bodyPr/>
          <a:p/>
        </p:txBody>
      </p:sp>
      <p:pic>
        <p:nvPicPr>
          <p:cNvPr id="15" name="Image 1" descr="Confirmação Dispensar pedido">    </p:cNvPr>
          <p:cNvPicPr>
            <a:picLocks noChangeAspect="1"/>
          </p:cNvPicPr>
          <p:nvPr/>
        </p:nvPicPr>
        <p:blipFill>
          <a:blip r:embed="rId2"/>
          <a:stretch>
            <a:fillRect/>
          </a:stretch>
        </p:blipFill>
        <p:spPr>
          <a:xfrm>
            <a:off x="6962920" y="4296370"/>
            <a:ext cx="2533359" cy="1384300"/>
          </a:xfrm>
          <a:prstGeom prst="rect">
            <a:avLst/>
          </a:prstGeom>
        </p:spPr>
      </p:pic>
      <p:sp>
        <p:nvSpPr>
          <p:cNvPr id="16" name="Shape 12"/>
          <p:cNvSpPr/>
          <p:nvPr/>
        </p:nvSpPr>
        <p:spPr>
          <a:xfrm>
            <a:off x="5083175" y="4293195"/>
            <a:ext cx="6292850" cy="1390650"/>
          </a:xfrm>
          <a:prstGeom prst="roundRect">
            <a:avLst>
              <a:gd name="adj" fmla="val 7078"/>
            </a:avLst>
          </a:prstGeom>
          <a:noFill/>
          <a:ln w="6350">
            <a:solidFill>
              <a:srgbClr val="282836"/>
            </a:solidFill>
            <a:prstDash val="solid"/>
          </a:ln>
        </p:spPr>
        <p:txBody>
          <a:bodyPr/>
          <a:p/>
        </p:txBody>
      </p:sp>
      <p:sp>
        <p:nvSpPr>
          <p:cNvPr id="17"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0FF66"/>
        </a:solidFill>
      </p:bgPr>
    </p:bg>
    <p:spTree>
      <p:nvGrpSpPr>
        <p:cNvPr id="1" name=""/>
        <p:cNvGrpSpPr/>
        <p:nvPr/>
      </p:nvGrpSpPr>
      <p:grpSpPr>
        <a:xfrm>
          <a:off x="0" y="0"/>
          <a:ext cx="0" cy="0"/>
          <a:chOff x="0" y="0"/>
          <a:chExt cx="0" cy="0"/>
        </a:xfrm>
      </p:grpSpPr>
      <p:sp>
        <p:nvSpPr>
          <p:cNvPr id="2" name="Text 0"/>
          <p:cNvSpPr/>
          <p:nvPr/>
        </p:nvSpPr>
        <p:spPr>
          <a:xfrm>
            <a:off x="812800" y="24181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04120A"/>
                </a:solidFill>
                <a:latin typeface="DM Sans" pitchFamily="34" charset="0"/>
                <a:ea typeface="DM Sans" pitchFamily="34" charset="-122"/>
                <a:cs typeface="DM Sans" pitchFamily="34" charset="-120"/>
              </a:rPr>
              <a:t>PARTE 4</a:t>
            </a:r>
            <a:endParaRPr lang="en-US" sz="1400" dirty="0"/>
          </a:p>
        </p:txBody>
      </p:sp>
      <p:sp>
        <p:nvSpPr>
          <p:cNvPr id="3" name="Text 1"/>
          <p:cNvSpPr/>
          <p:nvPr/>
        </p:nvSpPr>
        <p:spPr>
          <a:xfrm>
            <a:off x="812800" y="2844800"/>
            <a:ext cx="10883392" cy="802580"/>
          </a:xfrm>
          <a:prstGeom prst="rect">
            <a:avLst/>
          </a:prstGeom>
          <a:noFill/>
          <a:ln/>
        </p:spPr>
        <p:txBody>
          <a:bodyPr wrap="square" lIns="0" tIns="0" rIns="0" bIns="0" rtlCol="0" anchor="t">
            <a:normAutofit/>
          </a:bodyPr>
          <a:lstStyle/>
          <a:p>
            <a:pPr algn="l" indent="0" marL="0">
              <a:lnSpc>
                <a:spcPts val="6120"/>
              </a:lnSpc>
              <a:buNone/>
            </a:pPr>
            <a:r>
              <a:rPr lang="en-US" sz="6000" b="1" dirty="0">
                <a:solidFill>
                  <a:srgbClr val="04120A"/>
                </a:solidFill>
                <a:latin typeface="Space Grotesk" pitchFamily="34" charset="0"/>
                <a:ea typeface="Space Grotesk" pitchFamily="34" charset="-122"/>
                <a:cs typeface="Space Grotesk" pitchFamily="34" charset="-120"/>
              </a:rPr>
              <a:t>Baú: o estoque de insumos</a:t>
            </a:r>
            <a:endParaRPr lang="en-US" sz="6000" dirty="0"/>
          </a:p>
        </p:txBody>
      </p:sp>
      <p:sp>
        <p:nvSpPr>
          <p:cNvPr id="4" name="Text 2"/>
          <p:cNvSpPr/>
          <p:nvPr/>
        </p:nvSpPr>
        <p:spPr>
          <a:xfrm>
            <a:off x="812800" y="3799780"/>
            <a:ext cx="8502650" cy="665361"/>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0B2A17"/>
                </a:solidFill>
                <a:latin typeface="DM Sans" pitchFamily="34" charset="0"/>
                <a:ea typeface="DM Sans" pitchFamily="34" charset="-122"/>
                <a:cs typeface="DM Sans" pitchFamily="34" charset="-120"/>
              </a:rPr>
              <a:t>Vendas no Caixa nunca mexem no Baú. Ele só muda com compras, produções e ajustes.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BAÚ</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Como ler a tela do Baú</a:t>
            </a:r>
            <a:endParaRPr lang="en-US" sz="3000" dirty="0"/>
          </a:p>
        </p:txBody>
      </p:sp>
      <p:sp>
        <p:nvSpPr>
          <p:cNvPr id="4" name="Shape 2"/>
          <p:cNvSpPr/>
          <p:nvPr/>
        </p:nvSpPr>
        <p:spPr>
          <a:xfrm>
            <a:off x="812800" y="1750020"/>
            <a:ext cx="304800" cy="304800"/>
          </a:xfrm>
          <a:prstGeom prst="roundRect">
            <a:avLst>
              <a:gd name="adj" fmla="val 50000"/>
            </a:avLst>
          </a:prstGeom>
          <a:solidFill>
            <a:srgbClr val="00FF66"/>
          </a:solidFill>
          <a:ln/>
        </p:spPr>
        <p:txBody>
          <a:bodyPr/>
          <a:p/>
        </p:txBody>
      </p:sp>
      <p:sp>
        <p:nvSpPr>
          <p:cNvPr id="5" name="Text 3"/>
          <p:cNvSpPr/>
          <p:nvPr/>
        </p:nvSpPr>
        <p:spPr>
          <a:xfrm>
            <a:off x="787400" y="17500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1</a:t>
            </a:r>
            <a:endParaRPr lang="en-US" sz="1200" dirty="0"/>
          </a:p>
        </p:txBody>
      </p:sp>
      <p:sp>
        <p:nvSpPr>
          <p:cNvPr id="6" name="Text 4"/>
          <p:cNvSpPr/>
          <p:nvPr/>
        </p:nvSpPr>
        <p:spPr>
          <a:xfrm>
            <a:off x="1244600" y="1750020"/>
            <a:ext cx="3584194" cy="33020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D5D9E0"/>
                </a:solidFill>
                <a:latin typeface="DM Sans" pitchFamily="34" charset="0"/>
                <a:ea typeface="DM Sans" pitchFamily="34" charset="-122"/>
                <a:cs typeface="DM Sans" pitchFamily="34" charset="-120"/>
              </a:rPr>
              <a:t>Nova compra</a:t>
            </a:r>
            <a:r>
              <a:rPr lang="en-US" sz="1400" dirty="0">
                <a:solidFill>
                  <a:srgbClr val="D5D9E0"/>
                </a:solidFill>
                <a:latin typeface="DM Sans" pitchFamily="34" charset="0"/>
                <a:ea typeface="DM Sans" pitchFamily="34" charset="-122"/>
                <a:cs typeface="DM Sans" pitchFamily="34" charset="-120"/>
              </a:rPr>
              <a:t> e </a:t>
            </a:r>
            <a:r>
              <a:rPr lang="en-US" sz="1400" b="1" dirty="0">
                <a:solidFill>
                  <a:srgbClr val="D5D9E0"/>
                </a:solidFill>
                <a:latin typeface="DM Sans" pitchFamily="34" charset="0"/>
                <a:ea typeface="DM Sans" pitchFamily="34" charset="-122"/>
                <a:cs typeface="DM Sans" pitchFamily="34" charset="-120"/>
              </a:rPr>
              <a:t>Produzir</a:t>
            </a:r>
            <a:r>
              <a:rPr lang="en-US" sz="1400" dirty="0">
                <a:solidFill>
                  <a:srgbClr val="D5D9E0"/>
                </a:solidFill>
                <a:latin typeface="DM Sans" pitchFamily="34" charset="0"/>
                <a:ea typeface="DM Sans" pitchFamily="34" charset="-122"/>
                <a:cs typeface="DM Sans" pitchFamily="34" charset="-120"/>
              </a:rPr>
              <a:t> ficam no topo.</a:t>
            </a:r>
            <a:endParaRPr lang="en-US" sz="1400" dirty="0"/>
          </a:p>
        </p:txBody>
      </p:sp>
      <p:sp>
        <p:nvSpPr>
          <p:cNvPr id="7" name="Shape 5"/>
          <p:cNvSpPr/>
          <p:nvPr/>
        </p:nvSpPr>
        <p:spPr>
          <a:xfrm>
            <a:off x="812800" y="2207220"/>
            <a:ext cx="304800" cy="304800"/>
          </a:xfrm>
          <a:prstGeom prst="roundRect">
            <a:avLst>
              <a:gd name="adj" fmla="val 50000"/>
            </a:avLst>
          </a:prstGeom>
          <a:solidFill>
            <a:srgbClr val="00FF66"/>
          </a:solidFill>
          <a:ln/>
        </p:spPr>
        <p:txBody>
          <a:bodyPr/>
          <a:p/>
        </p:txBody>
      </p:sp>
      <p:sp>
        <p:nvSpPr>
          <p:cNvPr id="8" name="Text 6"/>
          <p:cNvSpPr/>
          <p:nvPr/>
        </p:nvSpPr>
        <p:spPr>
          <a:xfrm>
            <a:off x="787400" y="22072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2</a:t>
            </a:r>
            <a:endParaRPr lang="en-US" sz="1200" dirty="0"/>
          </a:p>
        </p:txBody>
      </p:sp>
      <p:sp>
        <p:nvSpPr>
          <p:cNvPr id="9" name="Text 7"/>
          <p:cNvSpPr/>
          <p:nvPr/>
        </p:nvSpPr>
        <p:spPr>
          <a:xfrm>
            <a:off x="1244600" y="2207220"/>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A </a:t>
            </a:r>
            <a:r>
              <a:rPr lang="en-US" sz="1400" b="1" dirty="0">
                <a:solidFill>
                  <a:srgbClr val="D5D9E0"/>
                </a:solidFill>
                <a:latin typeface="DM Sans" pitchFamily="34" charset="0"/>
                <a:ea typeface="DM Sans" pitchFamily="34" charset="-122"/>
                <a:cs typeface="DM Sans" pitchFamily="34" charset="-120"/>
              </a:rPr>
              <a:t>faixa vermelha</a:t>
            </a:r>
            <a:r>
              <a:rPr lang="en-US" sz="1400" dirty="0">
                <a:solidFill>
                  <a:srgbClr val="D5D9E0"/>
                </a:solidFill>
                <a:latin typeface="DM Sans" pitchFamily="34" charset="0"/>
                <a:ea typeface="DM Sans" pitchFamily="34" charset="-122"/>
                <a:cs typeface="DM Sans" pitchFamily="34" charset="-120"/>
              </a:rPr>
              <a:t> lista os itens que chegaram ao estoque mínimo.</a:t>
            </a:r>
            <a:endParaRPr lang="en-US" sz="1400" dirty="0"/>
          </a:p>
        </p:txBody>
      </p:sp>
      <p:sp>
        <p:nvSpPr>
          <p:cNvPr id="10" name="Shape 8"/>
          <p:cNvSpPr/>
          <p:nvPr/>
        </p:nvSpPr>
        <p:spPr>
          <a:xfrm>
            <a:off x="812800" y="2839641"/>
            <a:ext cx="304800" cy="304800"/>
          </a:xfrm>
          <a:prstGeom prst="roundRect">
            <a:avLst>
              <a:gd name="adj" fmla="val 50000"/>
            </a:avLst>
          </a:prstGeom>
          <a:solidFill>
            <a:srgbClr val="00FF66"/>
          </a:solidFill>
          <a:ln/>
        </p:spPr>
        <p:txBody>
          <a:bodyPr/>
          <a:p/>
        </p:txBody>
      </p:sp>
      <p:sp>
        <p:nvSpPr>
          <p:cNvPr id="11" name="Text 9"/>
          <p:cNvSpPr/>
          <p:nvPr/>
        </p:nvSpPr>
        <p:spPr>
          <a:xfrm>
            <a:off x="787400" y="283964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3</a:t>
            </a:r>
            <a:endParaRPr lang="en-US" sz="1200" dirty="0"/>
          </a:p>
        </p:txBody>
      </p:sp>
      <p:sp>
        <p:nvSpPr>
          <p:cNvPr id="12" name="Text 10"/>
          <p:cNvSpPr/>
          <p:nvPr/>
        </p:nvSpPr>
        <p:spPr>
          <a:xfrm>
            <a:off x="1244600" y="2839641"/>
            <a:ext cx="35841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Cada </a:t>
            </a:r>
            <a:r>
              <a:rPr lang="en-US" sz="1400" b="1" dirty="0">
                <a:solidFill>
                  <a:srgbClr val="D5D9E0"/>
                </a:solidFill>
                <a:latin typeface="DM Sans" pitchFamily="34" charset="0"/>
                <a:ea typeface="DM Sans" pitchFamily="34" charset="-122"/>
                <a:cs typeface="DM Sans" pitchFamily="34" charset="-120"/>
              </a:rPr>
              <a:t>cartão</a:t>
            </a:r>
            <a:r>
              <a:rPr lang="en-US" sz="1400" dirty="0">
                <a:solidFill>
                  <a:srgbClr val="D5D9E0"/>
                </a:solidFill>
                <a:latin typeface="DM Sans" pitchFamily="34" charset="0"/>
                <a:ea typeface="DM Sans" pitchFamily="34" charset="-122"/>
                <a:cs typeface="DM Sans" pitchFamily="34" charset="-120"/>
              </a:rPr>
              <a:t> mostra o saldo, a categoria e o mínimo. Borda vermelha: hora de comprar.</a:t>
            </a:r>
            <a:endParaRPr lang="en-US" sz="1400" dirty="0"/>
          </a:p>
        </p:txBody>
      </p:sp>
      <p:sp>
        <p:nvSpPr>
          <p:cNvPr id="13" name="Shape 11"/>
          <p:cNvSpPr/>
          <p:nvPr/>
        </p:nvSpPr>
        <p:spPr>
          <a:xfrm>
            <a:off x="812800" y="3712071"/>
            <a:ext cx="304800" cy="304800"/>
          </a:xfrm>
          <a:prstGeom prst="roundRect">
            <a:avLst>
              <a:gd name="adj" fmla="val 50000"/>
            </a:avLst>
          </a:prstGeom>
          <a:solidFill>
            <a:srgbClr val="00FF66"/>
          </a:solidFill>
          <a:ln/>
        </p:spPr>
        <p:txBody>
          <a:bodyPr/>
          <a:p/>
        </p:txBody>
      </p:sp>
      <p:sp>
        <p:nvSpPr>
          <p:cNvPr id="14" name="Text 12"/>
          <p:cNvSpPr/>
          <p:nvPr/>
        </p:nvSpPr>
        <p:spPr>
          <a:xfrm>
            <a:off x="787400" y="371207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4</a:t>
            </a:r>
            <a:endParaRPr lang="en-US" sz="1200" dirty="0"/>
          </a:p>
        </p:txBody>
      </p:sp>
      <p:sp>
        <p:nvSpPr>
          <p:cNvPr id="15" name="Text 13"/>
          <p:cNvSpPr/>
          <p:nvPr/>
        </p:nvSpPr>
        <p:spPr>
          <a:xfrm>
            <a:off x="1244600" y="3712071"/>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Embaixo, o </a:t>
            </a:r>
            <a:r>
              <a:rPr lang="en-US" sz="1400" b="1" dirty="0">
                <a:solidFill>
                  <a:srgbClr val="D5D9E0"/>
                </a:solidFill>
                <a:latin typeface="DM Sans" pitchFamily="34" charset="0"/>
                <a:ea typeface="DM Sans" pitchFamily="34" charset="-122"/>
                <a:cs typeface="DM Sans" pitchFamily="34" charset="-120"/>
              </a:rPr>
              <a:t>livro de movimentações</a:t>
            </a:r>
            <a:r>
              <a:rPr lang="en-US" sz="1400" dirty="0">
                <a:solidFill>
                  <a:srgbClr val="D5D9E0"/>
                </a:solidFill>
                <a:latin typeface="DM Sans" pitchFamily="34" charset="0"/>
                <a:ea typeface="DM Sans" pitchFamily="34" charset="-122"/>
                <a:cs typeface="DM Sans" pitchFamily="34" charset="-120"/>
              </a:rPr>
              <a:t> registra tudo que entrou e saiu.</a:t>
            </a:r>
            <a:endParaRPr lang="en-US" sz="1400" dirty="0"/>
          </a:p>
        </p:txBody>
      </p:sp>
      <p:sp>
        <p:nvSpPr>
          <p:cNvPr id="16" name="Shape 14"/>
          <p:cNvSpPr/>
          <p:nvPr/>
        </p:nvSpPr>
        <p:spPr>
          <a:xfrm>
            <a:off x="5080000" y="1750020"/>
            <a:ext cx="6299200" cy="3937000"/>
          </a:xfrm>
          <a:prstGeom prst="roundRect">
            <a:avLst>
              <a:gd name="adj" fmla="val 2581"/>
            </a:avLst>
          </a:prstGeom>
          <a:solidFill>
            <a:srgbClr val="15151C"/>
          </a:solidFill>
          <a:ln/>
        </p:spPr>
        <p:txBody>
          <a:bodyPr/>
          <a:p/>
        </p:txBody>
      </p:sp>
      <p:pic>
        <p:nvPicPr>
          <p:cNvPr id="17" name="Image 0" descr="Tela do Baú com alerta de mínimo, cartões de saldo e livro de movimentações">    </p:cNvPr>
          <p:cNvPicPr>
            <a:picLocks noChangeAspect="1"/>
          </p:cNvPicPr>
          <p:nvPr/>
        </p:nvPicPr>
        <p:blipFill>
          <a:blip r:embed="rId1"/>
          <a:srcRect l="-61" r="-61" t="0" b="0"/>
          <a:stretch/>
        </p:blipFill>
        <p:spPr>
          <a:xfrm>
            <a:off x="5086350" y="1756370"/>
            <a:ext cx="6286500" cy="3924300"/>
          </a:xfrm>
          <a:prstGeom prst="roundRect">
            <a:avLst>
              <a:gd name="adj" fmla="val 2427"/>
            </a:avLst>
          </a:prstGeom>
        </p:spPr>
      </p:pic>
      <p:sp>
        <p:nvSpPr>
          <p:cNvPr id="18" name="Shape 15"/>
          <p:cNvSpPr/>
          <p:nvPr/>
        </p:nvSpPr>
        <p:spPr>
          <a:xfrm>
            <a:off x="5083175" y="1753195"/>
            <a:ext cx="6292850" cy="3930650"/>
          </a:xfrm>
          <a:prstGeom prst="roundRect">
            <a:avLst>
              <a:gd name="adj" fmla="val 2504"/>
            </a:avLst>
          </a:prstGeom>
          <a:noFill/>
          <a:ln w="6350">
            <a:solidFill>
              <a:srgbClr val="282836"/>
            </a:solidFill>
            <a:prstDash val="solid"/>
          </a:ln>
        </p:spPr>
        <p:txBody>
          <a:bodyPr/>
          <a:p/>
        </p:txBody>
      </p:sp>
      <p:sp>
        <p:nvSpPr>
          <p:cNvPr id="19"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18</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BAÚ</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Registrar uma compra</a:t>
            </a:r>
            <a:endParaRPr lang="en-US" sz="3000" dirty="0"/>
          </a:p>
        </p:txBody>
      </p:sp>
      <p:sp>
        <p:nvSpPr>
          <p:cNvPr id="4" name="Shape 2"/>
          <p:cNvSpPr/>
          <p:nvPr/>
        </p:nvSpPr>
        <p:spPr>
          <a:xfrm>
            <a:off x="812800" y="1750020"/>
            <a:ext cx="304800" cy="304800"/>
          </a:xfrm>
          <a:prstGeom prst="roundRect">
            <a:avLst>
              <a:gd name="adj" fmla="val 50000"/>
            </a:avLst>
          </a:prstGeom>
          <a:solidFill>
            <a:srgbClr val="00FF66"/>
          </a:solidFill>
          <a:ln/>
        </p:spPr>
        <p:txBody>
          <a:bodyPr/>
          <a:p/>
        </p:txBody>
      </p:sp>
      <p:sp>
        <p:nvSpPr>
          <p:cNvPr id="5" name="Text 3"/>
          <p:cNvSpPr/>
          <p:nvPr/>
        </p:nvSpPr>
        <p:spPr>
          <a:xfrm>
            <a:off x="787400" y="17500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1</a:t>
            </a:r>
            <a:endParaRPr lang="en-US" sz="1200" dirty="0"/>
          </a:p>
        </p:txBody>
      </p:sp>
      <p:sp>
        <p:nvSpPr>
          <p:cNvPr id="6" name="Text 4"/>
          <p:cNvSpPr/>
          <p:nvPr/>
        </p:nvSpPr>
        <p:spPr>
          <a:xfrm>
            <a:off x="1244600" y="1750020"/>
            <a:ext cx="3584194" cy="33020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No Baú, toque em </a:t>
            </a:r>
            <a:r>
              <a:rPr lang="en-US" sz="1400" b="1" dirty="0">
                <a:solidFill>
                  <a:srgbClr val="D5D9E0"/>
                </a:solidFill>
                <a:latin typeface="DM Sans" pitchFamily="34" charset="0"/>
                <a:ea typeface="DM Sans" pitchFamily="34" charset="-122"/>
                <a:cs typeface="DM Sans" pitchFamily="34" charset="-120"/>
              </a:rPr>
              <a:t>Nova compra</a:t>
            </a:r>
            <a:r>
              <a:rPr lang="en-US" sz="1400" dirty="0">
                <a:solidFill>
                  <a:srgbClr val="D5D9E0"/>
                </a:solidFill>
                <a:latin typeface="DM Sans" pitchFamily="34" charset="0"/>
                <a:ea typeface="DM Sans" pitchFamily="34" charset="-122"/>
                <a:cs typeface="DM Sans" pitchFamily="34" charset="-120"/>
              </a:rPr>
              <a:t>.</a:t>
            </a:r>
            <a:endParaRPr lang="en-US" sz="1400" dirty="0"/>
          </a:p>
        </p:txBody>
      </p:sp>
      <p:sp>
        <p:nvSpPr>
          <p:cNvPr id="7" name="Shape 5"/>
          <p:cNvSpPr/>
          <p:nvPr/>
        </p:nvSpPr>
        <p:spPr>
          <a:xfrm>
            <a:off x="812800" y="2207220"/>
            <a:ext cx="304800" cy="304800"/>
          </a:xfrm>
          <a:prstGeom prst="roundRect">
            <a:avLst>
              <a:gd name="adj" fmla="val 50000"/>
            </a:avLst>
          </a:prstGeom>
          <a:solidFill>
            <a:srgbClr val="00FF66"/>
          </a:solidFill>
          <a:ln/>
        </p:spPr>
        <p:txBody>
          <a:bodyPr/>
          <a:p/>
        </p:txBody>
      </p:sp>
      <p:sp>
        <p:nvSpPr>
          <p:cNvPr id="8" name="Text 6"/>
          <p:cNvSpPr/>
          <p:nvPr/>
        </p:nvSpPr>
        <p:spPr>
          <a:xfrm>
            <a:off x="787400" y="22072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2</a:t>
            </a:r>
            <a:endParaRPr lang="en-US" sz="1200" dirty="0"/>
          </a:p>
        </p:txBody>
      </p:sp>
      <p:sp>
        <p:nvSpPr>
          <p:cNvPr id="9" name="Text 7"/>
          <p:cNvSpPr/>
          <p:nvPr/>
        </p:nvSpPr>
        <p:spPr>
          <a:xfrm>
            <a:off x="1244600" y="2207220"/>
            <a:ext cx="35841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Em </a:t>
            </a:r>
            <a:r>
              <a:rPr lang="en-US" sz="1400" b="1" dirty="0">
                <a:solidFill>
                  <a:srgbClr val="D5D9E0"/>
                </a:solidFill>
                <a:latin typeface="DM Sans" pitchFamily="34" charset="0"/>
                <a:ea typeface="DM Sans" pitchFamily="34" charset="-122"/>
                <a:cs typeface="DM Sans" pitchFamily="34" charset="-120"/>
              </a:rPr>
              <a:t>Item</a:t>
            </a:r>
            <a:r>
              <a:rPr lang="en-US" sz="1400" dirty="0">
                <a:solidFill>
                  <a:srgbClr val="D5D9E0"/>
                </a:solidFill>
                <a:latin typeface="DM Sans" pitchFamily="34" charset="0"/>
                <a:ea typeface="DM Sans" pitchFamily="34" charset="-122"/>
                <a:cs typeface="DM Sans" pitchFamily="34" charset="-120"/>
              </a:rPr>
              <a:t>, digite ou escolha. Item do cadastro fica Automático: escolha o fornecedor e o valor vem travado.</a:t>
            </a:r>
            <a:endParaRPr lang="en-US" sz="1400" dirty="0"/>
          </a:p>
        </p:txBody>
      </p:sp>
      <p:sp>
        <p:nvSpPr>
          <p:cNvPr id="10" name="Shape 8"/>
          <p:cNvSpPr/>
          <p:nvPr/>
        </p:nvSpPr>
        <p:spPr>
          <a:xfrm>
            <a:off x="812800" y="3079651"/>
            <a:ext cx="304800" cy="304800"/>
          </a:xfrm>
          <a:prstGeom prst="roundRect">
            <a:avLst>
              <a:gd name="adj" fmla="val 50000"/>
            </a:avLst>
          </a:prstGeom>
          <a:solidFill>
            <a:srgbClr val="00FF66"/>
          </a:solidFill>
          <a:ln/>
        </p:spPr>
        <p:txBody>
          <a:bodyPr/>
          <a:p/>
        </p:txBody>
      </p:sp>
      <p:sp>
        <p:nvSpPr>
          <p:cNvPr id="11" name="Text 9"/>
          <p:cNvSpPr/>
          <p:nvPr/>
        </p:nvSpPr>
        <p:spPr>
          <a:xfrm>
            <a:off x="787400" y="307965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3</a:t>
            </a:r>
            <a:endParaRPr lang="en-US" sz="1200" dirty="0"/>
          </a:p>
        </p:txBody>
      </p:sp>
      <p:sp>
        <p:nvSpPr>
          <p:cNvPr id="12" name="Text 10"/>
          <p:cNvSpPr/>
          <p:nvPr/>
        </p:nvSpPr>
        <p:spPr>
          <a:xfrm>
            <a:off x="1244600" y="3079651"/>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Item fora do cadastro fica </a:t>
            </a:r>
            <a:r>
              <a:rPr lang="en-US" sz="1400" b="1" dirty="0">
                <a:solidFill>
                  <a:srgbClr val="D5D9E0"/>
                </a:solidFill>
                <a:latin typeface="DM Sans" pitchFamily="34" charset="0"/>
                <a:ea typeface="DM Sans" pitchFamily="34" charset="-122"/>
                <a:cs typeface="DM Sans" pitchFamily="34" charset="-120"/>
              </a:rPr>
              <a:t>Manual</a:t>
            </a:r>
            <a:r>
              <a:rPr lang="en-US" sz="1400" dirty="0">
                <a:solidFill>
                  <a:srgbClr val="D5D9E0"/>
                </a:solidFill>
                <a:latin typeface="DM Sans" pitchFamily="34" charset="0"/>
                <a:ea typeface="DM Sans" pitchFamily="34" charset="-122"/>
                <a:cs typeface="DM Sans" pitchFamily="34" charset="-120"/>
              </a:rPr>
              <a:t>: digite fornecedor e valor.</a:t>
            </a:r>
            <a:endParaRPr lang="en-US" sz="1400" dirty="0"/>
          </a:p>
        </p:txBody>
      </p:sp>
      <p:sp>
        <p:nvSpPr>
          <p:cNvPr id="13" name="Shape 11"/>
          <p:cNvSpPr/>
          <p:nvPr/>
        </p:nvSpPr>
        <p:spPr>
          <a:xfrm>
            <a:off x="812800" y="3712071"/>
            <a:ext cx="304800" cy="304800"/>
          </a:xfrm>
          <a:prstGeom prst="roundRect">
            <a:avLst>
              <a:gd name="adj" fmla="val 50000"/>
            </a:avLst>
          </a:prstGeom>
          <a:solidFill>
            <a:srgbClr val="00FF66"/>
          </a:solidFill>
          <a:ln/>
        </p:spPr>
        <p:txBody>
          <a:bodyPr/>
          <a:p/>
        </p:txBody>
      </p:sp>
      <p:sp>
        <p:nvSpPr>
          <p:cNvPr id="14" name="Text 12"/>
          <p:cNvSpPr/>
          <p:nvPr/>
        </p:nvSpPr>
        <p:spPr>
          <a:xfrm>
            <a:off x="787400" y="371207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4</a:t>
            </a:r>
            <a:endParaRPr lang="en-US" sz="1200" dirty="0"/>
          </a:p>
        </p:txBody>
      </p:sp>
      <p:sp>
        <p:nvSpPr>
          <p:cNvPr id="15" name="Text 13"/>
          <p:cNvSpPr/>
          <p:nvPr/>
        </p:nvSpPr>
        <p:spPr>
          <a:xfrm>
            <a:off x="1244600" y="3712071"/>
            <a:ext cx="35841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Confira o total e toque em </a:t>
            </a:r>
            <a:r>
              <a:rPr lang="en-US" sz="1400" b="1" dirty="0">
                <a:solidFill>
                  <a:srgbClr val="D5D9E0"/>
                </a:solidFill>
                <a:latin typeface="DM Sans" pitchFamily="34" charset="0"/>
                <a:ea typeface="DM Sans" pitchFamily="34" charset="-122"/>
                <a:cs typeface="DM Sans" pitchFamily="34" charset="-120"/>
              </a:rPr>
              <a:t>Registrar compra</a:t>
            </a:r>
            <a:r>
              <a:rPr lang="en-US" sz="1400" dirty="0">
                <a:solidFill>
                  <a:srgbClr val="D5D9E0"/>
                </a:solidFill>
                <a:latin typeface="DM Sans" pitchFamily="34" charset="0"/>
                <a:ea typeface="DM Sans" pitchFamily="34" charset="-122"/>
                <a:cs typeface="DM Sans" pitchFamily="34" charset="-120"/>
              </a:rPr>
              <a:t>. Item de categoria sem estoque fica só no financeiro.</a:t>
            </a:r>
            <a:endParaRPr lang="en-US" sz="1400" dirty="0"/>
          </a:p>
        </p:txBody>
      </p:sp>
      <p:sp>
        <p:nvSpPr>
          <p:cNvPr id="16" name="Shape 14"/>
          <p:cNvSpPr/>
          <p:nvPr/>
        </p:nvSpPr>
        <p:spPr>
          <a:xfrm>
            <a:off x="5080000" y="1750020"/>
            <a:ext cx="6299200" cy="3937000"/>
          </a:xfrm>
          <a:prstGeom prst="roundRect">
            <a:avLst>
              <a:gd name="adj" fmla="val 2581"/>
            </a:avLst>
          </a:prstGeom>
          <a:solidFill>
            <a:srgbClr val="15151C"/>
          </a:solidFill>
          <a:ln/>
        </p:spPr>
        <p:txBody>
          <a:bodyPr/>
          <a:p/>
        </p:txBody>
      </p:sp>
      <p:pic>
        <p:nvPicPr>
          <p:cNvPr id="17" name="Image 0" descr="Tela Registrar compra com três itens Automáticos (um sem Baú), um item Manual e o total">    </p:cNvPr>
          <p:cNvPicPr>
            <a:picLocks noChangeAspect="1"/>
          </p:cNvPicPr>
          <p:nvPr/>
        </p:nvPicPr>
        <p:blipFill>
          <a:blip r:embed="rId1"/>
          <a:srcRect l="-61" r="-61" t="0" b="0"/>
          <a:stretch/>
        </p:blipFill>
        <p:spPr>
          <a:xfrm>
            <a:off x="5086350" y="1756370"/>
            <a:ext cx="6286500" cy="3924300"/>
          </a:xfrm>
          <a:prstGeom prst="roundRect">
            <a:avLst>
              <a:gd name="adj" fmla="val 2427"/>
            </a:avLst>
          </a:prstGeom>
        </p:spPr>
      </p:pic>
      <p:sp>
        <p:nvSpPr>
          <p:cNvPr id="18" name="Shape 15"/>
          <p:cNvSpPr/>
          <p:nvPr/>
        </p:nvSpPr>
        <p:spPr>
          <a:xfrm>
            <a:off x="5083175" y="1753195"/>
            <a:ext cx="6292850" cy="3930650"/>
          </a:xfrm>
          <a:prstGeom prst="roundRect">
            <a:avLst>
              <a:gd name="adj" fmla="val 2504"/>
            </a:avLst>
          </a:prstGeom>
          <a:noFill/>
          <a:ln w="6350">
            <a:solidFill>
              <a:srgbClr val="282836"/>
            </a:solidFill>
            <a:prstDash val="solid"/>
          </a:ln>
        </p:spPr>
        <p:txBody>
          <a:bodyPr/>
          <a:p/>
        </p:txBody>
      </p:sp>
      <p:sp>
        <p:nvSpPr>
          <p:cNvPr id="19"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19</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4">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BAÚ · COMPRA</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Atalhos da compra</a:t>
            </a:r>
            <a:endParaRPr lang="en-US" sz="3000" dirty="0"/>
          </a:p>
        </p:txBody>
      </p:sp>
      <p:pic>
        <p:nvPicPr>
          <p:cNvPr id="4" name="Image 0" descr="Lista de itens da compra agrupada por categoria">    </p:cNvPr>
          <p:cNvPicPr>
            <a:picLocks noChangeAspect="1"/>
          </p:cNvPicPr>
          <p:nvPr/>
        </p:nvPicPr>
        <p:blipFill>
          <a:blip r:embed="rId1"/>
          <a:srcRect l="0" r="0" t="149" b="149"/>
          <a:stretch/>
        </p:blipFill>
        <p:spPr>
          <a:xfrm>
            <a:off x="825500" y="1762720"/>
            <a:ext cx="5105400" cy="3181350"/>
          </a:xfrm>
          <a:prstGeom prst="roundRect">
            <a:avLst>
              <a:gd name="adj" fmla="val 2395"/>
            </a:avLst>
          </a:prstGeom>
        </p:spPr>
      </p:pic>
      <p:sp>
        <p:nvSpPr>
          <p:cNvPr id="5" name="Shape 2"/>
          <p:cNvSpPr/>
          <p:nvPr/>
        </p:nvSpPr>
        <p:spPr>
          <a:xfrm>
            <a:off x="819150" y="1756370"/>
            <a:ext cx="5118100" cy="3194050"/>
          </a:xfrm>
          <a:prstGeom prst="roundRect">
            <a:avLst>
              <a:gd name="adj" fmla="val 2584"/>
            </a:avLst>
          </a:prstGeom>
          <a:noFill/>
          <a:ln w="12700">
            <a:solidFill>
              <a:srgbClr val="FBBF24"/>
            </a:solidFill>
            <a:prstDash val="solid"/>
          </a:ln>
        </p:spPr>
        <p:txBody>
          <a:bodyPr/>
          <a:p/>
        </p:txBody>
      </p:sp>
      <p:sp>
        <p:nvSpPr>
          <p:cNvPr id="6" name="Text 3"/>
          <p:cNvSpPr/>
          <p:nvPr/>
        </p:nvSpPr>
        <p:spPr>
          <a:xfrm>
            <a:off x="812800" y="5071070"/>
            <a:ext cx="5284724"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BBF24"/>
                </a:solidFill>
                <a:latin typeface="DM Sans" pitchFamily="34" charset="0"/>
                <a:ea typeface="DM Sans" pitchFamily="34" charset="-122"/>
                <a:cs typeface="DM Sans" pitchFamily="34" charset="-120"/>
              </a:rPr>
              <a:t>Lista de itens:</a:t>
            </a:r>
            <a:r>
              <a:rPr lang="en-US" sz="1300" dirty="0">
                <a:solidFill>
                  <a:srgbClr val="D5D9E0"/>
                </a:solidFill>
                <a:latin typeface="DM Sans" pitchFamily="34" charset="0"/>
                <a:ea typeface="DM Sans" pitchFamily="34" charset="-122"/>
                <a:cs typeface="DM Sans" pitchFamily="34" charset="-120"/>
              </a:rPr>
              <a:t> separada por categoria. Gerente ou acima cadastra um item novo pelo rodapé da lista.</a:t>
            </a:r>
            <a:endParaRPr lang="en-US" sz="1300" dirty="0"/>
          </a:p>
        </p:txBody>
      </p:sp>
      <p:pic>
        <p:nvPicPr>
          <p:cNvPr id="7" name="Image 1" descr="Lista de fornecedores com a opção de vincular fornecedor já cadastrado">    </p:cNvPr>
          <p:cNvPicPr>
            <a:picLocks noChangeAspect="1"/>
          </p:cNvPicPr>
          <p:nvPr/>
        </p:nvPicPr>
        <p:blipFill>
          <a:blip r:embed="rId2"/>
          <a:srcRect l="0" r="0" t="149" b="149"/>
          <a:stretch/>
        </p:blipFill>
        <p:spPr>
          <a:xfrm>
            <a:off x="6261100" y="1762720"/>
            <a:ext cx="5105400" cy="3181350"/>
          </a:xfrm>
          <a:prstGeom prst="roundRect">
            <a:avLst>
              <a:gd name="adj" fmla="val 2395"/>
            </a:avLst>
          </a:prstGeom>
        </p:spPr>
      </p:pic>
      <p:sp>
        <p:nvSpPr>
          <p:cNvPr id="8" name="Shape 4"/>
          <p:cNvSpPr/>
          <p:nvPr/>
        </p:nvSpPr>
        <p:spPr>
          <a:xfrm>
            <a:off x="6254750" y="1756370"/>
            <a:ext cx="5118100" cy="3194050"/>
          </a:xfrm>
          <a:prstGeom prst="roundRect">
            <a:avLst>
              <a:gd name="adj" fmla="val 2584"/>
            </a:avLst>
          </a:prstGeom>
          <a:noFill/>
          <a:ln w="12700">
            <a:solidFill>
              <a:srgbClr val="00FF66"/>
            </a:solidFill>
            <a:prstDash val="solid"/>
          </a:ln>
        </p:spPr>
        <p:txBody>
          <a:bodyPr/>
          <a:p/>
        </p:txBody>
      </p:sp>
      <p:sp>
        <p:nvSpPr>
          <p:cNvPr id="9" name="Text 5"/>
          <p:cNvSpPr/>
          <p:nvPr/>
        </p:nvSpPr>
        <p:spPr>
          <a:xfrm>
            <a:off x="6248400" y="5071070"/>
            <a:ext cx="5284724"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0FF66"/>
                </a:solidFill>
                <a:latin typeface="DM Sans" pitchFamily="34" charset="0"/>
                <a:ea typeface="DM Sans" pitchFamily="34" charset="-122"/>
                <a:cs typeface="DM Sans" pitchFamily="34" charset="-120"/>
              </a:rPr>
              <a:t>Fornecedor:</a:t>
            </a:r>
            <a:r>
              <a:rPr lang="en-US" sz="1300" dirty="0">
                <a:solidFill>
                  <a:srgbClr val="D5D9E0"/>
                </a:solidFill>
                <a:latin typeface="DM Sans" pitchFamily="34" charset="0"/>
                <a:ea typeface="DM Sans" pitchFamily="34" charset="-122"/>
                <a:cs typeface="DM Sans" pitchFamily="34" charset="-120"/>
              </a:rPr>
              <a:t> item sem o fornecedor? Escolha um já cadastrado e informe só o valor, ou cadastre um novo.</a:t>
            </a:r>
            <a:endParaRPr lang="en-US" sz="1300" dirty="0"/>
          </a:p>
        </p:txBody>
      </p:sp>
      <p:sp>
        <p:nvSpPr>
          <p:cNvPr id="10"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20</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FORNECEDORES · GERENTE OU ACIMA</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Valor de cada item no fornecedor</a:t>
            </a:r>
            <a:endParaRPr lang="en-US" sz="3000" dirty="0"/>
          </a:p>
        </p:txBody>
      </p:sp>
      <p:sp>
        <p:nvSpPr>
          <p:cNvPr id="4" name="Shape 2"/>
          <p:cNvSpPr/>
          <p:nvPr/>
        </p:nvSpPr>
        <p:spPr>
          <a:xfrm>
            <a:off x="812800" y="1750020"/>
            <a:ext cx="304800" cy="304800"/>
          </a:xfrm>
          <a:prstGeom prst="roundRect">
            <a:avLst>
              <a:gd name="adj" fmla="val 50000"/>
            </a:avLst>
          </a:prstGeom>
          <a:solidFill>
            <a:srgbClr val="00FF66"/>
          </a:solidFill>
          <a:ln/>
        </p:spPr>
        <p:txBody>
          <a:bodyPr/>
          <a:p/>
        </p:txBody>
      </p:sp>
      <p:sp>
        <p:nvSpPr>
          <p:cNvPr id="5" name="Text 3"/>
          <p:cNvSpPr/>
          <p:nvPr/>
        </p:nvSpPr>
        <p:spPr>
          <a:xfrm>
            <a:off x="787400" y="17500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1</a:t>
            </a:r>
            <a:endParaRPr lang="en-US" sz="1200" dirty="0"/>
          </a:p>
        </p:txBody>
      </p:sp>
      <p:sp>
        <p:nvSpPr>
          <p:cNvPr id="6" name="Text 4"/>
          <p:cNvSpPr/>
          <p:nvPr/>
        </p:nvSpPr>
        <p:spPr>
          <a:xfrm>
            <a:off x="1244600" y="1750020"/>
            <a:ext cx="3584194" cy="33020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Abra a aba </a:t>
            </a:r>
            <a:r>
              <a:rPr lang="en-US" sz="1400" b="1" dirty="0">
                <a:solidFill>
                  <a:srgbClr val="D5D9E0"/>
                </a:solidFill>
                <a:latin typeface="DM Sans" pitchFamily="34" charset="0"/>
                <a:ea typeface="DM Sans" pitchFamily="34" charset="-122"/>
                <a:cs typeface="DM Sans" pitchFamily="34" charset="-120"/>
              </a:rPr>
              <a:t>Fornecedores</a:t>
            </a:r>
            <a:r>
              <a:rPr lang="en-US" sz="1400" dirty="0">
                <a:solidFill>
                  <a:srgbClr val="D5D9E0"/>
                </a:solidFill>
                <a:latin typeface="DM Sans" pitchFamily="34" charset="0"/>
                <a:ea typeface="DM Sans" pitchFamily="34" charset="-122"/>
                <a:cs typeface="DM Sans" pitchFamily="34" charset="-120"/>
              </a:rPr>
              <a:t>.</a:t>
            </a:r>
            <a:endParaRPr lang="en-US" sz="1400" dirty="0"/>
          </a:p>
        </p:txBody>
      </p:sp>
      <p:sp>
        <p:nvSpPr>
          <p:cNvPr id="7" name="Shape 5"/>
          <p:cNvSpPr/>
          <p:nvPr/>
        </p:nvSpPr>
        <p:spPr>
          <a:xfrm>
            <a:off x="812800" y="2207220"/>
            <a:ext cx="304800" cy="304800"/>
          </a:xfrm>
          <a:prstGeom prst="roundRect">
            <a:avLst>
              <a:gd name="adj" fmla="val 50000"/>
            </a:avLst>
          </a:prstGeom>
          <a:solidFill>
            <a:srgbClr val="00FF66"/>
          </a:solidFill>
          <a:ln/>
        </p:spPr>
        <p:txBody>
          <a:bodyPr/>
          <a:p/>
        </p:txBody>
      </p:sp>
      <p:sp>
        <p:nvSpPr>
          <p:cNvPr id="8" name="Text 6"/>
          <p:cNvSpPr/>
          <p:nvPr/>
        </p:nvSpPr>
        <p:spPr>
          <a:xfrm>
            <a:off x="787400" y="22072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2</a:t>
            </a:r>
            <a:endParaRPr lang="en-US" sz="1200" dirty="0"/>
          </a:p>
        </p:txBody>
      </p:sp>
      <p:sp>
        <p:nvSpPr>
          <p:cNvPr id="9" name="Text 7"/>
          <p:cNvSpPr/>
          <p:nvPr/>
        </p:nvSpPr>
        <p:spPr>
          <a:xfrm>
            <a:off x="1244600" y="2207220"/>
            <a:ext cx="35841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Em </a:t>
            </a:r>
            <a:r>
              <a:rPr lang="en-US" sz="1400" b="1" dirty="0">
                <a:solidFill>
                  <a:srgbClr val="D5D9E0"/>
                </a:solidFill>
                <a:latin typeface="DM Sans" pitchFamily="34" charset="0"/>
                <a:ea typeface="DM Sans" pitchFamily="34" charset="-122"/>
                <a:cs typeface="DM Sans" pitchFamily="34" charset="-120"/>
              </a:rPr>
              <a:t>Itens fornecidos</a:t>
            </a:r>
            <a:r>
              <a:rPr lang="en-US" sz="1400" dirty="0">
                <a:solidFill>
                  <a:srgbClr val="D5D9E0"/>
                </a:solidFill>
                <a:latin typeface="DM Sans" pitchFamily="34" charset="0"/>
                <a:ea typeface="DM Sans" pitchFamily="34" charset="-122"/>
                <a:cs typeface="DM Sans" pitchFamily="34" charset="-120"/>
              </a:rPr>
              <a:t>, pesquise e marque os itens. Cada item novo vai para o fim da lista.</a:t>
            </a:r>
            <a:endParaRPr lang="en-US" sz="1400" dirty="0"/>
          </a:p>
        </p:txBody>
      </p:sp>
      <p:sp>
        <p:nvSpPr>
          <p:cNvPr id="10" name="Shape 8"/>
          <p:cNvSpPr/>
          <p:nvPr/>
        </p:nvSpPr>
        <p:spPr>
          <a:xfrm>
            <a:off x="812800" y="3079651"/>
            <a:ext cx="304800" cy="304800"/>
          </a:xfrm>
          <a:prstGeom prst="roundRect">
            <a:avLst>
              <a:gd name="adj" fmla="val 50000"/>
            </a:avLst>
          </a:prstGeom>
          <a:solidFill>
            <a:srgbClr val="00FF66"/>
          </a:solidFill>
          <a:ln/>
        </p:spPr>
        <p:txBody>
          <a:bodyPr/>
          <a:p/>
        </p:txBody>
      </p:sp>
      <p:sp>
        <p:nvSpPr>
          <p:cNvPr id="11" name="Text 9"/>
          <p:cNvSpPr/>
          <p:nvPr/>
        </p:nvSpPr>
        <p:spPr>
          <a:xfrm>
            <a:off x="787400" y="307965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3</a:t>
            </a:r>
            <a:endParaRPr lang="en-US" sz="1200" dirty="0"/>
          </a:p>
        </p:txBody>
      </p:sp>
      <p:sp>
        <p:nvSpPr>
          <p:cNvPr id="12" name="Text 10"/>
          <p:cNvSpPr/>
          <p:nvPr/>
        </p:nvSpPr>
        <p:spPr>
          <a:xfrm>
            <a:off x="1244600" y="3079651"/>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Informe o </a:t>
            </a:r>
            <a:r>
              <a:rPr lang="en-US" sz="1400" b="1" dirty="0">
                <a:solidFill>
                  <a:srgbClr val="D5D9E0"/>
                </a:solidFill>
                <a:latin typeface="DM Sans" pitchFamily="34" charset="0"/>
                <a:ea typeface="DM Sans" pitchFamily="34" charset="-122"/>
                <a:cs typeface="DM Sans" pitchFamily="34" charset="-120"/>
              </a:rPr>
              <a:t>valor unitário</a:t>
            </a:r>
            <a:r>
              <a:rPr lang="en-US" sz="1400" dirty="0">
                <a:solidFill>
                  <a:srgbClr val="D5D9E0"/>
                </a:solidFill>
                <a:latin typeface="DM Sans" pitchFamily="34" charset="0"/>
                <a:ea typeface="DM Sans" pitchFamily="34" charset="-122"/>
                <a:cs typeface="DM Sans" pitchFamily="34" charset="-120"/>
              </a:rPr>
              <a:t> de cada item. É obrigatório.</a:t>
            </a:r>
            <a:endParaRPr lang="en-US" sz="1400" dirty="0"/>
          </a:p>
        </p:txBody>
      </p:sp>
      <p:sp>
        <p:nvSpPr>
          <p:cNvPr id="13" name="Shape 11"/>
          <p:cNvSpPr/>
          <p:nvPr/>
        </p:nvSpPr>
        <p:spPr>
          <a:xfrm>
            <a:off x="812800" y="3712071"/>
            <a:ext cx="304800" cy="304800"/>
          </a:xfrm>
          <a:prstGeom prst="roundRect">
            <a:avLst>
              <a:gd name="adj" fmla="val 50000"/>
            </a:avLst>
          </a:prstGeom>
          <a:solidFill>
            <a:srgbClr val="00FF66"/>
          </a:solidFill>
          <a:ln/>
        </p:spPr>
        <p:txBody>
          <a:bodyPr/>
          <a:p/>
        </p:txBody>
      </p:sp>
      <p:sp>
        <p:nvSpPr>
          <p:cNvPr id="14" name="Text 12"/>
          <p:cNvSpPr/>
          <p:nvPr/>
        </p:nvSpPr>
        <p:spPr>
          <a:xfrm>
            <a:off x="787400" y="371207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4</a:t>
            </a:r>
            <a:endParaRPr lang="en-US" sz="1200" dirty="0"/>
          </a:p>
        </p:txBody>
      </p:sp>
      <p:sp>
        <p:nvSpPr>
          <p:cNvPr id="15" name="Text 13"/>
          <p:cNvSpPr/>
          <p:nvPr/>
        </p:nvSpPr>
        <p:spPr>
          <a:xfrm>
            <a:off x="1244600" y="3712071"/>
            <a:ext cx="35841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Toque em </a:t>
            </a:r>
            <a:r>
              <a:rPr lang="en-US" sz="1400" b="1" dirty="0">
                <a:solidFill>
                  <a:srgbClr val="D5D9E0"/>
                </a:solidFill>
                <a:latin typeface="DM Sans" pitchFamily="34" charset="0"/>
                <a:ea typeface="DM Sans" pitchFamily="34" charset="-122"/>
                <a:cs typeface="DM Sans" pitchFamily="34" charset="-120"/>
              </a:rPr>
              <a:t>Salvar</a:t>
            </a:r>
            <a:r>
              <a:rPr lang="en-US" sz="1400" dirty="0">
                <a:solidFill>
                  <a:srgbClr val="D5D9E0"/>
                </a:solidFill>
                <a:latin typeface="DM Sans" pitchFamily="34" charset="0"/>
                <a:ea typeface="DM Sans" pitchFamily="34" charset="-122"/>
                <a:cs typeface="DM Sans" pitchFamily="34" charset="-120"/>
              </a:rPr>
              <a:t>. Na compra, esse valor vem travado ao escolher o fornecedor.</a:t>
            </a:r>
            <a:endParaRPr lang="en-US" sz="1400" dirty="0"/>
          </a:p>
        </p:txBody>
      </p:sp>
      <p:sp>
        <p:nvSpPr>
          <p:cNvPr id="16" name="Shape 14"/>
          <p:cNvSpPr/>
          <p:nvPr/>
        </p:nvSpPr>
        <p:spPr>
          <a:xfrm>
            <a:off x="5080000" y="1750020"/>
            <a:ext cx="6299200" cy="3937000"/>
          </a:xfrm>
          <a:prstGeom prst="roundRect">
            <a:avLst>
              <a:gd name="adj" fmla="val 2581"/>
            </a:avLst>
          </a:prstGeom>
          <a:solidFill>
            <a:srgbClr val="15151C"/>
          </a:solidFill>
          <a:ln/>
        </p:spPr>
        <p:txBody>
          <a:bodyPr/>
          <a:p/>
        </p:txBody>
      </p:sp>
      <p:pic>
        <p:nvPicPr>
          <p:cNvPr id="17" name="Image 0" descr="Janela Editar fornecedor com os itens e o valor de cada um">    </p:cNvPr>
          <p:cNvPicPr>
            <a:picLocks noChangeAspect="1"/>
          </p:cNvPicPr>
          <p:nvPr/>
        </p:nvPicPr>
        <p:blipFill>
          <a:blip r:embed="rId1"/>
          <a:srcRect l="0" r="0" t="0" b="0"/>
          <a:stretch/>
        </p:blipFill>
        <p:spPr>
          <a:xfrm>
            <a:off x="5086350" y="1756370"/>
            <a:ext cx="6286500" cy="3924300"/>
          </a:xfrm>
          <a:prstGeom prst="roundRect">
            <a:avLst>
              <a:gd name="adj" fmla="val 2427"/>
            </a:avLst>
          </a:prstGeom>
        </p:spPr>
      </p:pic>
      <p:sp>
        <p:nvSpPr>
          <p:cNvPr id="18" name="Shape 15"/>
          <p:cNvSpPr/>
          <p:nvPr/>
        </p:nvSpPr>
        <p:spPr>
          <a:xfrm>
            <a:off x="5083175" y="1753195"/>
            <a:ext cx="6292850" cy="3930650"/>
          </a:xfrm>
          <a:prstGeom prst="roundRect">
            <a:avLst>
              <a:gd name="adj" fmla="val 2504"/>
            </a:avLst>
          </a:prstGeom>
          <a:noFill/>
          <a:ln w="6350">
            <a:solidFill>
              <a:srgbClr val="282836"/>
            </a:solidFill>
            <a:prstDash val="solid"/>
          </a:ln>
        </p:spPr>
        <p:txBody>
          <a:bodyPr/>
          <a:p/>
        </p:txBody>
      </p:sp>
      <p:sp>
        <p:nvSpPr>
          <p:cNvPr id="19"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21</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BAÚ</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Produzir a partir de uma receita</a:t>
            </a:r>
            <a:endParaRPr lang="en-US" sz="3000" dirty="0"/>
          </a:p>
        </p:txBody>
      </p:sp>
      <p:pic>
        <p:nvPicPr>
          <p:cNvPr id="4" name="Image 0" descr="Tela Produzir com as fichas das receitas">    </p:cNvPr>
          <p:cNvPicPr>
            <a:picLocks noChangeAspect="1"/>
          </p:cNvPicPr>
          <p:nvPr/>
        </p:nvPicPr>
        <p:blipFill>
          <a:blip r:embed="rId1"/>
          <a:srcRect l="0" r="0" t="0" b="0"/>
          <a:stretch/>
        </p:blipFill>
        <p:spPr>
          <a:xfrm>
            <a:off x="819150" y="1756370"/>
            <a:ext cx="3898900" cy="1574800"/>
          </a:xfrm>
          <a:prstGeom prst="roundRect">
            <a:avLst>
              <a:gd name="adj" fmla="val 5242"/>
            </a:avLst>
          </a:prstGeom>
        </p:spPr>
      </p:pic>
      <p:sp>
        <p:nvSpPr>
          <p:cNvPr id="5" name="Shape 2"/>
          <p:cNvSpPr/>
          <p:nvPr/>
        </p:nvSpPr>
        <p:spPr>
          <a:xfrm>
            <a:off x="815975" y="1753195"/>
            <a:ext cx="3905250" cy="1581150"/>
          </a:xfrm>
          <a:prstGeom prst="roundRect">
            <a:avLst>
              <a:gd name="adj" fmla="val 5422"/>
            </a:avLst>
          </a:prstGeom>
          <a:noFill/>
          <a:ln w="6350">
            <a:solidFill>
              <a:srgbClr val="282836"/>
            </a:solidFill>
            <a:prstDash val="solid"/>
          </a:ln>
        </p:spPr>
        <p:txBody>
          <a:bodyPr/>
          <a:p/>
        </p:txBody>
      </p:sp>
      <p:sp>
        <p:nvSpPr>
          <p:cNvPr id="6" name="Shape 3"/>
          <p:cNvSpPr/>
          <p:nvPr/>
        </p:nvSpPr>
        <p:spPr>
          <a:xfrm>
            <a:off x="812800" y="3477220"/>
            <a:ext cx="304800" cy="304800"/>
          </a:xfrm>
          <a:prstGeom prst="roundRect">
            <a:avLst>
              <a:gd name="adj" fmla="val 50000"/>
            </a:avLst>
          </a:prstGeom>
          <a:solidFill>
            <a:srgbClr val="00FF66"/>
          </a:solidFill>
          <a:ln/>
        </p:spPr>
        <p:txBody>
          <a:bodyPr/>
          <a:p/>
        </p:txBody>
      </p:sp>
      <p:sp>
        <p:nvSpPr>
          <p:cNvPr id="7" name="Text 4"/>
          <p:cNvSpPr/>
          <p:nvPr/>
        </p:nvSpPr>
        <p:spPr>
          <a:xfrm>
            <a:off x="787400" y="34772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1</a:t>
            </a:r>
            <a:endParaRPr lang="en-US" sz="1200" dirty="0"/>
          </a:p>
        </p:txBody>
      </p:sp>
      <p:sp>
        <p:nvSpPr>
          <p:cNvPr id="8" name="Text 5"/>
          <p:cNvSpPr/>
          <p:nvPr/>
        </p:nvSpPr>
        <p:spPr>
          <a:xfrm>
            <a:off x="1244600" y="3477220"/>
            <a:ext cx="3584194" cy="488156"/>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D5D9E0"/>
                </a:solidFill>
                <a:latin typeface="DM Sans" pitchFamily="34" charset="0"/>
                <a:ea typeface="DM Sans" pitchFamily="34" charset="-122"/>
                <a:cs typeface="DM Sans" pitchFamily="34" charset="-120"/>
              </a:rPr>
              <a:t>Toque em </a:t>
            </a:r>
            <a:r>
              <a:rPr lang="en-US" sz="1350" b="1" dirty="0">
                <a:solidFill>
                  <a:srgbClr val="D5D9E0"/>
                </a:solidFill>
                <a:latin typeface="DM Sans" pitchFamily="34" charset="0"/>
                <a:ea typeface="DM Sans" pitchFamily="34" charset="-122"/>
                <a:cs typeface="DM Sans" pitchFamily="34" charset="-120"/>
              </a:rPr>
              <a:t>Produzir</a:t>
            </a:r>
            <a:r>
              <a:rPr lang="en-US" sz="1350" dirty="0">
                <a:solidFill>
                  <a:srgbClr val="D5D9E0"/>
                </a:solidFill>
                <a:latin typeface="DM Sans" pitchFamily="34" charset="0"/>
                <a:ea typeface="DM Sans" pitchFamily="34" charset="-122"/>
                <a:cs typeface="DM Sans" pitchFamily="34" charset="-120"/>
              </a:rPr>
              <a:t> na ficha da receita. Ela mostra o que consome e o que produz.</a:t>
            </a:r>
            <a:endParaRPr lang="en-US" sz="1350" dirty="0"/>
          </a:p>
        </p:txBody>
      </p:sp>
      <p:sp>
        <p:nvSpPr>
          <p:cNvPr id="9" name="Shape 6"/>
          <p:cNvSpPr/>
          <p:nvPr/>
        </p:nvSpPr>
        <p:spPr>
          <a:xfrm>
            <a:off x="812800" y="4079677"/>
            <a:ext cx="304800" cy="304800"/>
          </a:xfrm>
          <a:prstGeom prst="roundRect">
            <a:avLst>
              <a:gd name="adj" fmla="val 50000"/>
            </a:avLst>
          </a:prstGeom>
          <a:solidFill>
            <a:srgbClr val="00FF66"/>
          </a:solidFill>
          <a:ln/>
        </p:spPr>
        <p:txBody>
          <a:bodyPr/>
          <a:p/>
        </p:txBody>
      </p:sp>
      <p:sp>
        <p:nvSpPr>
          <p:cNvPr id="10" name="Text 7"/>
          <p:cNvSpPr/>
          <p:nvPr/>
        </p:nvSpPr>
        <p:spPr>
          <a:xfrm>
            <a:off x="787400" y="4079677"/>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2</a:t>
            </a:r>
            <a:endParaRPr lang="en-US" sz="1200" dirty="0"/>
          </a:p>
        </p:txBody>
      </p:sp>
      <p:sp>
        <p:nvSpPr>
          <p:cNvPr id="11" name="Text 8"/>
          <p:cNvSpPr/>
          <p:nvPr/>
        </p:nvSpPr>
        <p:spPr>
          <a:xfrm>
            <a:off x="1244600" y="4079677"/>
            <a:ext cx="3584194" cy="330200"/>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D5D9E0"/>
                </a:solidFill>
                <a:latin typeface="DM Sans" pitchFamily="34" charset="0"/>
                <a:ea typeface="DM Sans" pitchFamily="34" charset="-122"/>
                <a:cs typeface="DM Sans" pitchFamily="34" charset="-120"/>
              </a:rPr>
              <a:t>Digite a quantidade e confira o resumo.</a:t>
            </a:r>
            <a:endParaRPr lang="en-US" sz="1350" dirty="0"/>
          </a:p>
        </p:txBody>
      </p:sp>
      <p:sp>
        <p:nvSpPr>
          <p:cNvPr id="12" name="Shape 9"/>
          <p:cNvSpPr/>
          <p:nvPr/>
        </p:nvSpPr>
        <p:spPr>
          <a:xfrm>
            <a:off x="812800" y="4524177"/>
            <a:ext cx="304800" cy="304800"/>
          </a:xfrm>
          <a:prstGeom prst="roundRect">
            <a:avLst>
              <a:gd name="adj" fmla="val 50000"/>
            </a:avLst>
          </a:prstGeom>
          <a:solidFill>
            <a:srgbClr val="00FF66"/>
          </a:solidFill>
          <a:ln/>
        </p:spPr>
        <p:txBody>
          <a:bodyPr/>
          <a:p/>
        </p:txBody>
      </p:sp>
      <p:sp>
        <p:nvSpPr>
          <p:cNvPr id="13" name="Text 10"/>
          <p:cNvSpPr/>
          <p:nvPr/>
        </p:nvSpPr>
        <p:spPr>
          <a:xfrm>
            <a:off x="787400" y="4524177"/>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3</a:t>
            </a:r>
            <a:endParaRPr lang="en-US" sz="1200" dirty="0"/>
          </a:p>
        </p:txBody>
      </p:sp>
      <p:sp>
        <p:nvSpPr>
          <p:cNvPr id="14" name="Text 11"/>
          <p:cNvSpPr/>
          <p:nvPr/>
        </p:nvSpPr>
        <p:spPr>
          <a:xfrm>
            <a:off x="1244600" y="4524177"/>
            <a:ext cx="3584194" cy="488156"/>
          </a:xfrm>
          <a:prstGeom prst="rect">
            <a:avLst/>
          </a:prstGeom>
          <a:noFill/>
          <a:ln/>
        </p:spPr>
        <p:txBody>
          <a:bodyPr wrap="square" lIns="0" tIns="0" rIns="0" bIns="0" rtlCol="0" anchor="t">
            <a:normAutofit/>
          </a:bodyPr>
          <a:lstStyle/>
          <a:p>
            <a:pPr algn="l" indent="0" marL="0">
              <a:lnSpc>
                <a:spcPts val="1823"/>
              </a:lnSpc>
              <a:buNone/>
            </a:pPr>
            <a:r>
              <a:rPr lang="en-US" sz="1350" b="1" dirty="0">
                <a:solidFill>
                  <a:srgbClr val="D5D9E0"/>
                </a:solidFill>
                <a:latin typeface="DM Sans" pitchFamily="34" charset="0"/>
                <a:ea typeface="DM Sans" pitchFamily="34" charset="-122"/>
                <a:cs typeface="DM Sans" pitchFamily="34" charset="-120"/>
              </a:rPr>
              <a:t>Confirmar produção</a:t>
            </a:r>
            <a:r>
              <a:rPr lang="en-US" sz="1350" dirty="0">
                <a:solidFill>
                  <a:srgbClr val="D5D9E0"/>
                </a:solidFill>
                <a:latin typeface="DM Sans" pitchFamily="34" charset="0"/>
                <a:ea typeface="DM Sans" pitchFamily="34" charset="-122"/>
                <a:cs typeface="DM Sans" pitchFamily="34" charset="-120"/>
              </a:rPr>
              <a:t>. Nada muda no Baú antes disso.</a:t>
            </a:r>
            <a:endParaRPr lang="en-US" sz="1350" dirty="0"/>
          </a:p>
        </p:txBody>
      </p:sp>
      <p:sp>
        <p:nvSpPr>
          <p:cNvPr id="15" name="Shape 12"/>
          <p:cNvSpPr/>
          <p:nvPr/>
        </p:nvSpPr>
        <p:spPr>
          <a:xfrm>
            <a:off x="5080000" y="1750020"/>
            <a:ext cx="6299200" cy="3937000"/>
          </a:xfrm>
          <a:prstGeom prst="roundRect">
            <a:avLst>
              <a:gd name="adj" fmla="val 2581"/>
            </a:avLst>
          </a:prstGeom>
          <a:solidFill>
            <a:srgbClr val="15151C"/>
          </a:solidFill>
          <a:ln/>
        </p:spPr>
        <p:txBody>
          <a:bodyPr/>
          <a:p/>
        </p:txBody>
      </p:sp>
      <p:pic>
        <p:nvPicPr>
          <p:cNvPr id="16" name="Image 1" descr="Janela Produzir com a quantidade e o resumo dos insumos consumidos">    </p:cNvPr>
          <p:cNvPicPr>
            <a:picLocks noChangeAspect="1"/>
          </p:cNvPicPr>
          <p:nvPr/>
        </p:nvPicPr>
        <p:blipFill>
          <a:blip r:embed="rId2"/>
          <a:stretch>
            <a:fillRect/>
          </a:stretch>
        </p:blipFill>
        <p:spPr>
          <a:xfrm>
            <a:off x="5921188" y="1756370"/>
            <a:ext cx="4616824" cy="3924300"/>
          </a:xfrm>
          <a:prstGeom prst="rect">
            <a:avLst/>
          </a:prstGeom>
        </p:spPr>
      </p:pic>
      <p:sp>
        <p:nvSpPr>
          <p:cNvPr id="17" name="Shape 13"/>
          <p:cNvSpPr/>
          <p:nvPr/>
        </p:nvSpPr>
        <p:spPr>
          <a:xfrm>
            <a:off x="5083175" y="1753195"/>
            <a:ext cx="6292850" cy="3930650"/>
          </a:xfrm>
          <a:prstGeom prst="roundRect">
            <a:avLst>
              <a:gd name="adj" fmla="val 2504"/>
            </a:avLst>
          </a:prstGeom>
          <a:noFill/>
          <a:ln w="6350">
            <a:solidFill>
              <a:srgbClr val="282836"/>
            </a:solidFill>
            <a:prstDash val="solid"/>
          </a:ln>
        </p:spPr>
        <p:txBody>
          <a:bodyPr/>
          <a:p/>
        </p:txBody>
      </p:sp>
      <p:sp>
        <p:nvSpPr>
          <p:cNvPr id="18"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22</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1515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78BFA"/>
                </a:solidFill>
                <a:latin typeface="DM Sans" pitchFamily="34" charset="0"/>
                <a:ea typeface="DM Sans" pitchFamily="34" charset="-122"/>
                <a:cs typeface="DM Sans" pitchFamily="34" charset="-120"/>
              </a:rPr>
              <a:t>BAÚ · GERENTE OU ACIMA</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Corrigir o estoque: ajustar ou reverter</a:t>
            </a:r>
            <a:endParaRPr lang="en-US" sz="3000" dirty="0"/>
          </a:p>
        </p:txBody>
      </p:sp>
      <p:sp>
        <p:nvSpPr>
          <p:cNvPr id="4" name="Shape 2"/>
          <p:cNvSpPr/>
          <p:nvPr/>
        </p:nvSpPr>
        <p:spPr>
          <a:xfrm>
            <a:off x="815975" y="1753195"/>
            <a:ext cx="5124450" cy="3215481"/>
          </a:xfrm>
          <a:prstGeom prst="roundRect">
            <a:avLst>
              <a:gd name="adj" fmla="val 3456"/>
            </a:avLst>
          </a:prstGeom>
          <a:solidFill>
            <a:srgbClr val="0D0D11"/>
          </a:solidFill>
          <a:ln w="6350">
            <a:solidFill>
              <a:srgbClr val="282836"/>
            </a:solidFill>
            <a:prstDash val="solid"/>
          </a:ln>
        </p:spPr>
        <p:txBody>
          <a:bodyPr/>
          <a:p/>
        </p:txBody>
      </p:sp>
      <p:sp>
        <p:nvSpPr>
          <p:cNvPr id="5" name="Text 3"/>
          <p:cNvSpPr/>
          <p:nvPr/>
        </p:nvSpPr>
        <p:spPr>
          <a:xfrm>
            <a:off x="996950" y="1934170"/>
            <a:ext cx="4905375"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0FF66"/>
                </a:solidFill>
                <a:latin typeface="Space Grotesk" pitchFamily="34" charset="0"/>
                <a:ea typeface="Space Grotesk" pitchFamily="34" charset="-122"/>
                <a:cs typeface="Space Grotesk" pitchFamily="34" charset="-120"/>
              </a:rPr>
              <a:t>Ajuste avulso</a:t>
            </a:r>
            <a:endParaRPr lang="en-US" sz="1800" dirty="0"/>
          </a:p>
        </p:txBody>
      </p:sp>
      <p:pic>
        <p:nvPicPr>
          <p:cNvPr id="6" name="Image 0" descr="Janela Entrada avulsa com quantidade e motivo">    </p:cNvPr>
          <p:cNvPicPr>
            <a:picLocks noChangeAspect="1"/>
          </p:cNvPicPr>
          <p:nvPr/>
        </p:nvPicPr>
        <p:blipFill>
          <a:blip r:embed="rId1"/>
          <a:srcRect l="-27662" r="-27662" t="0" b="0"/>
          <a:stretch/>
        </p:blipFill>
        <p:spPr>
          <a:xfrm>
            <a:off x="996950" y="2322711"/>
            <a:ext cx="4775200" cy="1905000"/>
          </a:xfrm>
          <a:prstGeom prst="rect">
            <a:avLst/>
          </a:prstGeom>
        </p:spPr>
      </p:pic>
      <p:sp>
        <p:nvSpPr>
          <p:cNvPr id="7" name="Text 4"/>
          <p:cNvSpPr/>
          <p:nvPr/>
        </p:nvSpPr>
        <p:spPr>
          <a:xfrm>
            <a:off x="996950" y="4342011"/>
            <a:ext cx="4905375"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9E0"/>
                </a:solidFill>
                <a:latin typeface="DM Sans" pitchFamily="34" charset="0"/>
                <a:ea typeface="DM Sans" pitchFamily="34" charset="-122"/>
                <a:cs typeface="DM Sans" pitchFamily="34" charset="-120"/>
              </a:rPr>
              <a:t>Nos cartões, </a:t>
            </a:r>
            <a:r>
              <a:rPr lang="en-US" sz="1300" b="1" dirty="0">
                <a:solidFill>
                  <a:srgbClr val="D5D9E0"/>
                </a:solidFill>
                <a:latin typeface="DM Sans" pitchFamily="34" charset="0"/>
                <a:ea typeface="DM Sans" pitchFamily="34" charset="-122"/>
                <a:cs typeface="DM Sans" pitchFamily="34" charset="-120"/>
              </a:rPr>
              <a:t>+ Entrada</a:t>
            </a:r>
            <a:r>
              <a:rPr lang="en-US" sz="1300" dirty="0">
                <a:solidFill>
                  <a:srgbClr val="D5D9E0"/>
                </a:solidFill>
                <a:latin typeface="DM Sans" pitchFamily="34" charset="0"/>
                <a:ea typeface="DM Sans" pitchFamily="34" charset="-122"/>
                <a:cs typeface="DM Sans" pitchFamily="34" charset="-120"/>
              </a:rPr>
              <a:t> ou </a:t>
            </a:r>
            <a:r>
              <a:rPr lang="en-US" sz="1300" b="1" dirty="0">
                <a:solidFill>
                  <a:srgbClr val="D5D9E0"/>
                </a:solidFill>
                <a:latin typeface="DM Sans" pitchFamily="34" charset="0"/>
                <a:ea typeface="DM Sans" pitchFamily="34" charset="-122"/>
                <a:cs typeface="DM Sans" pitchFamily="34" charset="-120"/>
              </a:rPr>
              <a:t>− Saída</a:t>
            </a:r>
            <a:r>
              <a:rPr lang="en-US" sz="1300" dirty="0">
                <a:solidFill>
                  <a:srgbClr val="D5D9E0"/>
                </a:solidFill>
                <a:latin typeface="DM Sans" pitchFamily="34" charset="0"/>
                <a:ea typeface="DM Sans" pitchFamily="34" charset="-122"/>
                <a:cs typeface="DM Sans" pitchFamily="34" charset="-120"/>
              </a:rPr>
              <a:t> para contagem, perda ou doação. Informe a quantidade e o motivo.</a:t>
            </a:r>
            <a:endParaRPr lang="en-US" sz="1300" dirty="0"/>
          </a:p>
        </p:txBody>
      </p:sp>
      <p:sp>
        <p:nvSpPr>
          <p:cNvPr id="8" name="Shape 5"/>
          <p:cNvSpPr/>
          <p:nvPr/>
        </p:nvSpPr>
        <p:spPr>
          <a:xfrm>
            <a:off x="6251575" y="1753195"/>
            <a:ext cx="5124450" cy="3215481"/>
          </a:xfrm>
          <a:prstGeom prst="roundRect">
            <a:avLst>
              <a:gd name="adj" fmla="val 3456"/>
            </a:avLst>
          </a:prstGeom>
          <a:solidFill>
            <a:srgbClr val="0D0D11"/>
          </a:solidFill>
          <a:ln w="6350">
            <a:solidFill>
              <a:srgbClr val="282836"/>
            </a:solidFill>
            <a:prstDash val="solid"/>
          </a:ln>
        </p:spPr>
        <p:txBody>
          <a:bodyPr/>
          <a:p/>
        </p:txBody>
      </p:sp>
      <p:sp>
        <p:nvSpPr>
          <p:cNvPr id="9" name="Text 6"/>
          <p:cNvSpPr/>
          <p:nvPr/>
        </p:nvSpPr>
        <p:spPr>
          <a:xfrm>
            <a:off x="6432550" y="1934170"/>
            <a:ext cx="4905375"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CA5A5"/>
                </a:solidFill>
                <a:latin typeface="Space Grotesk" pitchFamily="34" charset="0"/>
                <a:ea typeface="Space Grotesk" pitchFamily="34" charset="-122"/>
                <a:cs typeface="Space Grotesk" pitchFamily="34" charset="-120"/>
              </a:rPr>
              <a:t>Reverter lançamento</a:t>
            </a:r>
            <a:endParaRPr lang="en-US" sz="1800" dirty="0"/>
          </a:p>
        </p:txBody>
      </p:sp>
      <p:pic>
        <p:nvPicPr>
          <p:cNvPr id="10" name="Image 1" descr="Confirmação Reverter lançamento do Baú">    </p:cNvPr>
          <p:cNvPicPr>
            <a:picLocks noChangeAspect="1"/>
          </p:cNvPicPr>
          <p:nvPr/>
        </p:nvPicPr>
        <p:blipFill>
          <a:blip r:embed="rId2"/>
          <a:srcRect l="-16655" r="-16655" t="0" b="0"/>
          <a:stretch/>
        </p:blipFill>
        <p:spPr>
          <a:xfrm>
            <a:off x="6432550" y="2322711"/>
            <a:ext cx="4775200" cy="1905000"/>
          </a:xfrm>
          <a:prstGeom prst="rect">
            <a:avLst/>
          </a:prstGeom>
        </p:spPr>
      </p:pic>
      <p:sp>
        <p:nvSpPr>
          <p:cNvPr id="11" name="Text 7"/>
          <p:cNvSpPr/>
          <p:nvPr/>
        </p:nvSpPr>
        <p:spPr>
          <a:xfrm>
            <a:off x="6432550" y="4342011"/>
            <a:ext cx="4905375"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9E0"/>
                </a:solidFill>
                <a:latin typeface="DM Sans" pitchFamily="34" charset="0"/>
                <a:ea typeface="DM Sans" pitchFamily="34" charset="-122"/>
                <a:cs typeface="DM Sans" pitchFamily="34" charset="-120"/>
              </a:rPr>
              <a:t>A seta de voltar desfaz o lançamento inteiro. Ele fica no livro como </a:t>
            </a:r>
            <a:r>
              <a:rPr lang="en-US" sz="1300" b="1" dirty="0">
                <a:solidFill>
                  <a:srgbClr val="D5D9E0"/>
                </a:solidFill>
                <a:latin typeface="DM Sans" pitchFamily="34" charset="0"/>
                <a:ea typeface="DM Sans" pitchFamily="34" charset="-122"/>
                <a:cs typeface="DM Sans" pitchFamily="34" charset="-120"/>
              </a:rPr>
              <a:t>Revertida</a:t>
            </a:r>
            <a:r>
              <a:rPr lang="en-US" sz="1300" dirty="0">
                <a:solidFill>
                  <a:srgbClr val="D5D9E0"/>
                </a:solidFill>
                <a:latin typeface="DM Sans" pitchFamily="34" charset="0"/>
                <a:ea typeface="DM Sans" pitchFamily="34" charset="-122"/>
                <a:cs typeface="DM Sans" pitchFamily="34" charset="-120"/>
              </a:rPr>
              <a:t>, com a linha apagada.</a:t>
            </a:r>
            <a:endParaRPr lang="en-US" sz="1300" dirty="0"/>
          </a:p>
        </p:txBody>
      </p:sp>
      <p:sp>
        <p:nvSpPr>
          <p:cNvPr id="12"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23</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BAÚ</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O livro de movimentações</a:t>
            </a:r>
            <a:endParaRPr lang="en-US" sz="3000" dirty="0"/>
          </a:p>
        </p:txBody>
      </p:sp>
      <p:sp>
        <p:nvSpPr>
          <p:cNvPr id="4" name="Shape 2"/>
          <p:cNvSpPr/>
          <p:nvPr/>
        </p:nvSpPr>
        <p:spPr>
          <a:xfrm>
            <a:off x="812800" y="1750020"/>
            <a:ext cx="304800" cy="304800"/>
          </a:xfrm>
          <a:prstGeom prst="roundRect">
            <a:avLst>
              <a:gd name="adj" fmla="val 50000"/>
            </a:avLst>
          </a:prstGeom>
          <a:solidFill>
            <a:srgbClr val="00FF66"/>
          </a:solidFill>
          <a:ln/>
        </p:spPr>
        <p:txBody>
          <a:bodyPr/>
          <a:p/>
        </p:txBody>
      </p:sp>
      <p:sp>
        <p:nvSpPr>
          <p:cNvPr id="5" name="Text 3"/>
          <p:cNvSpPr/>
          <p:nvPr/>
        </p:nvSpPr>
        <p:spPr>
          <a:xfrm>
            <a:off x="787400" y="17500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1</a:t>
            </a:r>
            <a:endParaRPr lang="en-US" sz="1200" dirty="0"/>
          </a:p>
        </p:txBody>
      </p:sp>
      <p:sp>
        <p:nvSpPr>
          <p:cNvPr id="6" name="Text 4"/>
          <p:cNvSpPr/>
          <p:nvPr/>
        </p:nvSpPr>
        <p:spPr>
          <a:xfrm>
            <a:off x="1244600" y="1750020"/>
            <a:ext cx="35841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Cada linha é um lançamento. Compras (verde) e produções (roxo) juntam vários itens numa linha só.</a:t>
            </a:r>
            <a:endParaRPr lang="en-US" sz="1400" dirty="0"/>
          </a:p>
        </p:txBody>
      </p:sp>
      <p:sp>
        <p:nvSpPr>
          <p:cNvPr id="7" name="Shape 5"/>
          <p:cNvSpPr/>
          <p:nvPr/>
        </p:nvSpPr>
        <p:spPr>
          <a:xfrm>
            <a:off x="812800" y="2622451"/>
            <a:ext cx="304800" cy="304800"/>
          </a:xfrm>
          <a:prstGeom prst="roundRect">
            <a:avLst>
              <a:gd name="adj" fmla="val 50000"/>
            </a:avLst>
          </a:prstGeom>
          <a:solidFill>
            <a:srgbClr val="00FF66"/>
          </a:solidFill>
          <a:ln/>
        </p:spPr>
        <p:txBody>
          <a:bodyPr/>
          <a:p/>
        </p:txBody>
      </p:sp>
      <p:sp>
        <p:nvSpPr>
          <p:cNvPr id="8" name="Text 6"/>
          <p:cNvSpPr/>
          <p:nvPr/>
        </p:nvSpPr>
        <p:spPr>
          <a:xfrm>
            <a:off x="787400" y="262245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2</a:t>
            </a:r>
            <a:endParaRPr lang="en-US" sz="1200" dirty="0"/>
          </a:p>
        </p:txBody>
      </p:sp>
      <p:sp>
        <p:nvSpPr>
          <p:cNvPr id="9" name="Text 7"/>
          <p:cNvSpPr/>
          <p:nvPr/>
        </p:nvSpPr>
        <p:spPr>
          <a:xfrm>
            <a:off x="1244600" y="2622451"/>
            <a:ext cx="35841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Toque na </a:t>
            </a:r>
            <a:r>
              <a:rPr lang="en-US" sz="1400" b="1" dirty="0">
                <a:solidFill>
                  <a:srgbClr val="D5D9E0"/>
                </a:solidFill>
                <a:latin typeface="DM Sans" pitchFamily="34" charset="0"/>
                <a:ea typeface="DM Sans" pitchFamily="34" charset="-122"/>
                <a:cs typeface="DM Sans" pitchFamily="34" charset="-120"/>
              </a:rPr>
              <a:t>seta com o número</a:t>
            </a:r>
            <a:r>
              <a:rPr lang="en-US" sz="1400" dirty="0">
                <a:solidFill>
                  <a:srgbClr val="D5D9E0"/>
                </a:solidFill>
                <a:latin typeface="DM Sans" pitchFamily="34" charset="0"/>
                <a:ea typeface="DM Sans" pitchFamily="34" charset="-122"/>
                <a:cs typeface="DM Sans" pitchFamily="34" charset="-120"/>
              </a:rPr>
              <a:t> para abrir as sublinhas, com a quantidade e o saldo de cada item.</a:t>
            </a:r>
            <a:endParaRPr lang="en-US" sz="1400" dirty="0"/>
          </a:p>
        </p:txBody>
      </p:sp>
      <p:sp>
        <p:nvSpPr>
          <p:cNvPr id="10" name="Shape 8"/>
          <p:cNvSpPr/>
          <p:nvPr/>
        </p:nvSpPr>
        <p:spPr>
          <a:xfrm>
            <a:off x="812800" y="3494881"/>
            <a:ext cx="304800" cy="304800"/>
          </a:xfrm>
          <a:prstGeom prst="roundRect">
            <a:avLst>
              <a:gd name="adj" fmla="val 50000"/>
            </a:avLst>
          </a:prstGeom>
          <a:solidFill>
            <a:srgbClr val="00FF66"/>
          </a:solidFill>
          <a:ln/>
        </p:spPr>
        <p:txBody>
          <a:bodyPr/>
          <a:p/>
        </p:txBody>
      </p:sp>
      <p:sp>
        <p:nvSpPr>
          <p:cNvPr id="11" name="Text 9"/>
          <p:cNvSpPr/>
          <p:nvPr/>
        </p:nvSpPr>
        <p:spPr>
          <a:xfrm>
            <a:off x="787400" y="349488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3</a:t>
            </a:r>
            <a:endParaRPr lang="en-US" sz="1200" dirty="0"/>
          </a:p>
        </p:txBody>
      </p:sp>
      <p:sp>
        <p:nvSpPr>
          <p:cNvPr id="12" name="Text 10"/>
          <p:cNvSpPr/>
          <p:nvPr/>
        </p:nvSpPr>
        <p:spPr>
          <a:xfrm>
            <a:off x="1244600" y="3494881"/>
            <a:ext cx="35841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Os títulos das colunas filtram e ordenam. </a:t>
            </a:r>
            <a:r>
              <a:rPr lang="en-US" sz="1400" b="1" dirty="0">
                <a:solidFill>
                  <a:srgbClr val="D5D9E0"/>
                </a:solidFill>
                <a:latin typeface="DM Sans" pitchFamily="34" charset="0"/>
                <a:ea typeface="DM Sans" pitchFamily="34" charset="-122"/>
                <a:cs typeface="DM Sans" pitchFamily="34" charset="-120"/>
              </a:rPr>
              <a:t>Exportar CSV</a:t>
            </a:r>
            <a:r>
              <a:rPr lang="en-US" sz="1400" dirty="0">
                <a:solidFill>
                  <a:srgbClr val="D5D9E0"/>
                </a:solidFill>
                <a:latin typeface="DM Sans" pitchFamily="34" charset="0"/>
                <a:ea typeface="DM Sans" pitchFamily="34" charset="-122"/>
                <a:cs typeface="DM Sans" pitchFamily="34" charset="-120"/>
              </a:rPr>
              <a:t> baixa a planilha (Gerente ou acima).</a:t>
            </a:r>
            <a:endParaRPr lang="en-US" sz="1400" dirty="0"/>
          </a:p>
        </p:txBody>
      </p:sp>
      <p:sp>
        <p:nvSpPr>
          <p:cNvPr id="13" name="Shape 11"/>
          <p:cNvSpPr/>
          <p:nvPr/>
        </p:nvSpPr>
        <p:spPr>
          <a:xfrm>
            <a:off x="5080000" y="1750020"/>
            <a:ext cx="6299200" cy="3937000"/>
          </a:xfrm>
          <a:prstGeom prst="roundRect">
            <a:avLst>
              <a:gd name="adj" fmla="val 2581"/>
            </a:avLst>
          </a:prstGeom>
          <a:solidFill>
            <a:srgbClr val="15151C"/>
          </a:solidFill>
          <a:ln/>
        </p:spPr>
        <p:txBody>
          <a:bodyPr/>
          <a:p/>
        </p:txBody>
      </p:sp>
      <p:pic>
        <p:nvPicPr>
          <p:cNvPr id="14" name="Image 0" descr="Livro de movimentações com uma produção aberta em três sublinhas">    </p:cNvPr>
          <p:cNvPicPr>
            <a:picLocks noChangeAspect="1"/>
          </p:cNvPicPr>
          <p:nvPr/>
        </p:nvPicPr>
        <p:blipFill>
          <a:blip r:embed="rId1"/>
          <a:srcRect l="-61" r="-61" t="0" b="0"/>
          <a:stretch/>
        </p:blipFill>
        <p:spPr>
          <a:xfrm>
            <a:off x="5086350" y="1756370"/>
            <a:ext cx="6286500" cy="3924300"/>
          </a:xfrm>
          <a:prstGeom prst="roundRect">
            <a:avLst>
              <a:gd name="adj" fmla="val 2427"/>
            </a:avLst>
          </a:prstGeom>
        </p:spPr>
      </p:pic>
      <p:sp>
        <p:nvSpPr>
          <p:cNvPr id="15" name="Shape 12"/>
          <p:cNvSpPr/>
          <p:nvPr/>
        </p:nvSpPr>
        <p:spPr>
          <a:xfrm>
            <a:off x="5083175" y="1753195"/>
            <a:ext cx="6292850" cy="3930650"/>
          </a:xfrm>
          <a:prstGeom prst="roundRect">
            <a:avLst>
              <a:gd name="adj" fmla="val 2504"/>
            </a:avLst>
          </a:prstGeom>
          <a:noFill/>
          <a:ln w="6350">
            <a:solidFill>
              <a:srgbClr val="282836"/>
            </a:solidFill>
            <a:prstDash val="solid"/>
          </a:ln>
        </p:spPr>
        <p:txBody>
          <a:bodyPr/>
          <a:p/>
        </p:txBody>
      </p:sp>
      <p:sp>
        <p:nvSpPr>
          <p:cNvPr id="16"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24</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15151C"/>
        </a:solidFill>
      </p:bgPr>
    </p:bg>
    <p:spTree>
      <p:nvGrpSpPr>
        <p:cNvPr id="1" name=""/>
        <p:cNvGrpSpPr/>
        <p:nvPr/>
      </p:nvGrpSpPr>
      <p:grpSpPr>
        <a:xfrm>
          <a:off x="0" y="0"/>
          <a:ext cx="0" cy="0"/>
          <a:chOff x="0" y="0"/>
          <a:chExt cx="0" cy="0"/>
        </a:xfrm>
      </p:grpSpPr>
      <p:sp>
        <p:nvSpPr>
          <p:cNvPr id="2" name="Text 0"/>
          <p:cNvSpPr/>
          <p:nvPr/>
        </p:nvSpPr>
        <p:spPr>
          <a:xfrm>
            <a:off x="812800" y="2001540"/>
            <a:ext cx="654050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NO CELULAR</a:t>
            </a:r>
            <a:endParaRPr lang="en-US" sz="1200" dirty="0"/>
          </a:p>
        </p:txBody>
      </p:sp>
      <p:sp>
        <p:nvSpPr>
          <p:cNvPr id="3" name="Text 1"/>
          <p:cNvSpPr/>
          <p:nvPr/>
        </p:nvSpPr>
        <p:spPr>
          <a:xfrm>
            <a:off x="812800" y="2392660"/>
            <a:ext cx="6540500" cy="8636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Tudo funciona pelo navegador do celular</a:t>
            </a:r>
            <a:endParaRPr lang="en-US" sz="3000" dirty="0"/>
          </a:p>
        </p:txBody>
      </p:sp>
      <p:sp>
        <p:nvSpPr>
          <p:cNvPr id="4" name="Text 2"/>
          <p:cNvSpPr/>
          <p:nvPr/>
        </p:nvSpPr>
        <p:spPr>
          <a:xfrm>
            <a:off x="812800" y="3408660"/>
            <a:ext cx="65405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5D9E0"/>
                </a:solidFill>
                <a:latin typeface="DM Sans" pitchFamily="34" charset="0"/>
                <a:ea typeface="DM Sans" pitchFamily="34" charset="-122"/>
                <a:cs typeface="DM Sans" pitchFamily="34" charset="-120"/>
              </a:rPr>
              <a:t>Abra o mesmo endereço e entre com o mesmo usuário. O menu vai para a </a:t>
            </a:r>
            <a:r>
              <a:rPr lang="en-US" sz="1500" b="1" dirty="0">
                <a:solidFill>
                  <a:srgbClr val="D5D9E0"/>
                </a:solidFill>
                <a:latin typeface="DM Sans" pitchFamily="34" charset="0"/>
                <a:ea typeface="DM Sans" pitchFamily="34" charset="-122"/>
                <a:cs typeface="DM Sans" pitchFamily="34" charset="-120"/>
              </a:rPr>
              <a:t>barra de baixo</a:t>
            </a:r>
            <a:r>
              <a:rPr lang="en-US" sz="1500" dirty="0">
                <a:solidFill>
                  <a:srgbClr val="D5D9E0"/>
                </a:solidFill>
                <a:latin typeface="DM Sans" pitchFamily="34" charset="0"/>
                <a:ea typeface="DM Sans" pitchFamily="34" charset="-122"/>
                <a:cs typeface="DM Sans" pitchFamily="34" charset="-120"/>
              </a:rPr>
              <a:t>: Caixa, Baú, Histórico e Configurações.</a:t>
            </a:r>
            <a:endParaRPr lang="en-US" sz="1500" dirty="0"/>
          </a:p>
        </p:txBody>
      </p:sp>
      <p:sp>
        <p:nvSpPr>
          <p:cNvPr id="5" name="Text 3"/>
          <p:cNvSpPr/>
          <p:nvPr/>
        </p:nvSpPr>
        <p:spPr>
          <a:xfrm>
            <a:off x="812800" y="4119860"/>
            <a:ext cx="65405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5D9E0"/>
                </a:solidFill>
                <a:latin typeface="DM Sans" pitchFamily="34" charset="0"/>
                <a:ea typeface="DM Sans" pitchFamily="34" charset="-122"/>
                <a:cs typeface="DM Sans" pitchFamily="34" charset="-120"/>
              </a:rPr>
              <a:t>Os cartões do Baú ficam em duas colunas, com os mesmos botões do computador. O perfil e o Sair ficam no topo.</a:t>
            </a:r>
            <a:endParaRPr lang="en-US" sz="1500" dirty="0"/>
          </a:p>
        </p:txBody>
      </p:sp>
      <p:pic>
        <p:nvPicPr>
          <p:cNvPr id="6" name="Image 0" descr="Baú aberto num celular, com cartões de saldo e a barra de menu embaixo">    </p:cNvPr>
          <p:cNvPicPr>
            <a:picLocks noChangeAspect="1"/>
          </p:cNvPicPr>
          <p:nvPr/>
        </p:nvPicPr>
        <p:blipFill>
          <a:blip r:embed="rId1"/>
          <a:srcRect l="970" r="970" t="0" b="0"/>
          <a:stretch/>
        </p:blipFill>
        <p:spPr>
          <a:xfrm>
            <a:off x="7810500" y="889000"/>
            <a:ext cx="2209800" cy="4876800"/>
          </a:xfrm>
          <a:prstGeom prst="roundRect">
            <a:avLst>
              <a:gd name="adj" fmla="val 8621"/>
            </a:avLst>
          </a:prstGeom>
        </p:spPr>
      </p:pic>
      <p:sp>
        <p:nvSpPr>
          <p:cNvPr id="7" name="Shape 4"/>
          <p:cNvSpPr/>
          <p:nvPr/>
        </p:nvSpPr>
        <p:spPr>
          <a:xfrm>
            <a:off x="7791450" y="869950"/>
            <a:ext cx="2247900" cy="4914900"/>
          </a:xfrm>
          <a:prstGeom prst="roundRect">
            <a:avLst>
              <a:gd name="adj" fmla="val 9322"/>
            </a:avLst>
          </a:prstGeom>
          <a:noFill/>
          <a:ln w="38100">
            <a:solidFill>
              <a:srgbClr val="34343F"/>
            </a:solidFill>
            <a:prstDash val="solid"/>
          </a:ln>
        </p:spPr>
        <p:txBody>
          <a:bodyPr/>
          <a:p/>
        </p:txBody>
      </p:sp>
      <p:sp>
        <p:nvSpPr>
          <p:cNvPr id="8" name="Text 5"/>
          <p:cNvSpPr/>
          <p:nvPr/>
        </p:nvSpPr>
        <p:spPr>
          <a:xfrm>
            <a:off x="812800" y="6238280"/>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25</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AVISOS</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Avisos para toda a equipe</a:t>
            </a:r>
            <a:endParaRPr lang="en-US" sz="3000" dirty="0"/>
          </a:p>
        </p:txBody>
      </p:sp>
      <p:sp>
        <p:nvSpPr>
          <p:cNvPr id="4" name="Shape 2"/>
          <p:cNvSpPr/>
          <p:nvPr/>
        </p:nvSpPr>
        <p:spPr>
          <a:xfrm>
            <a:off x="812800" y="1750020"/>
            <a:ext cx="304800" cy="304800"/>
          </a:xfrm>
          <a:prstGeom prst="roundRect">
            <a:avLst>
              <a:gd name="adj" fmla="val 50000"/>
            </a:avLst>
          </a:prstGeom>
          <a:solidFill>
            <a:srgbClr val="00FF66"/>
          </a:solidFill>
          <a:ln/>
        </p:spPr>
        <p:txBody>
          <a:bodyPr/>
          <a:p/>
        </p:txBody>
      </p:sp>
      <p:sp>
        <p:nvSpPr>
          <p:cNvPr id="5" name="Text 3"/>
          <p:cNvSpPr/>
          <p:nvPr/>
        </p:nvSpPr>
        <p:spPr>
          <a:xfrm>
            <a:off x="787400" y="17500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1</a:t>
            </a:r>
            <a:endParaRPr lang="en-US" sz="1200" dirty="0"/>
          </a:p>
        </p:txBody>
      </p:sp>
      <p:sp>
        <p:nvSpPr>
          <p:cNvPr id="6" name="Text 4"/>
          <p:cNvSpPr/>
          <p:nvPr/>
        </p:nvSpPr>
        <p:spPr>
          <a:xfrm>
            <a:off x="1244600" y="1750020"/>
            <a:ext cx="3584194" cy="33020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Toque em </a:t>
            </a:r>
            <a:r>
              <a:rPr lang="en-US" sz="1400" b="1" dirty="0">
                <a:solidFill>
                  <a:srgbClr val="D5D9E0"/>
                </a:solidFill>
                <a:latin typeface="DM Sans" pitchFamily="34" charset="0"/>
                <a:ea typeface="DM Sans" pitchFamily="34" charset="-122"/>
                <a:cs typeface="DM Sans" pitchFamily="34" charset="-120"/>
              </a:rPr>
              <a:t>Avisos</a:t>
            </a:r>
            <a:r>
              <a:rPr lang="en-US" sz="1400" dirty="0">
                <a:solidFill>
                  <a:srgbClr val="D5D9E0"/>
                </a:solidFill>
                <a:latin typeface="DM Sans" pitchFamily="34" charset="0"/>
                <a:ea typeface="DM Sans" pitchFamily="34" charset="-122"/>
                <a:cs typeface="DM Sans" pitchFamily="34" charset="-120"/>
              </a:rPr>
              <a:t>, no topo.</a:t>
            </a:r>
            <a:endParaRPr lang="en-US" sz="1400" dirty="0"/>
          </a:p>
        </p:txBody>
      </p:sp>
      <p:sp>
        <p:nvSpPr>
          <p:cNvPr id="7" name="Shape 5"/>
          <p:cNvSpPr/>
          <p:nvPr/>
        </p:nvSpPr>
        <p:spPr>
          <a:xfrm>
            <a:off x="812800" y="2207220"/>
            <a:ext cx="304800" cy="304800"/>
          </a:xfrm>
          <a:prstGeom prst="roundRect">
            <a:avLst>
              <a:gd name="adj" fmla="val 50000"/>
            </a:avLst>
          </a:prstGeom>
          <a:solidFill>
            <a:srgbClr val="00FF66"/>
          </a:solidFill>
          <a:ln/>
        </p:spPr>
        <p:txBody>
          <a:bodyPr/>
          <a:p/>
        </p:txBody>
      </p:sp>
      <p:sp>
        <p:nvSpPr>
          <p:cNvPr id="8" name="Text 6"/>
          <p:cNvSpPr/>
          <p:nvPr/>
        </p:nvSpPr>
        <p:spPr>
          <a:xfrm>
            <a:off x="787400" y="22072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2</a:t>
            </a:r>
            <a:endParaRPr lang="en-US" sz="1200" dirty="0"/>
          </a:p>
        </p:txBody>
      </p:sp>
      <p:sp>
        <p:nvSpPr>
          <p:cNvPr id="9" name="Text 7"/>
          <p:cNvSpPr/>
          <p:nvPr/>
        </p:nvSpPr>
        <p:spPr>
          <a:xfrm>
            <a:off x="1244600" y="2207220"/>
            <a:ext cx="35841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Gerente ou acima escreve o </a:t>
            </a:r>
            <a:r>
              <a:rPr lang="en-US" sz="1400" b="1" dirty="0">
                <a:solidFill>
                  <a:srgbClr val="D5D9E0"/>
                </a:solidFill>
                <a:latin typeface="DM Sans" pitchFamily="34" charset="0"/>
                <a:ea typeface="DM Sans" pitchFamily="34" charset="-122"/>
                <a:cs typeface="DM Sans" pitchFamily="34" charset="-120"/>
              </a:rPr>
              <a:t>título e a mensagem</a:t>
            </a:r>
            <a:r>
              <a:rPr lang="en-US" sz="1400" dirty="0">
                <a:solidFill>
                  <a:srgbClr val="D5D9E0"/>
                </a:solidFill>
                <a:latin typeface="DM Sans" pitchFamily="34" charset="0"/>
                <a:ea typeface="DM Sans" pitchFamily="34" charset="-122"/>
                <a:cs typeface="DM Sans" pitchFamily="34" charset="-120"/>
              </a:rPr>
              <a:t> (imagem opcional) e toca em Publicar para todos.</a:t>
            </a:r>
            <a:endParaRPr lang="en-US" sz="1400" dirty="0"/>
          </a:p>
        </p:txBody>
      </p:sp>
      <p:sp>
        <p:nvSpPr>
          <p:cNvPr id="10" name="Shape 8"/>
          <p:cNvSpPr/>
          <p:nvPr/>
        </p:nvSpPr>
        <p:spPr>
          <a:xfrm>
            <a:off x="812800" y="3079651"/>
            <a:ext cx="304800" cy="304800"/>
          </a:xfrm>
          <a:prstGeom prst="roundRect">
            <a:avLst>
              <a:gd name="adj" fmla="val 50000"/>
            </a:avLst>
          </a:prstGeom>
          <a:solidFill>
            <a:srgbClr val="00FF66"/>
          </a:solidFill>
          <a:ln/>
        </p:spPr>
        <p:txBody>
          <a:bodyPr/>
          <a:p/>
        </p:txBody>
      </p:sp>
      <p:sp>
        <p:nvSpPr>
          <p:cNvPr id="11" name="Text 9"/>
          <p:cNvSpPr/>
          <p:nvPr/>
        </p:nvSpPr>
        <p:spPr>
          <a:xfrm>
            <a:off x="787400" y="307965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3</a:t>
            </a:r>
            <a:endParaRPr lang="en-US" sz="1200" dirty="0"/>
          </a:p>
        </p:txBody>
      </p:sp>
      <p:sp>
        <p:nvSpPr>
          <p:cNvPr id="12" name="Text 10"/>
          <p:cNvSpPr/>
          <p:nvPr/>
        </p:nvSpPr>
        <p:spPr>
          <a:xfrm>
            <a:off x="1244600" y="3079651"/>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O pop-up aparece na tela de todos. Cada um toca em </a:t>
            </a:r>
            <a:r>
              <a:rPr lang="en-US" sz="1400" b="1" dirty="0">
                <a:solidFill>
                  <a:srgbClr val="D5D9E0"/>
                </a:solidFill>
                <a:latin typeface="DM Sans" pitchFamily="34" charset="0"/>
                <a:ea typeface="DM Sans" pitchFamily="34" charset="-122"/>
                <a:cs typeface="DM Sans" pitchFamily="34" charset="-120"/>
              </a:rPr>
              <a:t>Entendi</a:t>
            </a:r>
            <a:r>
              <a:rPr lang="en-US" sz="1400" dirty="0">
                <a:solidFill>
                  <a:srgbClr val="D5D9E0"/>
                </a:solidFill>
                <a:latin typeface="DM Sans" pitchFamily="34" charset="0"/>
                <a:ea typeface="DM Sans" pitchFamily="34" charset="-122"/>
                <a:cs typeface="DM Sans" pitchFamily="34" charset="-120"/>
              </a:rPr>
              <a:t>.</a:t>
            </a:r>
            <a:endParaRPr lang="en-US" sz="1400" dirty="0"/>
          </a:p>
        </p:txBody>
      </p:sp>
      <p:sp>
        <p:nvSpPr>
          <p:cNvPr id="13" name="Shape 11"/>
          <p:cNvSpPr/>
          <p:nvPr/>
        </p:nvSpPr>
        <p:spPr>
          <a:xfrm>
            <a:off x="812800" y="3712071"/>
            <a:ext cx="304800" cy="304800"/>
          </a:xfrm>
          <a:prstGeom prst="roundRect">
            <a:avLst>
              <a:gd name="adj" fmla="val 50000"/>
            </a:avLst>
          </a:prstGeom>
          <a:solidFill>
            <a:srgbClr val="00FF66"/>
          </a:solidFill>
          <a:ln/>
        </p:spPr>
        <p:txBody>
          <a:bodyPr/>
          <a:p/>
        </p:txBody>
      </p:sp>
      <p:sp>
        <p:nvSpPr>
          <p:cNvPr id="14" name="Text 12"/>
          <p:cNvSpPr/>
          <p:nvPr/>
        </p:nvSpPr>
        <p:spPr>
          <a:xfrm>
            <a:off x="787400" y="371207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4</a:t>
            </a:r>
            <a:endParaRPr lang="en-US" sz="1200" dirty="0"/>
          </a:p>
        </p:txBody>
      </p:sp>
      <p:sp>
        <p:nvSpPr>
          <p:cNvPr id="15" name="Text 13"/>
          <p:cNvSpPr/>
          <p:nvPr/>
        </p:nvSpPr>
        <p:spPr>
          <a:xfrm>
            <a:off x="1244600" y="3712071"/>
            <a:ext cx="35841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Depois de </a:t>
            </a:r>
            <a:r>
              <a:rPr lang="en-US" sz="1400" b="1" dirty="0">
                <a:solidFill>
                  <a:srgbClr val="D5D9E0"/>
                </a:solidFill>
                <a:latin typeface="DM Sans" pitchFamily="34" charset="0"/>
                <a:ea typeface="DM Sans" pitchFamily="34" charset="-122"/>
                <a:cs typeface="DM Sans" pitchFamily="34" charset="-120"/>
              </a:rPr>
              <a:t>24 horas</a:t>
            </a:r>
            <a:r>
              <a:rPr lang="en-US" sz="1400" dirty="0">
                <a:solidFill>
                  <a:srgbClr val="D5D9E0"/>
                </a:solidFill>
                <a:latin typeface="DM Sans" pitchFamily="34" charset="0"/>
                <a:ea typeface="DM Sans" pitchFamily="34" charset="-122"/>
                <a:cs typeface="DM Sans" pitchFamily="34" charset="-120"/>
              </a:rPr>
              <a:t> o aviso some sozinho. O número no megafone mostra os avisos novos.</a:t>
            </a:r>
            <a:endParaRPr lang="en-US" sz="1400" dirty="0"/>
          </a:p>
        </p:txBody>
      </p:sp>
      <p:sp>
        <p:nvSpPr>
          <p:cNvPr id="16" name="Shape 14"/>
          <p:cNvSpPr/>
          <p:nvPr/>
        </p:nvSpPr>
        <p:spPr>
          <a:xfrm>
            <a:off x="5080000" y="1750020"/>
            <a:ext cx="6299200" cy="3937000"/>
          </a:xfrm>
          <a:prstGeom prst="roundRect">
            <a:avLst>
              <a:gd name="adj" fmla="val 2581"/>
            </a:avLst>
          </a:prstGeom>
          <a:solidFill>
            <a:srgbClr val="15151C"/>
          </a:solidFill>
          <a:ln/>
        </p:spPr>
        <p:txBody>
          <a:bodyPr/>
          <a:p/>
        </p:txBody>
      </p:sp>
      <p:pic>
        <p:nvPicPr>
          <p:cNvPr id="17" name="Image 0" descr="Pop-up de aviso com imagem na tela de um Vendedor">    </p:cNvPr>
          <p:cNvPicPr>
            <a:picLocks noChangeAspect="1"/>
          </p:cNvPicPr>
          <p:nvPr/>
        </p:nvPicPr>
        <p:blipFill>
          <a:blip r:embed="rId1"/>
          <a:srcRect l="-61" r="-61" t="0" b="0"/>
          <a:stretch/>
        </p:blipFill>
        <p:spPr>
          <a:xfrm>
            <a:off x="5086350" y="1756370"/>
            <a:ext cx="6286500" cy="3924300"/>
          </a:xfrm>
          <a:prstGeom prst="roundRect">
            <a:avLst>
              <a:gd name="adj" fmla="val 2427"/>
            </a:avLst>
          </a:prstGeom>
        </p:spPr>
      </p:pic>
      <p:sp>
        <p:nvSpPr>
          <p:cNvPr id="18" name="Shape 15"/>
          <p:cNvSpPr/>
          <p:nvPr/>
        </p:nvSpPr>
        <p:spPr>
          <a:xfrm>
            <a:off x="5083175" y="1753195"/>
            <a:ext cx="6292850" cy="3930650"/>
          </a:xfrm>
          <a:prstGeom prst="roundRect">
            <a:avLst>
              <a:gd name="adj" fmla="val 2504"/>
            </a:avLst>
          </a:prstGeom>
          <a:noFill/>
          <a:ln w="6350">
            <a:solidFill>
              <a:srgbClr val="282836"/>
            </a:solidFill>
            <a:prstDash val="solid"/>
          </a:ln>
        </p:spPr>
        <p:txBody>
          <a:bodyPr/>
          <a:p/>
        </p:txBody>
      </p:sp>
      <p:sp>
        <p:nvSpPr>
          <p:cNvPr id="19"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bg>
      <p:bgPr>
        <a:solidFill>
          <a:srgbClr val="0D0D1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RESUMO</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Cola rápida</a:t>
            </a:r>
            <a:endParaRPr lang="en-US" sz="3000" dirty="0"/>
          </a:p>
        </p:txBody>
      </p:sp>
      <p:sp>
        <p:nvSpPr>
          <p:cNvPr id="4" name="Shape 2"/>
          <p:cNvSpPr/>
          <p:nvPr/>
        </p:nvSpPr>
        <p:spPr>
          <a:xfrm>
            <a:off x="812800" y="1800820"/>
            <a:ext cx="5194300" cy="1125637"/>
          </a:xfrm>
          <a:prstGeom prst="roundRect">
            <a:avLst>
              <a:gd name="adj" fmla="val 7898"/>
            </a:avLst>
          </a:prstGeom>
          <a:solidFill>
            <a:srgbClr val="15151C"/>
          </a:solidFill>
          <a:ln/>
        </p:spPr>
        <p:txBody>
          <a:bodyPr/>
          <a:p/>
        </p:txBody>
      </p:sp>
      <p:sp>
        <p:nvSpPr>
          <p:cNvPr id="5" name="Shape 3"/>
          <p:cNvSpPr/>
          <p:nvPr/>
        </p:nvSpPr>
        <p:spPr>
          <a:xfrm>
            <a:off x="812800" y="1800820"/>
            <a:ext cx="5194300" cy="1125637"/>
          </a:xfrm>
          <a:custGeom>
            <a:avLst/>
            <a:gdLst/>
            <a:ahLst/>
            <a:cxnLst/>
            <a:rect l="l" t="t" r="r" b="b"/>
            <a:pathLst>
              <a:path w="5194300" h="1125637">
                <a:moveTo>
                  <a:pt x="88900" y="1125637"/>
                </a:moveTo>
                <a:lnTo>
                  <a:pt x="88900" y="1125637"/>
                </a:lnTo>
                <a:arcTo hR="88900" wR="88900" stAng="5400000" swAng="5400000"/>
                <a:lnTo>
                  <a:pt x="0" y="88900"/>
                </a:lnTo>
                <a:arcTo hR="88900" wR="88900" stAng="10800000" swAng="5400000"/>
                <a:lnTo>
                  <a:pt x="88900" y="0"/>
                </a:lnTo>
                <a:arcTo hR="88900" wR="50800" stAng="16200000" swAng="-5400000"/>
                <a:lnTo>
                  <a:pt x="38100" y="1036737"/>
                </a:lnTo>
                <a:arcTo hR="88900" wR="50800" stAng="10800000" swAng="-5400000"/>
                <a:close/>
              </a:path>
            </a:pathLst>
          </a:custGeom>
          <a:solidFill>
            <a:srgbClr val="00FF66"/>
          </a:solidFill>
          <a:ln/>
        </p:spPr>
        <p:txBody>
          <a:bodyPr/>
          <a:p/>
        </p:txBody>
      </p:sp>
      <p:sp>
        <p:nvSpPr>
          <p:cNvPr id="6" name="Text 4"/>
          <p:cNvSpPr/>
          <p:nvPr/>
        </p:nvSpPr>
        <p:spPr>
          <a:xfrm>
            <a:off x="1054100" y="1978620"/>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3F4F6"/>
                </a:solidFill>
                <a:latin typeface="DM Sans" pitchFamily="34" charset="0"/>
                <a:ea typeface="DM Sans" pitchFamily="34" charset="-122"/>
                <a:cs typeface="DM Sans" pitchFamily="34" charset="-120"/>
              </a:rPr>
              <a:t>Esqueci a senha</a:t>
            </a:r>
            <a:endParaRPr lang="en-US" sz="1600" dirty="0"/>
          </a:p>
        </p:txBody>
      </p:sp>
      <p:sp>
        <p:nvSpPr>
          <p:cNvPr id="7" name="Text 5"/>
          <p:cNvSpPr/>
          <p:nvPr/>
        </p:nvSpPr>
        <p:spPr>
          <a:xfrm>
            <a:off x="1054100" y="2285901"/>
            <a:ext cx="4892294" cy="488156"/>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B4BAC5"/>
                </a:solidFill>
                <a:latin typeface="DM Sans" pitchFamily="34" charset="0"/>
                <a:ea typeface="DM Sans" pitchFamily="34" charset="-122"/>
                <a:cs typeface="DM Sans" pitchFamily="34" charset="-120"/>
              </a:rPr>
              <a:t>Redefinir senha na tela de login. Um Gerente define uma senha nova e passa para você.</a:t>
            </a:r>
            <a:endParaRPr lang="en-US" sz="1350" dirty="0"/>
          </a:p>
        </p:txBody>
      </p:sp>
      <p:sp>
        <p:nvSpPr>
          <p:cNvPr id="8" name="Shape 6"/>
          <p:cNvSpPr/>
          <p:nvPr/>
        </p:nvSpPr>
        <p:spPr>
          <a:xfrm>
            <a:off x="6184900" y="1800820"/>
            <a:ext cx="5194300" cy="1125637"/>
          </a:xfrm>
          <a:prstGeom prst="roundRect">
            <a:avLst>
              <a:gd name="adj" fmla="val 7898"/>
            </a:avLst>
          </a:prstGeom>
          <a:solidFill>
            <a:srgbClr val="15151C"/>
          </a:solidFill>
          <a:ln/>
        </p:spPr>
        <p:txBody>
          <a:bodyPr/>
          <a:p/>
        </p:txBody>
      </p:sp>
      <p:sp>
        <p:nvSpPr>
          <p:cNvPr id="9" name="Shape 7"/>
          <p:cNvSpPr/>
          <p:nvPr/>
        </p:nvSpPr>
        <p:spPr>
          <a:xfrm>
            <a:off x="6184900" y="1800820"/>
            <a:ext cx="5194300" cy="1125637"/>
          </a:xfrm>
          <a:custGeom>
            <a:avLst/>
            <a:gdLst/>
            <a:ahLst/>
            <a:cxnLst/>
            <a:rect l="l" t="t" r="r" b="b"/>
            <a:pathLst>
              <a:path w="5194300" h="1125637">
                <a:moveTo>
                  <a:pt x="88900" y="1125637"/>
                </a:moveTo>
                <a:lnTo>
                  <a:pt x="88900" y="1125637"/>
                </a:lnTo>
                <a:arcTo hR="88900" wR="88900" stAng="5400000" swAng="5400000"/>
                <a:lnTo>
                  <a:pt x="0" y="88900"/>
                </a:lnTo>
                <a:arcTo hR="88900" wR="88900" stAng="10800000" swAng="5400000"/>
                <a:lnTo>
                  <a:pt x="88900" y="0"/>
                </a:lnTo>
                <a:arcTo hR="88900" wR="50800" stAng="16200000" swAng="-5400000"/>
                <a:lnTo>
                  <a:pt x="38100" y="1036737"/>
                </a:lnTo>
                <a:arcTo hR="88900" wR="50800" stAng="10800000" swAng="-5400000"/>
                <a:close/>
              </a:path>
            </a:pathLst>
          </a:custGeom>
          <a:solidFill>
            <a:srgbClr val="00FF66"/>
          </a:solidFill>
          <a:ln/>
        </p:spPr>
        <p:txBody>
          <a:bodyPr/>
          <a:p/>
        </p:txBody>
      </p:sp>
      <p:sp>
        <p:nvSpPr>
          <p:cNvPr id="10" name="Text 8"/>
          <p:cNvSpPr/>
          <p:nvPr/>
        </p:nvSpPr>
        <p:spPr>
          <a:xfrm>
            <a:off x="6426200" y="1978620"/>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3F4F6"/>
                </a:solidFill>
                <a:latin typeface="DM Sans" pitchFamily="34" charset="0"/>
                <a:ea typeface="DM Sans" pitchFamily="34" charset="-122"/>
                <a:cs typeface="DM Sans" pitchFamily="34" charset="-120"/>
              </a:rPr>
              <a:t>Conta nova</a:t>
            </a:r>
            <a:endParaRPr lang="en-US" sz="1600" dirty="0"/>
          </a:p>
        </p:txBody>
      </p:sp>
      <p:sp>
        <p:nvSpPr>
          <p:cNvPr id="11" name="Text 9"/>
          <p:cNvSpPr/>
          <p:nvPr/>
        </p:nvSpPr>
        <p:spPr>
          <a:xfrm>
            <a:off x="6426200" y="2285901"/>
            <a:ext cx="4892294" cy="488156"/>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B4BAC5"/>
                </a:solidFill>
                <a:latin typeface="DM Sans" pitchFamily="34" charset="0"/>
                <a:ea typeface="DM Sans" pitchFamily="34" charset="-122"/>
                <a:cs typeface="DM Sans" pitchFamily="34" charset="-120"/>
              </a:rPr>
              <a:t>Entre com a senha inicial e crie a sua na hora (mínimo 6 caracteres).</a:t>
            </a:r>
            <a:endParaRPr lang="en-US" sz="1350" dirty="0"/>
          </a:p>
        </p:txBody>
      </p:sp>
      <p:sp>
        <p:nvSpPr>
          <p:cNvPr id="12" name="Shape 10"/>
          <p:cNvSpPr/>
          <p:nvPr/>
        </p:nvSpPr>
        <p:spPr>
          <a:xfrm>
            <a:off x="812800" y="3104257"/>
            <a:ext cx="5194300" cy="894259"/>
          </a:xfrm>
          <a:prstGeom prst="roundRect">
            <a:avLst>
              <a:gd name="adj" fmla="val 9941"/>
            </a:avLst>
          </a:prstGeom>
          <a:solidFill>
            <a:srgbClr val="15151C"/>
          </a:solidFill>
          <a:ln/>
        </p:spPr>
        <p:txBody>
          <a:bodyPr/>
          <a:p/>
        </p:txBody>
      </p:sp>
      <p:sp>
        <p:nvSpPr>
          <p:cNvPr id="13" name="Shape 11"/>
          <p:cNvSpPr/>
          <p:nvPr/>
        </p:nvSpPr>
        <p:spPr>
          <a:xfrm>
            <a:off x="812800" y="3104257"/>
            <a:ext cx="5194300" cy="894259"/>
          </a:xfrm>
          <a:custGeom>
            <a:avLst/>
            <a:gdLst/>
            <a:ahLst/>
            <a:cxnLst/>
            <a:rect l="l" t="t" r="r" b="b"/>
            <a:pathLst>
              <a:path w="5194300" h="894259">
                <a:moveTo>
                  <a:pt x="88900" y="894259"/>
                </a:moveTo>
                <a:lnTo>
                  <a:pt x="88900" y="894259"/>
                </a:lnTo>
                <a:arcTo hR="88900" wR="88900" stAng="5400000" swAng="5400000"/>
                <a:lnTo>
                  <a:pt x="0" y="88900"/>
                </a:lnTo>
                <a:arcTo hR="88900" wR="88900" stAng="10800000" swAng="5400000"/>
                <a:lnTo>
                  <a:pt x="88900" y="0"/>
                </a:lnTo>
                <a:arcTo hR="88900" wR="50800" stAng="16200000" swAng="-5400000"/>
                <a:lnTo>
                  <a:pt x="38100" y="805359"/>
                </a:lnTo>
                <a:arcTo hR="88900" wR="50800" stAng="10800000" swAng="-5400000"/>
                <a:close/>
              </a:path>
            </a:pathLst>
          </a:custGeom>
          <a:solidFill>
            <a:srgbClr val="FBBF24"/>
          </a:solidFill>
          <a:ln/>
        </p:spPr>
        <p:txBody>
          <a:bodyPr/>
          <a:p/>
        </p:txBody>
      </p:sp>
      <p:sp>
        <p:nvSpPr>
          <p:cNvPr id="14" name="Text 12"/>
          <p:cNvSpPr/>
          <p:nvPr/>
        </p:nvSpPr>
        <p:spPr>
          <a:xfrm>
            <a:off x="1054100" y="3282057"/>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3F4F6"/>
                </a:solidFill>
                <a:latin typeface="DM Sans" pitchFamily="34" charset="0"/>
                <a:ea typeface="DM Sans" pitchFamily="34" charset="-122"/>
                <a:cs typeface="DM Sans" pitchFamily="34" charset="-120"/>
              </a:rPr>
              <a:t>Estoque baixo</a:t>
            </a:r>
            <a:endParaRPr lang="en-US" sz="1600" dirty="0"/>
          </a:p>
        </p:txBody>
      </p:sp>
      <p:sp>
        <p:nvSpPr>
          <p:cNvPr id="15" name="Text 13"/>
          <p:cNvSpPr/>
          <p:nvPr/>
        </p:nvSpPr>
        <p:spPr>
          <a:xfrm>
            <a:off x="1054100" y="3589338"/>
            <a:ext cx="4892294" cy="256778"/>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B4BAC5"/>
                </a:solidFill>
                <a:latin typeface="DM Sans" pitchFamily="34" charset="0"/>
                <a:ea typeface="DM Sans" pitchFamily="34" charset="-122"/>
                <a:cs typeface="DM Sans" pitchFamily="34" charset="-120"/>
              </a:rPr>
              <a:t>Faixa vermelha no Baú. Registre em Nova compra.</a:t>
            </a:r>
            <a:endParaRPr lang="en-US" sz="1350" dirty="0"/>
          </a:p>
        </p:txBody>
      </p:sp>
      <p:sp>
        <p:nvSpPr>
          <p:cNvPr id="16" name="Shape 14"/>
          <p:cNvSpPr/>
          <p:nvPr/>
        </p:nvSpPr>
        <p:spPr>
          <a:xfrm>
            <a:off x="6184900" y="3104257"/>
            <a:ext cx="5194300" cy="894259"/>
          </a:xfrm>
          <a:prstGeom prst="roundRect">
            <a:avLst>
              <a:gd name="adj" fmla="val 9941"/>
            </a:avLst>
          </a:prstGeom>
          <a:solidFill>
            <a:srgbClr val="15151C"/>
          </a:solidFill>
          <a:ln/>
        </p:spPr>
        <p:txBody>
          <a:bodyPr/>
          <a:p/>
        </p:txBody>
      </p:sp>
      <p:sp>
        <p:nvSpPr>
          <p:cNvPr id="17" name="Shape 15"/>
          <p:cNvSpPr/>
          <p:nvPr/>
        </p:nvSpPr>
        <p:spPr>
          <a:xfrm>
            <a:off x="6184900" y="3104257"/>
            <a:ext cx="5194300" cy="894259"/>
          </a:xfrm>
          <a:custGeom>
            <a:avLst/>
            <a:gdLst/>
            <a:ahLst/>
            <a:cxnLst/>
            <a:rect l="l" t="t" r="r" b="b"/>
            <a:pathLst>
              <a:path w="5194300" h="894259">
                <a:moveTo>
                  <a:pt x="88900" y="894259"/>
                </a:moveTo>
                <a:lnTo>
                  <a:pt x="88900" y="894259"/>
                </a:lnTo>
                <a:arcTo hR="88900" wR="88900" stAng="5400000" swAng="5400000"/>
                <a:lnTo>
                  <a:pt x="0" y="88900"/>
                </a:lnTo>
                <a:arcTo hR="88900" wR="88900" stAng="10800000" swAng="5400000"/>
                <a:lnTo>
                  <a:pt x="88900" y="0"/>
                </a:lnTo>
                <a:arcTo hR="88900" wR="50800" stAng="16200000" swAng="-5400000"/>
                <a:lnTo>
                  <a:pt x="38100" y="805359"/>
                </a:lnTo>
                <a:arcTo hR="88900" wR="50800" stAng="10800000" swAng="-5400000"/>
                <a:close/>
              </a:path>
            </a:pathLst>
          </a:custGeom>
          <a:solidFill>
            <a:srgbClr val="FBBF24"/>
          </a:solidFill>
          <a:ln/>
        </p:spPr>
        <p:txBody>
          <a:bodyPr/>
          <a:p/>
        </p:txBody>
      </p:sp>
      <p:sp>
        <p:nvSpPr>
          <p:cNvPr id="18" name="Text 16"/>
          <p:cNvSpPr/>
          <p:nvPr/>
        </p:nvSpPr>
        <p:spPr>
          <a:xfrm>
            <a:off x="6426200" y="3282057"/>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3F4F6"/>
                </a:solidFill>
                <a:latin typeface="DM Sans" pitchFamily="34" charset="0"/>
                <a:ea typeface="DM Sans" pitchFamily="34" charset="-122"/>
                <a:cs typeface="DM Sans" pitchFamily="34" charset="-120"/>
              </a:rPr>
              <a:t>Lançamento errado</a:t>
            </a:r>
            <a:endParaRPr lang="en-US" sz="1600" dirty="0"/>
          </a:p>
        </p:txBody>
      </p:sp>
      <p:sp>
        <p:nvSpPr>
          <p:cNvPr id="19" name="Text 17"/>
          <p:cNvSpPr/>
          <p:nvPr/>
        </p:nvSpPr>
        <p:spPr>
          <a:xfrm>
            <a:off x="6426200" y="3589338"/>
            <a:ext cx="4892294" cy="256778"/>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B4BAC5"/>
                </a:solidFill>
                <a:latin typeface="DM Sans" pitchFamily="34" charset="0"/>
                <a:ea typeface="DM Sans" pitchFamily="34" charset="-122"/>
                <a:cs typeface="DM Sans" pitchFamily="34" charset="-120"/>
              </a:rPr>
              <a:t>Peça a um Gerente ou acima para reverter no livro do Baú.</a:t>
            </a:r>
            <a:endParaRPr lang="en-US" sz="1350" dirty="0"/>
          </a:p>
        </p:txBody>
      </p:sp>
      <p:sp>
        <p:nvSpPr>
          <p:cNvPr id="20" name="Text 18"/>
          <p:cNvSpPr/>
          <p:nvPr/>
        </p:nvSpPr>
        <p:spPr>
          <a:xfrm>
            <a:off x="812800" y="54800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0FF66"/>
                </a:solidFill>
                <a:latin typeface="DM Sans" pitchFamily="34" charset="0"/>
                <a:ea typeface="DM Sans" pitchFamily="34" charset="-122"/>
                <a:cs typeface="DM Sans" pitchFamily="34" charset="-120"/>
              </a:rPr>
              <a:t>Dúvidas? Fale com seu gerente.</a:t>
            </a:r>
            <a:endParaRPr lang="en-US" sz="1500" dirty="0"/>
          </a:p>
        </p:txBody>
      </p:sp>
      <p:sp>
        <p:nvSpPr>
          <p:cNvPr id="4" name="Shape 2"/>
          <p:cNvSpPr/>
          <p:nvPr/>
        </p:nvSpPr>
        <p:spPr>
          <a:xfrm>
            <a:off x="812800" y="4176516"/>
            <a:ext cx="5194300" cy="1125637"/>
          </a:xfrm>
          <a:prstGeom prst="roundRect">
            <a:avLst>
              <a:gd name="adj" fmla="val 7898"/>
            </a:avLst>
          </a:prstGeom>
          <a:solidFill>
            <a:srgbClr val="15151C"/>
          </a:solidFill>
          <a:ln/>
        </p:spPr>
        <p:txBody>
          <a:bodyPr/>
          <a:p/>
        </p:txBody>
      </p:sp>
      <p:sp>
        <p:nvSpPr>
          <p:cNvPr id="5" name="Shape 3"/>
          <p:cNvSpPr/>
          <p:nvPr/>
        </p:nvSpPr>
        <p:spPr>
          <a:xfrm>
            <a:off x="812800" y="4176516"/>
            <a:ext cx="5194300" cy="1125637"/>
          </a:xfrm>
          <a:custGeom>
            <a:avLst/>
            <a:gdLst/>
            <a:ahLst/>
            <a:cxnLst/>
            <a:rect l="l" t="t" r="r" b="b"/>
            <a:pathLst>
              <a:path w="5194300" h="1125637">
                <a:moveTo>
                  <a:pt x="88900" y="1125637"/>
                </a:moveTo>
                <a:lnTo>
                  <a:pt x="88900" y="1125637"/>
                </a:lnTo>
                <a:arcTo hR="88900" wR="88900" stAng="5400000" swAng="5400000"/>
                <a:lnTo>
                  <a:pt x="0" y="88900"/>
                </a:lnTo>
                <a:arcTo hR="88900" wR="88900" stAng="10800000" swAng="5400000"/>
                <a:lnTo>
                  <a:pt x="88900" y="0"/>
                </a:lnTo>
                <a:arcTo hR="88900" wR="50800" stAng="16200000" swAng="-5400000"/>
                <a:lnTo>
                  <a:pt x="38100" y="1036737"/>
                </a:lnTo>
                <a:arcTo hR="88900" wR="50800" stAng="10800000" swAng="-5400000"/>
                <a:close/>
              </a:path>
            </a:pathLst>
          </a:custGeom>
          <a:solidFill>
            <a:srgbClr val="00FF66"/>
          </a:solidFill>
          <a:ln/>
        </p:spPr>
        <p:txBody>
          <a:bodyPr/>
          <a:p/>
        </p:txBody>
      </p:sp>
      <p:sp>
        <p:nvSpPr>
          <p:cNvPr id="6" name="Text 4"/>
          <p:cNvSpPr/>
          <p:nvPr/>
        </p:nvSpPr>
        <p:spPr>
          <a:xfrm>
            <a:off x="1054100" y="4354316"/>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3F4F6"/>
                </a:solidFill>
                <a:latin typeface="DM Sans" pitchFamily="34" charset="0"/>
                <a:ea typeface="DM Sans" pitchFamily="34" charset="-122"/>
                <a:cs typeface="DM Sans" pitchFamily="34" charset="-120"/>
              </a:rPr>
              <a:t>Vendi</a:t>
            </a:r>
            <a:endParaRPr lang="en-US" sz="1600" dirty="0"/>
          </a:p>
        </p:txBody>
      </p:sp>
      <p:sp>
        <p:nvSpPr>
          <p:cNvPr id="7" name="Text 5"/>
          <p:cNvSpPr/>
          <p:nvPr/>
        </p:nvSpPr>
        <p:spPr>
          <a:xfrm>
            <a:off x="1054100" y="4661597"/>
            <a:ext cx="4892294" cy="488156"/>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B4BAC5"/>
                </a:solidFill>
                <a:latin typeface="DM Sans" pitchFamily="34" charset="0"/>
                <a:ea typeface="DM Sans" pitchFamily="34" charset="-122"/>
                <a:cs typeface="DM Sans" pitchFamily="34" charset="-120"/>
              </a:rPr>
              <a:t>A venda fica Pendente. Guarde a parte da loja e toque em Guardar no caixa.</a:t>
            </a:r>
            <a:endParaRPr lang="en-US" sz="1350" dirty="0"/>
          </a:p>
        </p:txBody>
      </p:sp>
      <p:sp>
        <p:nvSpPr>
          <p:cNvPr id="8" name="Shape 6"/>
          <p:cNvSpPr/>
          <p:nvPr/>
        </p:nvSpPr>
        <p:spPr>
          <a:xfrm>
            <a:off x="6184900" y="4176516"/>
            <a:ext cx="5194300" cy="1125637"/>
          </a:xfrm>
          <a:prstGeom prst="roundRect">
            <a:avLst>
              <a:gd name="adj" fmla="val 7898"/>
            </a:avLst>
          </a:prstGeom>
          <a:solidFill>
            <a:srgbClr val="15151C"/>
          </a:solidFill>
          <a:ln/>
        </p:spPr>
        <p:txBody>
          <a:bodyPr/>
          <a:p/>
        </p:txBody>
      </p:sp>
      <p:sp>
        <p:nvSpPr>
          <p:cNvPr id="9" name="Shape 7"/>
          <p:cNvSpPr/>
          <p:nvPr/>
        </p:nvSpPr>
        <p:spPr>
          <a:xfrm>
            <a:off x="6184900" y="4176516"/>
            <a:ext cx="5194300" cy="1125637"/>
          </a:xfrm>
          <a:custGeom>
            <a:avLst/>
            <a:gdLst/>
            <a:ahLst/>
            <a:cxnLst/>
            <a:rect l="l" t="t" r="r" b="b"/>
            <a:pathLst>
              <a:path w="5194300" h="1125637">
                <a:moveTo>
                  <a:pt x="88900" y="1125637"/>
                </a:moveTo>
                <a:lnTo>
                  <a:pt x="88900" y="1125637"/>
                </a:lnTo>
                <a:arcTo hR="88900" wR="88900" stAng="5400000" swAng="5400000"/>
                <a:lnTo>
                  <a:pt x="0" y="88900"/>
                </a:lnTo>
                <a:arcTo hR="88900" wR="88900" stAng="10800000" swAng="5400000"/>
                <a:lnTo>
                  <a:pt x="88900" y="0"/>
                </a:lnTo>
                <a:arcTo hR="88900" wR="50800" stAng="16200000" swAng="-5400000"/>
                <a:lnTo>
                  <a:pt x="38100" y="1036737"/>
                </a:lnTo>
                <a:arcTo hR="88900" wR="50800" stAng="10800000" swAng="-5400000"/>
                <a:close/>
              </a:path>
            </a:pathLst>
          </a:custGeom>
          <a:solidFill>
            <a:srgbClr val="00FF66"/>
          </a:solidFill>
          <a:ln/>
        </p:spPr>
        <p:txBody>
          <a:bodyPr/>
          <a:p/>
        </p:txBody>
      </p:sp>
      <p:sp>
        <p:nvSpPr>
          <p:cNvPr id="10" name="Text 8"/>
          <p:cNvSpPr/>
          <p:nvPr/>
        </p:nvSpPr>
        <p:spPr>
          <a:xfrm>
            <a:off x="6426200" y="4354316"/>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3F4F6"/>
                </a:solidFill>
                <a:latin typeface="DM Sans" pitchFamily="34" charset="0"/>
                <a:ea typeface="DM Sans" pitchFamily="34" charset="-122"/>
                <a:cs typeface="DM Sans" pitchFamily="34" charset="-120"/>
              </a:rPr>
              <a:t>Venda errada</a:t>
            </a:r>
            <a:endParaRPr lang="en-US" sz="1600" dirty="0"/>
          </a:p>
        </p:txBody>
      </p:sp>
      <p:sp>
        <p:nvSpPr>
          <p:cNvPr id="11" name="Text 9"/>
          <p:cNvSpPr/>
          <p:nvPr/>
        </p:nvSpPr>
        <p:spPr>
          <a:xfrm>
            <a:off x="6426200" y="4661597"/>
            <a:ext cx="4892294" cy="488156"/>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B4BAC5"/>
                </a:solidFill>
                <a:latin typeface="DM Sans" pitchFamily="34" charset="0"/>
                <a:ea typeface="DM Sans" pitchFamily="34" charset="-122"/>
                <a:cs typeface="DM Sans" pitchFamily="34" charset="-120"/>
              </a:rPr>
              <a:t>Ainda pendente? Pedir cancelamento, com motivo. Um Gerente responde.</a:t>
            </a:r>
            <a:endParaRPr lang="en-US" sz="13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24181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04120A"/>
                </a:solidFill>
                <a:latin typeface="DM Sans" pitchFamily="34" charset="0"/>
                <a:ea typeface="DM Sans" pitchFamily="34" charset="-122"/>
                <a:cs typeface="DM Sans" pitchFamily="34" charset="-120"/>
              </a:rPr>
              <a:t>PARTE 3</a:t>
            </a:r>
            <a:endParaRPr lang="en-US" sz="1400" dirty="0"/>
          </a:p>
        </p:txBody>
      </p:sp>
      <p:sp>
        <p:nvSpPr>
          <p:cNvPr id="3" name="Text 1"/>
          <p:cNvSpPr/>
          <p:nvPr/>
        </p:nvSpPr>
        <p:spPr>
          <a:xfrm>
            <a:off x="812800" y="2844800"/>
            <a:ext cx="10883392" cy="802580"/>
          </a:xfrm>
          <a:prstGeom prst="rect">
            <a:avLst/>
          </a:prstGeom>
          <a:noFill/>
          <a:ln/>
        </p:spPr>
        <p:txBody>
          <a:bodyPr wrap="square" lIns="0" tIns="0" rIns="0" bIns="0" rtlCol="0" anchor="t">
            <a:normAutofit/>
          </a:bodyPr>
          <a:lstStyle/>
          <a:p>
            <a:pPr algn="l" indent="0" marL="0">
              <a:lnSpc>
                <a:spcPts val="6120"/>
              </a:lnSpc>
              <a:buNone/>
            </a:pPr>
            <a:r>
              <a:rPr lang="en-US" sz="6000" b="1" dirty="0">
                <a:solidFill>
                  <a:srgbClr val="04120A"/>
                </a:solidFill>
                <a:latin typeface="Space Grotesk" pitchFamily="34" charset="0"/>
                <a:ea typeface="Space Grotesk" pitchFamily="34" charset="-122"/>
                <a:cs typeface="Space Grotesk" pitchFamily="34" charset="-120"/>
              </a:rPr>
              <a:t>Vendas: do balcão ao caixa</a:t>
            </a:r>
            <a:endParaRPr lang="en-US" sz="6000" dirty="0"/>
          </a:p>
        </p:txBody>
      </p:sp>
      <p:sp>
        <p:nvSpPr>
          <p:cNvPr id="4" name="Text 2"/>
          <p:cNvSpPr/>
          <p:nvPr/>
        </p:nvSpPr>
        <p:spPr>
          <a:xfrm>
            <a:off x="812800" y="3799780"/>
            <a:ext cx="8502650" cy="665361"/>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0B2A17"/>
                </a:solidFill>
                <a:latin typeface="DM Sans" pitchFamily="34" charset="0"/>
                <a:ea typeface="DM Sans" pitchFamily="34" charset="-122"/>
                <a:cs typeface="DM Sans" pitchFamily="34" charset="-120"/>
              </a:rPr>
              <a:t>A venda fica pendente até o dinheiro ser guardado. Só então ela conta no caixa do sistema.</a:t>
            </a:r>
            <a:endParaRPr lang="en-US" sz="18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CAIXA DE BALCÃO</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Registrar uma venda</a:t>
            </a:r>
            <a:endParaRPr lang="en-US" sz="3000" dirty="0"/>
          </a:p>
        </p:txBody>
      </p:sp>
      <p:sp>
        <p:nvSpPr>
          <p:cNvPr id="4" name="Shape 2"/>
          <p:cNvSpPr/>
          <p:nvPr/>
        </p:nvSpPr>
        <p:spPr>
          <a:xfrm>
            <a:off x="812800" y="1750020"/>
            <a:ext cx="304800" cy="304800"/>
          </a:xfrm>
          <a:prstGeom prst="roundRect">
            <a:avLst>
              <a:gd name="adj" fmla="val 50000"/>
            </a:avLst>
          </a:prstGeom>
          <a:solidFill>
            <a:srgbClr val="00FF66"/>
          </a:solidFill>
          <a:ln/>
        </p:spPr>
        <p:txBody>
          <a:bodyPr/>
          <a:p/>
        </p:txBody>
      </p:sp>
      <p:sp>
        <p:nvSpPr>
          <p:cNvPr id="5" name="Text 3"/>
          <p:cNvSpPr/>
          <p:nvPr/>
        </p:nvSpPr>
        <p:spPr>
          <a:xfrm>
            <a:off x="787400" y="17500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1</a:t>
            </a:r>
            <a:endParaRPr lang="en-US" sz="1200" dirty="0"/>
          </a:p>
        </p:txBody>
      </p:sp>
      <p:sp>
        <p:nvSpPr>
          <p:cNvPr id="6" name="Text 4"/>
          <p:cNvSpPr/>
          <p:nvPr/>
        </p:nvSpPr>
        <p:spPr>
          <a:xfrm>
            <a:off x="1244600" y="1750020"/>
            <a:ext cx="3584194" cy="33020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D5D9E0"/>
                </a:solidFill>
                <a:latin typeface="DM Sans" pitchFamily="34" charset="0"/>
                <a:ea typeface="DM Sans" pitchFamily="34" charset="-122"/>
                <a:cs typeface="DM Sans" pitchFamily="34" charset="-120"/>
              </a:rPr>
              <a:t>Toque nos produtos do catálogo.</a:t>
            </a:r>
            <a:endParaRPr lang="en-US" sz="1400" dirty="0"/>
          </a:p>
        </p:txBody>
      </p:sp>
      <p:sp>
        <p:nvSpPr>
          <p:cNvPr id="7" name="Shape 5"/>
          <p:cNvSpPr/>
          <p:nvPr/>
        </p:nvSpPr>
        <p:spPr>
          <a:xfrm>
            <a:off x="812800" y="2207220"/>
            <a:ext cx="304800" cy="304800"/>
          </a:xfrm>
          <a:prstGeom prst="roundRect">
            <a:avLst>
              <a:gd name="adj" fmla="val 50000"/>
            </a:avLst>
          </a:prstGeom>
          <a:solidFill>
            <a:srgbClr val="00FF66"/>
          </a:solidFill>
          <a:ln/>
        </p:spPr>
        <p:txBody>
          <a:bodyPr/>
          <a:p/>
        </p:txBody>
      </p:sp>
      <p:sp>
        <p:nvSpPr>
          <p:cNvPr id="8" name="Text 6"/>
          <p:cNvSpPr/>
          <p:nvPr/>
        </p:nvSpPr>
        <p:spPr>
          <a:xfrm>
            <a:off x="787400" y="22072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2</a:t>
            </a:r>
            <a:endParaRPr lang="en-US" sz="1200" dirty="0"/>
          </a:p>
        </p:txBody>
      </p:sp>
      <p:sp>
        <p:nvSpPr>
          <p:cNvPr id="9" name="Text 7"/>
          <p:cNvSpPr/>
          <p:nvPr/>
        </p:nvSpPr>
        <p:spPr>
          <a:xfrm>
            <a:off x="1244600" y="2207220"/>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Escolha o desconto e a taxa de deslocamento, se houver.</a:t>
            </a:r>
            <a:endParaRPr lang="en-US" sz="1400" dirty="0"/>
          </a:p>
        </p:txBody>
      </p:sp>
      <p:sp>
        <p:nvSpPr>
          <p:cNvPr id="10" name="Shape 8"/>
          <p:cNvSpPr/>
          <p:nvPr/>
        </p:nvSpPr>
        <p:spPr>
          <a:xfrm>
            <a:off x="812800" y="2839641"/>
            <a:ext cx="304800" cy="304800"/>
          </a:xfrm>
          <a:prstGeom prst="roundRect">
            <a:avLst>
              <a:gd name="adj" fmla="val 50000"/>
            </a:avLst>
          </a:prstGeom>
          <a:solidFill>
            <a:srgbClr val="00FF66"/>
          </a:solidFill>
          <a:ln/>
        </p:spPr>
        <p:txBody>
          <a:bodyPr/>
          <a:p/>
        </p:txBody>
      </p:sp>
      <p:sp>
        <p:nvSpPr>
          <p:cNvPr id="11" name="Text 9"/>
          <p:cNvSpPr/>
          <p:nvPr/>
        </p:nvSpPr>
        <p:spPr>
          <a:xfrm>
            <a:off x="787400" y="283964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3</a:t>
            </a:r>
            <a:endParaRPr lang="en-US" sz="1200" dirty="0"/>
          </a:p>
        </p:txBody>
      </p:sp>
      <p:sp>
        <p:nvSpPr>
          <p:cNvPr id="12" name="Text 10"/>
          <p:cNvSpPr/>
          <p:nvPr/>
        </p:nvSpPr>
        <p:spPr>
          <a:xfrm>
            <a:off x="1244600" y="2839641"/>
            <a:ext cx="35841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Venda com ajuda? Adicione o auxiliar: o repasse é dividido igualmente.</a:t>
            </a:r>
            <a:endParaRPr lang="en-US" sz="1400" dirty="0"/>
          </a:p>
        </p:txBody>
      </p:sp>
      <p:sp>
        <p:nvSpPr>
          <p:cNvPr id="13" name="Shape 11"/>
          <p:cNvSpPr/>
          <p:nvPr/>
        </p:nvSpPr>
        <p:spPr>
          <a:xfrm>
            <a:off x="812800" y="3712071"/>
            <a:ext cx="304800" cy="304800"/>
          </a:xfrm>
          <a:prstGeom prst="roundRect">
            <a:avLst>
              <a:gd name="adj" fmla="val 50000"/>
            </a:avLst>
          </a:prstGeom>
          <a:solidFill>
            <a:srgbClr val="00FF66"/>
          </a:solidFill>
          <a:ln/>
        </p:spPr>
        <p:txBody>
          <a:bodyPr/>
          <a:p/>
        </p:txBody>
      </p:sp>
      <p:sp>
        <p:nvSpPr>
          <p:cNvPr id="14" name="Text 12"/>
          <p:cNvSpPr/>
          <p:nvPr/>
        </p:nvSpPr>
        <p:spPr>
          <a:xfrm>
            <a:off x="787400" y="371207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4</a:t>
            </a:r>
            <a:endParaRPr lang="en-US" sz="1200" dirty="0"/>
          </a:p>
        </p:txBody>
      </p:sp>
      <p:sp>
        <p:nvSpPr>
          <p:cNvPr id="15" name="Text 13"/>
          <p:cNvSpPr/>
          <p:nvPr/>
        </p:nvSpPr>
        <p:spPr>
          <a:xfrm>
            <a:off x="1244600" y="3712071"/>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Finalizar venda: ela fica Pendente, ainda fora do caixa.</a:t>
            </a:r>
            <a:endParaRPr lang="en-US" sz="1400" dirty="0"/>
          </a:p>
        </p:txBody>
      </p:sp>
      <p:sp>
        <p:nvSpPr>
          <p:cNvPr id="16" name="Shape 14"/>
          <p:cNvSpPr/>
          <p:nvPr/>
        </p:nvSpPr>
        <p:spPr>
          <a:xfrm>
            <a:off x="5080000" y="1750020"/>
            <a:ext cx="6299200" cy="3937000"/>
          </a:xfrm>
          <a:prstGeom prst="roundRect">
            <a:avLst>
              <a:gd name="adj" fmla="val 2581"/>
            </a:avLst>
          </a:prstGeom>
          <a:solidFill>
            <a:srgbClr val="15151C"/>
          </a:solidFill>
          <a:ln/>
        </p:spPr>
        <p:txBody>
          <a:bodyPr/>
          <a:p/>
        </p:txBody>
      </p:sp>
      <p:pic>
        <p:nvPicPr>
          <p:cNvPr id="17" name="Image 0" descr="Tela do Baú com alerta de mínimo, cartões de saldo e livro de movimentações">    </p:cNvPr>
          <p:cNvPicPr>
            <a:picLocks noChangeAspect="1"/>
          </p:cNvPicPr>
          <p:nvPr/>
        </p:nvPicPr>
        <p:blipFill>
          <a:blip r:embed="rId4"/>
          <a:srcRect l="-61" r="-61" t="0" b="0"/>
          <a:stretch/>
        </p:blipFill>
        <p:spPr>
          <a:xfrm>
            <a:off x="5086350" y="1756370"/>
            <a:ext cx="6286500" cy="3924300"/>
          </a:xfrm>
          <a:prstGeom prst="roundRect">
            <a:avLst>
              <a:gd name="adj" fmla="val 2427"/>
            </a:avLst>
          </a:prstGeom>
        </p:spPr>
      </p:pic>
      <p:sp>
        <p:nvSpPr>
          <p:cNvPr id="18" name="Shape 15"/>
          <p:cNvSpPr/>
          <p:nvPr/>
        </p:nvSpPr>
        <p:spPr>
          <a:xfrm>
            <a:off x="5083175" y="1753195"/>
            <a:ext cx="6292850" cy="3930650"/>
          </a:xfrm>
          <a:prstGeom prst="roundRect">
            <a:avLst>
              <a:gd name="adj" fmla="val 2504"/>
            </a:avLst>
          </a:prstGeom>
          <a:noFill/>
          <a:ln w="6350">
            <a:solidFill>
              <a:srgbClr val="282836"/>
            </a:solidFill>
            <a:prstDash val="solid"/>
          </a:ln>
        </p:spPr>
        <p:txBody>
          <a:bodyPr/>
          <a:p/>
        </p:txBody>
      </p:sp>
      <p:sp>
        <p:nvSpPr>
          <p:cNvPr id="19"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13</a:t>
            </a:r>
            <a:endParaRPr lang="en-US" sz="12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CAIXA DE BALCÃO</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Guardar o dinheiro no caixa</a:t>
            </a:r>
            <a:endParaRPr lang="en-US" sz="3000" dirty="0"/>
          </a:p>
        </p:txBody>
      </p:sp>
      <p:sp>
        <p:nvSpPr>
          <p:cNvPr id="4" name="Shape 2"/>
          <p:cNvSpPr/>
          <p:nvPr/>
        </p:nvSpPr>
        <p:spPr>
          <a:xfrm>
            <a:off x="812800" y="1750020"/>
            <a:ext cx="304800" cy="304800"/>
          </a:xfrm>
          <a:prstGeom prst="roundRect">
            <a:avLst>
              <a:gd name="adj" fmla="val 50000"/>
            </a:avLst>
          </a:prstGeom>
          <a:solidFill>
            <a:srgbClr val="00FF66"/>
          </a:solidFill>
          <a:ln/>
        </p:spPr>
        <p:txBody>
          <a:bodyPr/>
          <a:p/>
        </p:txBody>
      </p:sp>
      <p:sp>
        <p:nvSpPr>
          <p:cNvPr id="5" name="Text 3"/>
          <p:cNvSpPr/>
          <p:nvPr/>
        </p:nvSpPr>
        <p:spPr>
          <a:xfrm>
            <a:off x="787400" y="17500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1</a:t>
            </a:r>
            <a:endParaRPr lang="en-US" sz="1200" dirty="0"/>
          </a:p>
        </p:txBody>
      </p:sp>
      <p:sp>
        <p:nvSpPr>
          <p:cNvPr id="6" name="Text 4"/>
          <p:cNvSpPr/>
          <p:nvPr/>
        </p:nvSpPr>
        <p:spPr>
          <a:xfrm>
            <a:off x="1244600" y="1750020"/>
            <a:ext cx="3584194" cy="33020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D5D9E0"/>
                </a:solidFill>
                <a:latin typeface="DM Sans" pitchFamily="34" charset="0"/>
                <a:ea typeface="DM Sans" pitchFamily="34" charset="-122"/>
                <a:cs typeface="DM Sans" pitchFamily="34" charset="-120"/>
              </a:rPr>
              <a:t>Fique com o seu repasse.</a:t>
            </a:r>
            <a:endParaRPr lang="en-US" sz="1400" dirty="0"/>
          </a:p>
        </p:txBody>
      </p:sp>
      <p:sp>
        <p:nvSpPr>
          <p:cNvPr id="7" name="Shape 5"/>
          <p:cNvSpPr/>
          <p:nvPr/>
        </p:nvSpPr>
        <p:spPr>
          <a:xfrm>
            <a:off x="812800" y="2207220"/>
            <a:ext cx="304800" cy="304800"/>
          </a:xfrm>
          <a:prstGeom prst="roundRect">
            <a:avLst>
              <a:gd name="adj" fmla="val 50000"/>
            </a:avLst>
          </a:prstGeom>
          <a:solidFill>
            <a:srgbClr val="00FF66"/>
          </a:solidFill>
          <a:ln/>
        </p:spPr>
        <p:txBody>
          <a:bodyPr/>
          <a:p/>
        </p:txBody>
      </p:sp>
      <p:sp>
        <p:nvSpPr>
          <p:cNvPr id="8" name="Text 6"/>
          <p:cNvSpPr/>
          <p:nvPr/>
        </p:nvSpPr>
        <p:spPr>
          <a:xfrm>
            <a:off x="787400" y="22072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2</a:t>
            </a:r>
            <a:endParaRPr lang="en-US" sz="1200" dirty="0"/>
          </a:p>
        </p:txBody>
      </p:sp>
      <p:sp>
        <p:nvSpPr>
          <p:cNvPr id="9" name="Text 7"/>
          <p:cNvSpPr/>
          <p:nvPr/>
        </p:nvSpPr>
        <p:spPr>
          <a:xfrm>
            <a:off x="1244600" y="2207220"/>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Pague os auxiliares e guarde a parte da loja no caixa do jogo.</a:t>
            </a:r>
            <a:endParaRPr lang="en-US" sz="1400" dirty="0"/>
          </a:p>
        </p:txBody>
      </p:sp>
      <p:sp>
        <p:nvSpPr>
          <p:cNvPr id="10" name="Shape 8"/>
          <p:cNvSpPr/>
          <p:nvPr/>
        </p:nvSpPr>
        <p:spPr>
          <a:xfrm>
            <a:off x="812800" y="2839641"/>
            <a:ext cx="304800" cy="304800"/>
          </a:xfrm>
          <a:prstGeom prst="roundRect">
            <a:avLst>
              <a:gd name="adj" fmla="val 50000"/>
            </a:avLst>
          </a:prstGeom>
          <a:solidFill>
            <a:srgbClr val="00FF66"/>
          </a:solidFill>
          <a:ln/>
        </p:spPr>
        <p:txBody>
          <a:bodyPr/>
          <a:p/>
        </p:txBody>
      </p:sp>
      <p:sp>
        <p:nvSpPr>
          <p:cNvPr id="11" name="Text 9"/>
          <p:cNvSpPr/>
          <p:nvPr/>
        </p:nvSpPr>
        <p:spPr>
          <a:xfrm>
            <a:off x="787400" y="283964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3</a:t>
            </a:r>
            <a:endParaRPr lang="en-US" sz="1200" dirty="0"/>
          </a:p>
        </p:txBody>
      </p:sp>
      <p:sp>
        <p:nvSpPr>
          <p:cNvPr id="12" name="Text 10"/>
          <p:cNvSpPr/>
          <p:nvPr/>
        </p:nvSpPr>
        <p:spPr>
          <a:xfrm>
            <a:off x="1244600" y="2839641"/>
            <a:ext cx="35841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Em Vendas a guardar, marque as vendas e toque em Guardar no caixa.</a:t>
            </a:r>
            <a:endParaRPr lang="en-US" sz="1400" dirty="0"/>
          </a:p>
        </p:txBody>
      </p:sp>
      <p:sp>
        <p:nvSpPr>
          <p:cNvPr id="13" name="Shape 11"/>
          <p:cNvSpPr/>
          <p:nvPr/>
        </p:nvSpPr>
        <p:spPr>
          <a:xfrm>
            <a:off x="812800" y="3712071"/>
            <a:ext cx="304800" cy="304800"/>
          </a:xfrm>
          <a:prstGeom prst="roundRect">
            <a:avLst>
              <a:gd name="adj" fmla="val 50000"/>
            </a:avLst>
          </a:prstGeom>
          <a:solidFill>
            <a:srgbClr val="00FF66"/>
          </a:solidFill>
          <a:ln/>
        </p:spPr>
        <p:txBody>
          <a:bodyPr/>
          <a:p/>
        </p:txBody>
      </p:sp>
      <p:sp>
        <p:nvSpPr>
          <p:cNvPr id="14" name="Text 12"/>
          <p:cNvSpPr/>
          <p:nvPr/>
        </p:nvSpPr>
        <p:spPr>
          <a:xfrm>
            <a:off x="787400" y="371207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4</a:t>
            </a:r>
            <a:endParaRPr lang="en-US" sz="1200" dirty="0"/>
          </a:p>
        </p:txBody>
      </p:sp>
      <p:sp>
        <p:nvSpPr>
          <p:cNvPr id="15" name="Text 13"/>
          <p:cNvSpPr/>
          <p:nvPr/>
        </p:nvSpPr>
        <p:spPr>
          <a:xfrm>
            <a:off x="1244600" y="3712071"/>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Confira o VALOR PARA O CAIXA e confirme.</a:t>
            </a:r>
            <a:endParaRPr lang="en-US" sz="1400" dirty="0"/>
          </a:p>
        </p:txBody>
      </p:sp>
      <p:sp>
        <p:nvSpPr>
          <p:cNvPr id="16" name="Shape 14"/>
          <p:cNvSpPr/>
          <p:nvPr/>
        </p:nvSpPr>
        <p:spPr>
          <a:xfrm>
            <a:off x="5080000" y="1750020"/>
            <a:ext cx="6299200" cy="3937000"/>
          </a:xfrm>
          <a:prstGeom prst="roundRect">
            <a:avLst>
              <a:gd name="adj" fmla="val 2581"/>
            </a:avLst>
          </a:prstGeom>
          <a:solidFill>
            <a:srgbClr val="15151C"/>
          </a:solidFill>
          <a:ln/>
        </p:spPr>
        <p:txBody>
          <a:bodyPr/>
          <a:p/>
        </p:txBody>
      </p:sp>
      <p:pic>
        <p:nvPicPr>
          <p:cNvPr id="17" name="Image 0" descr="Tela do Baú com alerta de mínimo, cartões de saldo e livro de movimentações">    </p:cNvPr>
          <p:cNvPicPr>
            <a:picLocks noChangeAspect="1"/>
          </p:cNvPicPr>
          <p:nvPr/>
        </p:nvPicPr>
        <p:blipFill>
          <a:blip r:embed="rId4"/>
          <a:srcRect l="-61" r="-61" t="0" b="0"/>
          <a:stretch/>
        </p:blipFill>
        <p:spPr>
          <a:xfrm>
            <a:off x="5086350" y="1756370"/>
            <a:ext cx="6286500" cy="3924300"/>
          </a:xfrm>
          <a:prstGeom prst="roundRect">
            <a:avLst>
              <a:gd name="adj" fmla="val 2427"/>
            </a:avLst>
          </a:prstGeom>
        </p:spPr>
      </p:pic>
      <p:sp>
        <p:nvSpPr>
          <p:cNvPr id="18" name="Shape 15"/>
          <p:cNvSpPr/>
          <p:nvPr/>
        </p:nvSpPr>
        <p:spPr>
          <a:xfrm>
            <a:off x="5083175" y="1753195"/>
            <a:ext cx="6292850" cy="3930650"/>
          </a:xfrm>
          <a:prstGeom prst="roundRect">
            <a:avLst>
              <a:gd name="adj" fmla="val 2504"/>
            </a:avLst>
          </a:prstGeom>
          <a:noFill/>
          <a:ln w="6350">
            <a:solidFill>
              <a:srgbClr val="282836"/>
            </a:solidFill>
            <a:prstDash val="solid"/>
          </a:ln>
        </p:spPr>
        <p:txBody>
          <a:bodyPr/>
          <a:p/>
        </p:txBody>
      </p:sp>
      <p:sp>
        <p:nvSpPr>
          <p:cNvPr id="19"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14</a:t>
            </a:r>
            <a:endParaRPr lang="en-US" sz="12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78BFA"/>
                </a:solidFill>
                <a:latin typeface="DM Sans" pitchFamily="34" charset="0"/>
                <a:ea typeface="DM Sans" pitchFamily="34" charset="-122"/>
                <a:cs typeface="DM Sans" pitchFamily="34" charset="-120"/>
              </a:rPr>
              <a:t>CAIXA DE BALCÃO</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Vendas a guardar: vendedor e gerência</a:t>
            </a:r>
            <a:endParaRPr lang="en-US" sz="3000" dirty="0"/>
          </a:p>
        </p:txBody>
      </p:sp>
      <p:sp>
        <p:nvSpPr>
          <p:cNvPr id="4" name="Shape 2"/>
          <p:cNvSpPr/>
          <p:nvPr/>
        </p:nvSpPr>
        <p:spPr>
          <a:xfrm>
            <a:off x="815975" y="1753195"/>
            <a:ext cx="5124450" cy="3215481"/>
          </a:xfrm>
          <a:prstGeom prst="roundRect">
            <a:avLst>
              <a:gd name="adj" fmla="val 3456"/>
            </a:avLst>
          </a:prstGeom>
          <a:solidFill>
            <a:srgbClr val="0D0D11"/>
          </a:solidFill>
          <a:ln w="6350">
            <a:solidFill>
              <a:srgbClr val="282836"/>
            </a:solidFill>
            <a:prstDash val="solid"/>
          </a:ln>
        </p:spPr>
        <p:txBody>
          <a:bodyPr/>
          <a:p/>
        </p:txBody>
      </p:sp>
      <p:sp>
        <p:nvSpPr>
          <p:cNvPr id="5" name="Text 3"/>
          <p:cNvSpPr/>
          <p:nvPr/>
        </p:nvSpPr>
        <p:spPr>
          <a:xfrm>
            <a:off x="996950" y="1934170"/>
            <a:ext cx="4905375"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0FF66"/>
                </a:solidFill>
                <a:latin typeface="Space Grotesk" pitchFamily="34" charset="0"/>
                <a:ea typeface="Space Grotesk" pitchFamily="34" charset="-122"/>
                <a:cs typeface="Space Grotesk" pitchFamily="34" charset="-120"/>
              </a:rPr>
              <a:t>Vendedor</a:t>
            </a:r>
            <a:endParaRPr lang="en-US" sz="1800" dirty="0"/>
          </a:p>
        </p:txBody>
      </p:sp>
      <p:pic>
        <p:nvPicPr>
          <p:cNvPr id="6" name="Image 0" descr="Janela Entrada avulsa com quantidade e motivo">    </p:cNvPr>
          <p:cNvPicPr>
            <a:picLocks noChangeAspect="1"/>
          </p:cNvPicPr>
          <p:nvPr/>
        </p:nvPicPr>
        <p:blipFill>
          <a:blip r:embed="rId5"/>
          <a:srcRect l="-27662" r="-27662" t="0" b="0"/>
          <a:stretch/>
        </p:blipFill>
        <p:spPr>
          <a:xfrm>
            <a:off x="996950" y="2322711"/>
            <a:ext cx="4775200" cy="1905000"/>
          </a:xfrm>
          <a:prstGeom prst="rect">
            <a:avLst/>
          </a:prstGeom>
        </p:spPr>
      </p:pic>
      <p:sp>
        <p:nvSpPr>
          <p:cNvPr id="7" name="Text 4"/>
          <p:cNvSpPr/>
          <p:nvPr/>
        </p:nvSpPr>
        <p:spPr>
          <a:xfrm>
            <a:off x="996950" y="4342011"/>
            <a:ext cx="4905375"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9E0"/>
                </a:solidFill>
                <a:latin typeface="DM Sans" pitchFamily="34" charset="0"/>
                <a:ea typeface="DM Sans" pitchFamily="34" charset="-122"/>
                <a:cs typeface="DM Sans" pitchFamily="34" charset="-120"/>
              </a:rPr>
              <a:t>Vê só as próprias vendas. Com 24 h ou mais, a idade fica vermelha. Errou? Pedir cancelamento.</a:t>
            </a:r>
            <a:endParaRPr lang="en-US" sz="1300" dirty="0"/>
          </a:p>
        </p:txBody>
      </p:sp>
      <p:sp>
        <p:nvSpPr>
          <p:cNvPr id="8" name="Shape 5"/>
          <p:cNvSpPr/>
          <p:nvPr/>
        </p:nvSpPr>
        <p:spPr>
          <a:xfrm>
            <a:off x="6251575" y="1753195"/>
            <a:ext cx="5124450" cy="3215481"/>
          </a:xfrm>
          <a:prstGeom prst="roundRect">
            <a:avLst>
              <a:gd name="adj" fmla="val 3456"/>
            </a:avLst>
          </a:prstGeom>
          <a:solidFill>
            <a:srgbClr val="0D0D11"/>
          </a:solidFill>
          <a:ln w="6350">
            <a:solidFill>
              <a:srgbClr val="282836"/>
            </a:solidFill>
            <a:prstDash val="solid"/>
          </a:ln>
        </p:spPr>
        <p:txBody>
          <a:bodyPr/>
          <a:p/>
        </p:txBody>
      </p:sp>
      <p:sp>
        <p:nvSpPr>
          <p:cNvPr id="9" name="Text 6"/>
          <p:cNvSpPr/>
          <p:nvPr/>
        </p:nvSpPr>
        <p:spPr>
          <a:xfrm>
            <a:off x="6432550" y="1934170"/>
            <a:ext cx="4905375"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CA5A5"/>
                </a:solidFill>
                <a:latin typeface="Space Grotesk" pitchFamily="34" charset="0"/>
                <a:ea typeface="Space Grotesk" pitchFamily="34" charset="-122"/>
                <a:cs typeface="Space Grotesk" pitchFamily="34" charset="-120"/>
              </a:rPr>
              <a:t>Gerente ou acima</a:t>
            </a:r>
            <a:endParaRPr lang="en-US" sz="1800" dirty="0"/>
          </a:p>
        </p:txBody>
      </p:sp>
      <p:pic>
        <p:nvPicPr>
          <p:cNvPr id="10" name="Image 1" descr="Confirmação Reverter lançamento do Baú">    </p:cNvPr>
          <p:cNvPicPr>
            <a:picLocks noChangeAspect="1"/>
          </p:cNvPicPr>
          <p:nvPr/>
        </p:nvPicPr>
        <p:blipFill>
          <a:blip r:embed="rId6"/>
          <a:srcRect l="-16655" r="-16655" t="0" b="0"/>
          <a:stretch/>
        </p:blipFill>
        <p:spPr>
          <a:xfrm>
            <a:off x="6432550" y="2322711"/>
            <a:ext cx="4775200" cy="1905000"/>
          </a:xfrm>
          <a:prstGeom prst="rect">
            <a:avLst/>
          </a:prstGeom>
        </p:spPr>
      </p:pic>
      <p:sp>
        <p:nvSpPr>
          <p:cNvPr id="11" name="Text 7"/>
          <p:cNvSpPr/>
          <p:nvPr/>
        </p:nvSpPr>
        <p:spPr>
          <a:xfrm>
            <a:off x="6432550" y="4342011"/>
            <a:ext cx="4905375"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9E0"/>
                </a:solidFill>
                <a:latin typeface="DM Sans" pitchFamily="34" charset="0"/>
                <a:ea typeface="DM Sans" pitchFamily="34" charset="-122"/>
                <a:cs typeface="DM Sans" pitchFamily="34" charset="-120"/>
              </a:rPr>
              <a:t>Vê todas e o dinheiro na mão de cada vendedor. Aprova ou recusa os cancelamentos.</a:t>
            </a:r>
            <a:endParaRPr lang="en-US" sz="1300" dirty="0"/>
          </a:p>
        </p:txBody>
      </p:sp>
      <p:sp>
        <p:nvSpPr>
          <p:cNvPr id="12"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15</a:t>
            </a:r>
            <a:endParaRPr lang="en-US" sz="12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0FF66"/>
                </a:solidFill>
                <a:latin typeface="DM Sans" pitchFamily="34" charset="0"/>
                <a:ea typeface="DM Sans" pitchFamily="34" charset="-122"/>
                <a:cs typeface="DM Sans" pitchFamily="34" charset="-120"/>
              </a:rPr>
              <a:t>HISTÓRICO FINANCEIRO</a:t>
            </a:r>
            <a:endParaRPr lang="en-US" sz="1200" dirty="0"/>
          </a:p>
        </p:txBody>
      </p:sp>
      <p:sp>
        <p:nvSpPr>
          <p:cNvPr id="3" name="Text 1"/>
          <p:cNvSpPr/>
          <p:nvPr/>
        </p:nvSpPr>
        <p:spPr>
          <a:xfrm>
            <a:off x="812800" y="10769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3F4F6"/>
                </a:solidFill>
                <a:latin typeface="Space Grotesk" pitchFamily="34" charset="0"/>
                <a:ea typeface="Space Grotesk" pitchFamily="34" charset="-122"/>
                <a:cs typeface="Space Grotesk" pitchFamily="34" charset="-120"/>
              </a:rPr>
              <a:t>O caixa conta só o que foi guardado</a:t>
            </a:r>
            <a:endParaRPr lang="en-US" sz="3000" dirty="0"/>
          </a:p>
        </p:txBody>
      </p:sp>
      <p:sp>
        <p:nvSpPr>
          <p:cNvPr id="4" name="Shape 2"/>
          <p:cNvSpPr/>
          <p:nvPr/>
        </p:nvSpPr>
        <p:spPr>
          <a:xfrm>
            <a:off x="812800" y="1750020"/>
            <a:ext cx="304800" cy="304800"/>
          </a:xfrm>
          <a:prstGeom prst="roundRect">
            <a:avLst>
              <a:gd name="adj" fmla="val 50000"/>
            </a:avLst>
          </a:prstGeom>
          <a:solidFill>
            <a:srgbClr val="00FF66"/>
          </a:solidFill>
          <a:ln/>
        </p:spPr>
        <p:txBody>
          <a:bodyPr/>
          <a:p/>
        </p:txBody>
      </p:sp>
      <p:sp>
        <p:nvSpPr>
          <p:cNvPr id="5" name="Text 3"/>
          <p:cNvSpPr/>
          <p:nvPr/>
        </p:nvSpPr>
        <p:spPr>
          <a:xfrm>
            <a:off x="787400" y="17500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1</a:t>
            </a:r>
            <a:endParaRPr lang="en-US" sz="1200" dirty="0"/>
          </a:p>
        </p:txBody>
      </p:sp>
      <p:sp>
        <p:nvSpPr>
          <p:cNvPr id="6" name="Text 4"/>
          <p:cNvSpPr/>
          <p:nvPr/>
        </p:nvSpPr>
        <p:spPr>
          <a:xfrm>
            <a:off x="1244600" y="1750020"/>
            <a:ext cx="3584194" cy="33020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D5D9E0"/>
                </a:solidFill>
                <a:latin typeface="DM Sans" pitchFamily="34" charset="0"/>
                <a:ea typeface="DM Sans" pitchFamily="34" charset="-122"/>
                <a:cs typeface="DM Sans" pitchFamily="34" charset="-120"/>
              </a:rPr>
              <a:t>Pendente fica fora dos totais.</a:t>
            </a:r>
            <a:endParaRPr lang="en-US" sz="1400" dirty="0"/>
          </a:p>
        </p:txBody>
      </p:sp>
      <p:sp>
        <p:nvSpPr>
          <p:cNvPr id="7" name="Shape 5"/>
          <p:cNvSpPr/>
          <p:nvPr/>
        </p:nvSpPr>
        <p:spPr>
          <a:xfrm>
            <a:off x="812800" y="2207220"/>
            <a:ext cx="304800" cy="304800"/>
          </a:xfrm>
          <a:prstGeom prst="roundRect">
            <a:avLst>
              <a:gd name="adj" fmla="val 50000"/>
            </a:avLst>
          </a:prstGeom>
          <a:solidFill>
            <a:srgbClr val="00FF66"/>
          </a:solidFill>
          <a:ln/>
        </p:spPr>
        <p:txBody>
          <a:bodyPr/>
          <a:p/>
        </p:txBody>
      </p:sp>
      <p:sp>
        <p:nvSpPr>
          <p:cNvPr id="8" name="Text 6"/>
          <p:cNvSpPr/>
          <p:nvPr/>
        </p:nvSpPr>
        <p:spPr>
          <a:xfrm>
            <a:off x="787400" y="2207220"/>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2</a:t>
            </a:r>
            <a:endParaRPr lang="en-US" sz="1200" dirty="0"/>
          </a:p>
        </p:txBody>
      </p:sp>
      <p:sp>
        <p:nvSpPr>
          <p:cNvPr id="9" name="Text 7"/>
          <p:cNvSpPr/>
          <p:nvPr/>
        </p:nvSpPr>
        <p:spPr>
          <a:xfrm>
            <a:off x="1244600" y="2207220"/>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Guardada aparece na data em que o dinheiro entrou, com o lote.</a:t>
            </a:r>
            <a:endParaRPr lang="en-US" sz="1400" dirty="0"/>
          </a:p>
        </p:txBody>
      </p:sp>
      <p:sp>
        <p:nvSpPr>
          <p:cNvPr id="10" name="Shape 8"/>
          <p:cNvSpPr/>
          <p:nvPr/>
        </p:nvSpPr>
        <p:spPr>
          <a:xfrm>
            <a:off x="812800" y="2839641"/>
            <a:ext cx="304800" cy="304800"/>
          </a:xfrm>
          <a:prstGeom prst="roundRect">
            <a:avLst>
              <a:gd name="adj" fmla="val 50000"/>
            </a:avLst>
          </a:prstGeom>
          <a:solidFill>
            <a:srgbClr val="00FF66"/>
          </a:solidFill>
          <a:ln/>
        </p:spPr>
        <p:txBody>
          <a:bodyPr/>
          <a:p/>
        </p:txBody>
      </p:sp>
      <p:sp>
        <p:nvSpPr>
          <p:cNvPr id="11" name="Text 9"/>
          <p:cNvSpPr/>
          <p:nvPr/>
        </p:nvSpPr>
        <p:spPr>
          <a:xfrm>
            <a:off x="787400" y="283964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3</a:t>
            </a:r>
            <a:endParaRPr lang="en-US" sz="1200" dirty="0"/>
          </a:p>
        </p:txBody>
      </p:sp>
      <p:sp>
        <p:nvSpPr>
          <p:cNvPr id="12" name="Text 10"/>
          <p:cNvSpPr/>
          <p:nvPr/>
        </p:nvSpPr>
        <p:spPr>
          <a:xfrm>
            <a:off x="1244600" y="2839641"/>
            <a:ext cx="3584194"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Cancelada a pedido fica revertida e mostra quem pediu e o motivo.</a:t>
            </a:r>
            <a:endParaRPr lang="en-US" sz="1400" dirty="0"/>
          </a:p>
        </p:txBody>
      </p:sp>
      <p:sp>
        <p:nvSpPr>
          <p:cNvPr id="13" name="Shape 11"/>
          <p:cNvSpPr/>
          <p:nvPr/>
        </p:nvSpPr>
        <p:spPr>
          <a:xfrm>
            <a:off x="812800" y="3712071"/>
            <a:ext cx="304800" cy="304800"/>
          </a:xfrm>
          <a:prstGeom prst="roundRect">
            <a:avLst>
              <a:gd name="adj" fmla="val 50000"/>
            </a:avLst>
          </a:prstGeom>
          <a:solidFill>
            <a:srgbClr val="00FF66"/>
          </a:solidFill>
          <a:ln/>
        </p:spPr>
        <p:txBody>
          <a:bodyPr/>
          <a:p/>
        </p:txBody>
      </p:sp>
      <p:sp>
        <p:nvSpPr>
          <p:cNvPr id="14" name="Text 12"/>
          <p:cNvSpPr/>
          <p:nvPr/>
        </p:nvSpPr>
        <p:spPr>
          <a:xfrm>
            <a:off x="787400" y="3712071"/>
            <a:ext cx="355600" cy="330200"/>
          </a:xfrm>
          <a:prstGeom prst="rect">
            <a:avLst/>
          </a:prstGeom>
          <a:noFill/>
          <a:ln/>
        </p:spPr>
        <p:txBody>
          <a:bodyPr wrap="square" lIns="0" tIns="0" rIns="0" bIns="0" rtlCol="0" anchor="t">
            <a:normAutofit/>
          </a:bodyPr>
          <a:lstStyle/>
          <a:p>
            <a:pPr algn="ctr" indent="0" marL="0">
              <a:lnSpc>
                <a:spcPts val="2400"/>
              </a:lnSpc>
              <a:buNone/>
            </a:pPr>
            <a:r>
              <a:rPr lang="en-US" sz="1200" b="1" dirty="0">
                <a:solidFill>
                  <a:srgbClr val="0D0D11"/>
                </a:solidFill>
                <a:latin typeface="DM Sans" pitchFamily="34" charset="0"/>
                <a:ea typeface="DM Sans" pitchFamily="34" charset="-122"/>
                <a:cs typeface="DM Sans" pitchFamily="34" charset="-120"/>
              </a:rPr>
              <a:t>4</a:t>
            </a:r>
            <a:endParaRPr lang="en-US" sz="1200" dirty="0"/>
          </a:p>
        </p:txBody>
      </p:sp>
      <p:sp>
        <p:nvSpPr>
          <p:cNvPr id="15" name="Text 13"/>
          <p:cNvSpPr/>
          <p:nvPr/>
        </p:nvSpPr>
        <p:spPr>
          <a:xfrm>
            <a:off x="1244600" y="3712071"/>
            <a:ext cx="358419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D9E0"/>
                </a:solidFill>
                <a:latin typeface="DM Sans" pitchFamily="34" charset="0"/>
                <a:ea typeface="DM Sans" pitchFamily="34" charset="-122"/>
                <a:cs typeface="DM Sans" pitchFamily="34" charset="-120"/>
              </a:rPr>
              <a:t>Valor é o total da venda, em branco, como o Volume Vendas Bruto.</a:t>
            </a:r>
            <a:endParaRPr lang="en-US" sz="1400" dirty="0"/>
          </a:p>
        </p:txBody>
      </p:sp>
      <p:sp>
        <p:nvSpPr>
          <p:cNvPr id="16" name="Shape 14"/>
          <p:cNvSpPr/>
          <p:nvPr/>
        </p:nvSpPr>
        <p:spPr>
          <a:xfrm>
            <a:off x="5080000" y="1750020"/>
            <a:ext cx="6299200" cy="3937000"/>
          </a:xfrm>
          <a:prstGeom prst="roundRect">
            <a:avLst>
              <a:gd name="adj" fmla="val 2581"/>
            </a:avLst>
          </a:prstGeom>
          <a:solidFill>
            <a:srgbClr val="15151C"/>
          </a:solidFill>
          <a:ln/>
        </p:spPr>
        <p:txBody>
          <a:bodyPr/>
          <a:p/>
        </p:txBody>
      </p:sp>
      <p:pic>
        <p:nvPicPr>
          <p:cNvPr id="17" name="Image 0" descr="Tela do Baú com alerta de mínimo, cartões de saldo e livro de movimentações">    </p:cNvPr>
          <p:cNvPicPr>
            <a:picLocks noChangeAspect="1"/>
          </p:cNvPicPr>
          <p:nvPr/>
        </p:nvPicPr>
        <p:blipFill>
          <a:blip r:embed="rId4"/>
          <a:srcRect l="-61" r="-61" t="0" b="0"/>
          <a:stretch/>
        </p:blipFill>
        <p:spPr>
          <a:xfrm>
            <a:off x="5086350" y="1756370"/>
            <a:ext cx="6286500" cy="3924300"/>
          </a:xfrm>
          <a:prstGeom prst="roundRect">
            <a:avLst>
              <a:gd name="adj" fmla="val 2427"/>
            </a:avLst>
          </a:prstGeom>
        </p:spPr>
      </p:pic>
      <p:sp>
        <p:nvSpPr>
          <p:cNvPr id="18" name="Shape 15"/>
          <p:cNvSpPr/>
          <p:nvPr/>
        </p:nvSpPr>
        <p:spPr>
          <a:xfrm>
            <a:off x="5083175" y="1753195"/>
            <a:ext cx="6292850" cy="3930650"/>
          </a:xfrm>
          <a:prstGeom prst="roundRect">
            <a:avLst>
              <a:gd name="adj" fmla="val 2504"/>
            </a:avLst>
          </a:prstGeom>
          <a:noFill/>
          <a:ln w="6350">
            <a:solidFill>
              <a:srgbClr val="282836"/>
            </a:solidFill>
            <a:prstDash val="solid"/>
          </a:ln>
        </p:spPr>
        <p:txBody>
          <a:bodyPr/>
          <a:p/>
        </p:txBody>
      </p:sp>
      <p:sp>
        <p:nvSpPr>
          <p:cNvPr id="19"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09C"/>
                </a:solidFill>
                <a:latin typeface="DM Sans" pitchFamily="34" charset="0"/>
                <a:ea typeface="DM Sans" pitchFamily="34" charset="-122"/>
                <a:cs typeface="DM Sans" pitchFamily="34" charset="-120"/>
              </a:rPr>
              <a:t>Guia Best Buds · 16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Guia do Sistema Best Buds</dc:title>
  <dc:subject>PptxGenJS Presentation</dc:subject>
  <dc:creator>PptxGenJS</dc:creator>
  <cp:lastModifiedBy>PptxGenJS</cp:lastModifiedBy>
  <cp:revision>1</cp:revision>
  <dcterms:created xsi:type="dcterms:W3CDTF">2026-09-26T22:04:04Z</dcterms:created>
  <dcterms:modified xsi:type="dcterms:W3CDTF">2026-09-26T22:04:04Z</dcterms:modified>
</cp:coreProperties>
</file>